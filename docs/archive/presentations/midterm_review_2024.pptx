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42"/>
  </p:handoutMasterIdLst>
  <p:sldIdLst>
    <p:sldId id="256" r:id="rId3"/>
    <p:sldId id="259" r:id="rId5"/>
    <p:sldId id="284" r:id="rId6"/>
    <p:sldId id="263" r:id="rId7"/>
    <p:sldId id="306" r:id="rId8"/>
    <p:sldId id="268" r:id="rId9"/>
    <p:sldId id="360" r:id="rId10"/>
    <p:sldId id="285" r:id="rId11"/>
    <p:sldId id="261" r:id="rId12"/>
    <p:sldId id="361" r:id="rId13"/>
    <p:sldId id="362" r:id="rId14"/>
    <p:sldId id="364" r:id="rId15"/>
    <p:sldId id="363" r:id="rId16"/>
    <p:sldId id="365" r:id="rId17"/>
    <p:sldId id="286" r:id="rId18"/>
    <p:sldId id="367" r:id="rId19"/>
    <p:sldId id="368" r:id="rId20"/>
    <p:sldId id="369" r:id="rId21"/>
    <p:sldId id="370" r:id="rId22"/>
    <p:sldId id="371" r:id="rId23"/>
    <p:sldId id="382" r:id="rId24"/>
    <p:sldId id="384" r:id="rId25"/>
    <p:sldId id="383" r:id="rId26"/>
    <p:sldId id="375" r:id="rId27"/>
    <p:sldId id="376" r:id="rId28"/>
    <p:sldId id="377" r:id="rId29"/>
    <p:sldId id="378" r:id="rId30"/>
    <p:sldId id="379" r:id="rId31"/>
    <p:sldId id="380" r:id="rId32"/>
    <p:sldId id="381" r:id="rId33"/>
    <p:sldId id="385" r:id="rId34"/>
    <p:sldId id="372" r:id="rId35"/>
    <p:sldId id="373" r:id="rId36"/>
    <p:sldId id="374" r:id="rId37"/>
    <p:sldId id="287" r:id="rId38"/>
    <p:sldId id="353" r:id="rId39"/>
    <p:sldId id="354" r:id="rId40"/>
    <p:sldId id="305" r:id="rId41"/>
  </p:sldIdLst>
  <p:sldSz cx="9144000" cy="5143500" type="screen16x9"/>
  <p:notesSz cx="6858000" cy="9144000"/>
  <p:embeddedFontLst>
    <p:embeddedFont>
      <p:font typeface="微软雅黑" panose="020B0503020204020204" pitchFamily="34" charset="-122"/>
      <p:regular r:id="rId46"/>
    </p:embeddedFont>
    <p:embeddedFont>
      <p:font typeface="Calibri" panose="020F0502020204030204" charset="0"/>
      <p:regular r:id="rId47"/>
      <p:bold r:id="rId48"/>
      <p:italic r:id="rId49"/>
      <p:boldItalic r:id="rId50"/>
    </p:embeddedFont>
  </p:embeddedFontLst>
  <p:custDataLst>
    <p:tags r:id="rId51"/>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0"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4367"/>
    <a:srgbClr val="E6E6E6"/>
    <a:srgbClr val="1D4865"/>
    <a:srgbClr val="1D4971"/>
    <a:srgbClr val="51B3CD"/>
    <a:srgbClr val="83C2DB"/>
    <a:srgbClr val="2980B4"/>
    <a:srgbClr val="4287C6"/>
    <a:srgbClr val="278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88" autoAdjust="0"/>
    <p:restoredTop sz="94676" autoAdjust="0"/>
  </p:normalViewPr>
  <p:slideViewPr>
    <p:cSldViewPr snapToGrid="0" showGuides="1">
      <p:cViewPr varScale="1">
        <p:scale>
          <a:sx n="138" d="100"/>
          <a:sy n="138" d="100"/>
        </p:scale>
        <p:origin x="576" y="84"/>
      </p:cViewPr>
      <p:guideLst>
        <p:guide orient="horz" pos="1630"/>
        <p:guide pos="2884"/>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gs" Target="tags/tag52.xml"/><Relationship Id="rId50" Type="http://schemas.openxmlformats.org/officeDocument/2006/relationships/font" Target="fonts/font5.fntdata"/><Relationship Id="rId5" Type="http://schemas.openxmlformats.org/officeDocument/2006/relationships/slide" Target="slides/slide2.xml"/><Relationship Id="rId49" Type="http://schemas.openxmlformats.org/officeDocument/2006/relationships/font" Target="fonts/font4.fntdata"/><Relationship Id="rId48" Type="http://schemas.openxmlformats.org/officeDocument/2006/relationships/font" Target="fonts/font3.fntdata"/><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cstate="screen">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1282304"/>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218"/>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9150" y="1369218"/>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90080"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90080" y="1999034"/>
            <a:ext cx="3655181" cy="26432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92704" y="1999034"/>
            <a:ext cx="3673182" cy="26432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342900"/>
            <a:ext cx="4629150" cy="40528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3"/>
            <a:ext cx="1971675" cy="4358879"/>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843"/>
            <a:ext cx="5800725" cy="4358879"/>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3"/>
            <a:ext cx="7886700" cy="435887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8"/>
            <a:ext cx="7886700" cy="3263504"/>
          </a:xfrm>
          <a:prstGeom prst="rect">
            <a:avLst/>
          </a:prstGeom>
        </p:spPr>
        <p:txBody>
          <a:bodyPr vert="horz" lIns="68580" tIns="34290" rIns="68580" bIns="3429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microsoft.com/office/2007/relationships/hdphoto" Target="../media/image5.wdp"/><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microsoft.com/office/2007/relationships/hdphoto" Target="../media/image5.wdp"/><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png"/><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0" Type="http://schemas.openxmlformats.org/officeDocument/2006/relationships/notesSlide" Target="../notesSlides/notesSlide6.xml"/><Relationship Id="rId1" Type="http://schemas.openxmlformats.org/officeDocument/2006/relationships/tags" Target="../tags/tag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tags" Target="../tags/tag5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nvSpPr>
        <p:spPr>
          <a:xfrm>
            <a:off x="2856090" y="1669270"/>
            <a:ext cx="6326090" cy="683895"/>
          </a:xfrm>
          <a:prstGeom prst="rect">
            <a:avLst/>
          </a:prstGeom>
          <a:noFill/>
        </p:spPr>
        <p:txBody>
          <a:bodyPr wrap="square" lIns="68580" tIns="34290" rIns="68580" bIns="34290" rtlCol="0">
            <a:spAutoFit/>
          </a:bodyPr>
          <a:lstStyle/>
          <a:p>
            <a:r>
              <a:rPr lang="zh-CN" altLang="en-US" sz="4000" b="1" dirty="0">
                <a:solidFill>
                  <a:schemeClr val="tx1">
                    <a:lumMod val="50000"/>
                    <a:lumOff val="50000"/>
                  </a:schemeClr>
                </a:solidFill>
              </a:rPr>
              <a:t>珠联</a:t>
            </a:r>
            <a:r>
              <a:rPr lang="en-US" altLang="zh-CN" sz="4000" b="1" dirty="0">
                <a:solidFill>
                  <a:schemeClr val="tx1">
                    <a:lumMod val="50000"/>
                    <a:lumOff val="50000"/>
                  </a:schemeClr>
                </a:solidFill>
              </a:rPr>
              <a:t>“</a:t>
            </a:r>
            <a:r>
              <a:rPr lang="zh-CN" altLang="en-US" sz="4000" b="1" dirty="0">
                <a:solidFill>
                  <a:schemeClr val="tx1">
                    <a:lumMod val="50000"/>
                    <a:lumOff val="50000"/>
                  </a:schemeClr>
                </a:solidFill>
              </a:rPr>
              <a:t>臂</a:t>
            </a:r>
            <a:r>
              <a:rPr lang="en-US" altLang="zh-CN" sz="4000" b="1" dirty="0">
                <a:solidFill>
                  <a:schemeClr val="tx1">
                    <a:lumMod val="50000"/>
                    <a:lumOff val="50000"/>
                  </a:schemeClr>
                </a:solidFill>
              </a:rPr>
              <a:t>”</a:t>
            </a:r>
            <a:r>
              <a:rPr lang="zh-CN" altLang="en-US" sz="4000" b="1" dirty="0">
                <a:solidFill>
                  <a:schemeClr val="tx1">
                    <a:lumMod val="50000"/>
                    <a:lumOff val="50000"/>
                  </a:schemeClr>
                </a:solidFill>
              </a:rPr>
              <a:t>合</a:t>
            </a:r>
            <a:endParaRPr lang="zh-CN" altLang="en-US" sz="4000" b="1" dirty="0">
              <a:solidFill>
                <a:schemeClr val="tx1">
                  <a:lumMod val="50000"/>
                  <a:lumOff val="50000"/>
                </a:schemeClr>
              </a:solidFill>
            </a:endParaRPr>
          </a:p>
        </p:txBody>
      </p:sp>
      <p:sp>
        <p:nvSpPr>
          <p:cNvPr id="3075" name="文本框 3074"/>
          <p:cNvSpPr txBox="1"/>
          <p:nvPr/>
        </p:nvSpPr>
        <p:spPr>
          <a:xfrm>
            <a:off x="2881490" y="3180129"/>
            <a:ext cx="3461808" cy="252730"/>
          </a:xfrm>
          <a:prstGeom prst="rect">
            <a:avLst/>
          </a:prstGeom>
          <a:noFill/>
          <a:ln w="9525">
            <a:noFill/>
            <a:miter/>
          </a:ln>
          <a:effectLst/>
        </p:spPr>
        <p:txBody>
          <a:bodyPr vert="horz" wrap="square" lIns="68580" tIns="34290" rIns="68580" bIns="34290" anchor="t">
            <a:spAutoFit/>
          </a:bodyPr>
          <a:lstStyle/>
          <a:p>
            <a:pPr lvl="0" eaLnBrk="0" hangingPunct="0"/>
            <a:r>
              <a:rPr lang="zh-CN" altLang="en-US" sz="1200" dirty="0">
                <a:solidFill>
                  <a:schemeClr val="tx1">
                    <a:lumMod val="65000"/>
                    <a:lumOff val="35000"/>
                  </a:schemeClr>
                </a:solidFill>
                <a:cs typeface="+mn-ea"/>
                <a:sym typeface="+mn-lt"/>
              </a:rPr>
              <a:t>宁夏回族自治区固原市第一中学          郭沫晗</a:t>
            </a:r>
            <a:endParaRPr lang="zh-CN" altLang="en-US" sz="1200" dirty="0">
              <a:solidFill>
                <a:schemeClr val="tx1">
                  <a:lumMod val="65000"/>
                  <a:lumOff val="35000"/>
                </a:schemeClr>
              </a:solidFill>
              <a:cs typeface="+mn-ea"/>
              <a:sym typeface="+mn-lt"/>
            </a:endParaRPr>
          </a:p>
        </p:txBody>
      </p:sp>
      <p:sp>
        <p:nvSpPr>
          <p:cNvPr id="121" name="TextBox 120"/>
          <p:cNvSpPr txBox="1"/>
          <p:nvPr/>
        </p:nvSpPr>
        <p:spPr>
          <a:xfrm>
            <a:off x="2928442" y="2703832"/>
            <a:ext cx="4570907" cy="305406"/>
          </a:xfrm>
          <a:prstGeom prst="roundRect">
            <a:avLst/>
          </a:prstGeom>
          <a:solidFill>
            <a:schemeClr val="tx1">
              <a:lumMod val="50000"/>
              <a:lumOff val="50000"/>
            </a:schemeClr>
          </a:solidFill>
        </p:spPr>
        <p:txBody>
          <a:bodyPr wrap="square" rtlCol="0">
            <a:spAutoFit/>
          </a:bodyPr>
          <a:lstStyle/>
          <a:p>
            <a:r>
              <a:rPr lang="zh-CN" altLang="en-US" sz="1200" dirty="0">
                <a:solidFill>
                  <a:schemeClr val="bg1"/>
                </a:solidFill>
                <a:cs typeface="+mn-ea"/>
                <a:sym typeface="+mn-lt"/>
              </a:rPr>
              <a:t>多场景模块化串联机械臂结构设计与分析优化</a:t>
            </a:r>
            <a:endParaRPr lang="zh-CN" altLang="en-US" sz="1200" dirty="0">
              <a:solidFill>
                <a:schemeClr val="bg1"/>
              </a:solidFill>
              <a:cs typeface="+mn-ea"/>
              <a:sym typeface="+mn-lt"/>
            </a:endParaRPr>
          </a:p>
        </p:txBody>
      </p:sp>
      <p:sp>
        <p:nvSpPr>
          <p:cNvPr id="2" name="矩形 1"/>
          <p:cNvSpPr/>
          <p:nvPr/>
        </p:nvSpPr>
        <p:spPr>
          <a:xfrm>
            <a:off x="2856230" y="2303145"/>
            <a:ext cx="5887085" cy="229870"/>
          </a:xfrm>
          <a:prstGeom prst="rect">
            <a:avLst/>
          </a:prstGeom>
        </p:spPr>
        <p:txBody>
          <a:bodyPr wrap="square">
            <a:spAutoFit/>
          </a:bodyPr>
          <a:lstStyle/>
          <a:p>
            <a:pPr eaLnBrk="0" hangingPunct="0"/>
            <a:r>
              <a:rPr lang="en-US" altLang="zh-CN" sz="900" dirty="0">
                <a:solidFill>
                  <a:schemeClr val="tx1">
                    <a:lumMod val="65000"/>
                    <a:lumOff val="35000"/>
                  </a:schemeClr>
                </a:solidFill>
                <a:cs typeface="+mn-ea"/>
              </a:rPr>
              <a:t>Design and Analysis Optimization of a Multi-Scenario Modular Interconnected Robotic Arm Structure</a:t>
            </a:r>
            <a:endParaRPr lang="en-US" altLang="zh-CN" sz="900" dirty="0">
              <a:solidFill>
                <a:schemeClr val="tx1">
                  <a:lumMod val="65000"/>
                  <a:lumOff val="35000"/>
                </a:schemeClr>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par>
                          <p:cTn id="12" fill="hold">
                            <p:stCondLst>
                              <p:cond delay="750"/>
                            </p:stCondLst>
                            <p:childTnLst>
                              <p:par>
                                <p:cTn id="13" presetID="14" presetClass="entr" presetSubtype="10" fill="hold" grpId="0" nodeType="afterEffect">
                                  <p:stCondLst>
                                    <p:cond delay="0"/>
                                  </p:stCondLst>
                                  <p:childTnLst>
                                    <p:set>
                                      <p:cBhvr>
                                        <p:cTn id="14" dur="1" fill="hold">
                                          <p:stCondLst>
                                            <p:cond delay="0"/>
                                          </p:stCondLst>
                                        </p:cTn>
                                        <p:tgtEl>
                                          <p:spTgt spid="121"/>
                                        </p:tgtEl>
                                        <p:attrNameLst>
                                          <p:attrName>style.visibility</p:attrName>
                                        </p:attrNameLst>
                                      </p:cBhvr>
                                      <p:to>
                                        <p:strVal val="visible"/>
                                      </p:to>
                                    </p:set>
                                    <p:animEffect transition="in" filter="randombar(horizontal)">
                                      <p:cBhvr>
                                        <p:cTn id="15" dur="500"/>
                                        <p:tgtEl>
                                          <p:spTgt spid="121"/>
                                        </p:tgtEl>
                                      </p:cBhvr>
                                    </p:animEffect>
                                  </p:childTnLst>
                                </p:cTn>
                              </p:par>
                            </p:childTnLst>
                          </p:cTn>
                        </p:par>
                        <p:par>
                          <p:cTn id="16" fill="hold">
                            <p:stCondLst>
                              <p:cond delay="1250"/>
                            </p:stCondLst>
                            <p:childTnLst>
                              <p:par>
                                <p:cTn id="17" presetID="12" presetClass="entr" presetSubtype="8" fill="hold" grpId="0" nodeType="afterEffect">
                                  <p:stCondLst>
                                    <p:cond delay="0"/>
                                  </p:stCondLst>
                                  <p:childTnLst>
                                    <p:set>
                                      <p:cBhvr>
                                        <p:cTn id="18" dur="1" fill="hold">
                                          <p:stCondLst>
                                            <p:cond delay="0"/>
                                          </p:stCondLst>
                                        </p:cTn>
                                        <p:tgtEl>
                                          <p:spTgt spid="3075"/>
                                        </p:tgtEl>
                                        <p:attrNameLst>
                                          <p:attrName>style.visibility</p:attrName>
                                        </p:attrNameLst>
                                      </p:cBhvr>
                                      <p:to>
                                        <p:strVal val="visible"/>
                                      </p:to>
                                    </p:set>
                                    <p:anim calcmode="lin" valueType="num">
                                      <p:cBhvr additive="base">
                                        <p:cTn id="19" dur="500"/>
                                        <p:tgtEl>
                                          <p:spTgt spid="3075"/>
                                        </p:tgtEl>
                                        <p:attrNameLst>
                                          <p:attrName>ppt_x</p:attrName>
                                        </p:attrNameLst>
                                      </p:cBhvr>
                                      <p:tavLst>
                                        <p:tav tm="0">
                                          <p:val>
                                            <p:strVal val="#ppt_x-#ppt_w*1.125000"/>
                                          </p:val>
                                        </p:tav>
                                        <p:tav tm="100000">
                                          <p:val>
                                            <p:strVal val="#ppt_x"/>
                                          </p:val>
                                        </p:tav>
                                      </p:tavLst>
                                    </p:anim>
                                    <p:animEffect transition="in" filter="wipe(right)">
                                      <p:cBhvr>
                                        <p:cTn id="20"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075" grpId="0" bldLvl="0" animBg="1"/>
      <p:bldP spid="12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1" name="文本框 10"/>
          <p:cNvSpPr txBox="1"/>
          <p:nvPr>
            <p:custDataLst>
              <p:tags r:id="rId2"/>
            </p:custDataLst>
          </p:nvPr>
        </p:nvSpPr>
        <p:spPr>
          <a:xfrm>
            <a:off x="5645032" y="681828"/>
            <a:ext cx="2489318" cy="391597"/>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研究背景与意义</a:t>
            </a:r>
            <a:endParaRPr lang="zh-CN" altLang="en-US" sz="1700" dirty="0">
              <a:solidFill>
                <a:schemeClr val="bg1"/>
              </a:solidFill>
              <a:cs typeface="+mn-ea"/>
              <a:sym typeface="+mn-lt"/>
            </a:endParaRPr>
          </a:p>
        </p:txBody>
      </p:sp>
      <p:sp>
        <p:nvSpPr>
          <p:cNvPr id="25" name="椭圆 24"/>
          <p:cNvSpPr/>
          <p:nvPr>
            <p:custDataLst>
              <p:tags r:id="rId3"/>
            </p:custDataLst>
          </p:nvPr>
        </p:nvSpPr>
        <p:spPr>
          <a:xfrm>
            <a:off x="5169272" y="662014"/>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6" name="文本框 17"/>
          <p:cNvSpPr txBox="1"/>
          <p:nvPr>
            <p:custDataLst>
              <p:tags r:id="rId4"/>
            </p:custDataLst>
          </p:nvPr>
        </p:nvSpPr>
        <p:spPr>
          <a:xfrm>
            <a:off x="5127511" y="695474"/>
            <a:ext cx="478533" cy="338554"/>
          </a:xfrm>
          <a:prstGeom prst="rect">
            <a:avLst/>
          </a:prstGeom>
          <a:noFill/>
        </p:spPr>
        <p:txBody>
          <a:bodyPr wrap="square" rtlCol="0">
            <a:spAutoFit/>
          </a:bodyPr>
          <a:lstStyle/>
          <a:p>
            <a:pPr algn="ctr">
              <a:defRPr/>
            </a:pPr>
            <a:r>
              <a:rPr lang="en-US" altLang="zh-CN" sz="1600" dirty="0">
                <a:solidFill>
                  <a:schemeClr val="bg1"/>
                </a:solidFill>
                <a:cs typeface="+mn-ea"/>
                <a:sym typeface="+mn-lt"/>
              </a:rPr>
              <a:t>01</a:t>
            </a:r>
            <a:endParaRPr lang="en-US" altLang="zh-CN" sz="1600" dirty="0">
              <a:solidFill>
                <a:schemeClr val="bg1"/>
              </a:solidFill>
              <a:cs typeface="+mn-ea"/>
              <a:sym typeface="+mn-lt"/>
            </a:endParaRPr>
          </a:p>
        </p:txBody>
      </p:sp>
      <p:sp>
        <p:nvSpPr>
          <p:cNvPr id="33" name="文本框 32"/>
          <p:cNvSpPr txBox="1"/>
          <p:nvPr/>
        </p:nvSpPr>
        <p:spPr>
          <a:xfrm>
            <a:off x="2866491" y="2012712"/>
            <a:ext cx="2147298" cy="769441"/>
          </a:xfrm>
          <a:prstGeom prst="rect">
            <a:avLst/>
          </a:prstGeom>
          <a:noFill/>
        </p:spPr>
        <p:txBody>
          <a:bodyPr vert="horz" wrap="square" rtlCol="0">
            <a:spAutoFit/>
          </a:bodyPr>
          <a:lstStyle/>
          <a:p>
            <a:r>
              <a:rPr lang="zh-CN" altLang="en-US" sz="4400" b="1" spc="-225" dirty="0">
                <a:solidFill>
                  <a:schemeClr val="tx1">
                    <a:lumMod val="65000"/>
                    <a:lumOff val="35000"/>
                  </a:schemeClr>
                </a:solidFill>
                <a:cs typeface="+mn-ea"/>
                <a:sym typeface="+mn-lt"/>
              </a:rPr>
              <a:t>目 录</a:t>
            </a:r>
            <a:endParaRPr lang="zh-CN" altLang="en-US" sz="4400" b="1" spc="-225" dirty="0">
              <a:solidFill>
                <a:schemeClr val="tx1">
                  <a:lumMod val="65000"/>
                  <a:lumOff val="35000"/>
                </a:schemeClr>
              </a:solidFill>
              <a:cs typeface="+mn-ea"/>
              <a:sym typeface="+mn-lt"/>
            </a:endParaRPr>
          </a:p>
        </p:txBody>
      </p:sp>
      <p:sp>
        <p:nvSpPr>
          <p:cNvPr id="3" name="文本框 2"/>
          <p:cNvSpPr txBox="1"/>
          <p:nvPr/>
        </p:nvSpPr>
        <p:spPr>
          <a:xfrm>
            <a:off x="2924547" y="2701966"/>
            <a:ext cx="2113154" cy="400110"/>
          </a:xfrm>
          <a:prstGeom prst="rect">
            <a:avLst/>
          </a:prstGeom>
          <a:noFill/>
        </p:spPr>
        <p:txBody>
          <a:bodyPr vert="horz" wrap="square" rtlCol="0">
            <a:spAutoFit/>
          </a:bodyPr>
          <a:lstStyle/>
          <a:p>
            <a:r>
              <a:rPr lang="en-US" altLang="zh-CN" sz="2000" b="1" dirty="0">
                <a:solidFill>
                  <a:schemeClr val="tx1">
                    <a:lumMod val="65000"/>
                    <a:lumOff val="35000"/>
                  </a:schemeClr>
                </a:solidFill>
                <a:cs typeface="+mn-ea"/>
                <a:sym typeface="+mn-lt"/>
              </a:rPr>
              <a:t>CONTENTS</a:t>
            </a:r>
            <a:endParaRPr lang="en-US" altLang="zh-CN" sz="2000" b="1" dirty="0">
              <a:solidFill>
                <a:schemeClr val="tx1">
                  <a:lumMod val="65000"/>
                  <a:lumOff val="35000"/>
                </a:schemeClr>
              </a:solidFill>
              <a:cs typeface="+mn-ea"/>
              <a:sym typeface="+mn-lt"/>
            </a:endParaRPr>
          </a:p>
        </p:txBody>
      </p:sp>
      <p:sp>
        <p:nvSpPr>
          <p:cNvPr id="79" name="文本框 10"/>
          <p:cNvSpPr txBox="1"/>
          <p:nvPr>
            <p:custDataLst>
              <p:tags r:id="rId5"/>
            </p:custDataLst>
          </p:nvPr>
        </p:nvSpPr>
        <p:spPr>
          <a:xfrm>
            <a:off x="5645032" y="1793072"/>
            <a:ext cx="2489318" cy="390555"/>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结构设计</a:t>
            </a:r>
            <a:endParaRPr lang="zh-CN" altLang="en-US" sz="1700" dirty="0">
              <a:solidFill>
                <a:schemeClr val="bg1"/>
              </a:solidFill>
              <a:cs typeface="+mn-ea"/>
              <a:sym typeface="+mn-lt"/>
            </a:endParaRPr>
          </a:p>
        </p:txBody>
      </p:sp>
      <p:sp>
        <p:nvSpPr>
          <p:cNvPr id="81" name="椭圆 80"/>
          <p:cNvSpPr/>
          <p:nvPr>
            <p:custDataLst>
              <p:tags r:id="rId6"/>
            </p:custDataLst>
          </p:nvPr>
        </p:nvSpPr>
        <p:spPr>
          <a:xfrm>
            <a:off x="5167367" y="1771353"/>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2" name="文本框 17"/>
          <p:cNvSpPr txBox="1"/>
          <p:nvPr>
            <p:custDataLst>
              <p:tags r:id="rId7"/>
            </p:custDataLst>
          </p:nvPr>
        </p:nvSpPr>
        <p:spPr>
          <a:xfrm>
            <a:off x="5127511" y="1810528"/>
            <a:ext cx="478533" cy="338554"/>
          </a:xfrm>
          <a:prstGeom prst="rect">
            <a:avLst/>
          </a:prstGeom>
          <a:noFill/>
        </p:spPr>
        <p:txBody>
          <a:bodyPr wrap="square" rtlCol="0">
            <a:spAutoFit/>
          </a:bodyPr>
          <a:lstStyle/>
          <a:p>
            <a:pPr algn="ctr">
              <a:defRPr/>
            </a:pPr>
            <a:r>
              <a:rPr lang="en-US" altLang="zh-CN" sz="1600" dirty="0">
                <a:solidFill>
                  <a:schemeClr val="bg1"/>
                </a:solidFill>
                <a:cs typeface="+mn-ea"/>
                <a:sym typeface="+mn-lt"/>
              </a:rPr>
              <a:t>02</a:t>
            </a:r>
            <a:endParaRPr lang="en-US" altLang="zh-CN" sz="1600" dirty="0">
              <a:solidFill>
                <a:schemeClr val="bg1"/>
              </a:solidFill>
              <a:cs typeface="+mn-ea"/>
              <a:sym typeface="+mn-lt"/>
            </a:endParaRPr>
          </a:p>
        </p:txBody>
      </p:sp>
      <p:sp>
        <p:nvSpPr>
          <p:cNvPr id="83" name="文本框 10"/>
          <p:cNvSpPr txBox="1"/>
          <p:nvPr>
            <p:custDataLst>
              <p:tags r:id="rId8"/>
            </p:custDataLst>
          </p:nvPr>
        </p:nvSpPr>
        <p:spPr>
          <a:xfrm>
            <a:off x="5645032" y="2903681"/>
            <a:ext cx="2489318" cy="390555"/>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分析优化</a:t>
            </a:r>
            <a:endParaRPr lang="zh-CN" altLang="en-US" sz="1700" dirty="0">
              <a:solidFill>
                <a:schemeClr val="bg1"/>
              </a:solidFill>
              <a:cs typeface="+mn-ea"/>
              <a:sym typeface="+mn-lt"/>
            </a:endParaRPr>
          </a:p>
        </p:txBody>
      </p:sp>
      <p:sp>
        <p:nvSpPr>
          <p:cNvPr id="85" name="椭圆 84"/>
          <p:cNvSpPr/>
          <p:nvPr>
            <p:custDataLst>
              <p:tags r:id="rId9"/>
            </p:custDataLst>
          </p:nvPr>
        </p:nvSpPr>
        <p:spPr>
          <a:xfrm>
            <a:off x="5169272" y="2903552"/>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6" name="文本框 17"/>
          <p:cNvSpPr txBox="1"/>
          <p:nvPr>
            <p:custDataLst>
              <p:tags r:id="rId10"/>
            </p:custDataLst>
          </p:nvPr>
        </p:nvSpPr>
        <p:spPr>
          <a:xfrm>
            <a:off x="5102111" y="2925582"/>
            <a:ext cx="478533" cy="338554"/>
          </a:xfrm>
          <a:prstGeom prst="rect">
            <a:avLst/>
          </a:prstGeom>
          <a:noFill/>
        </p:spPr>
        <p:txBody>
          <a:bodyPr wrap="square" rtlCol="0">
            <a:spAutoFit/>
          </a:bodyPr>
          <a:lstStyle/>
          <a:p>
            <a:pPr algn="ctr">
              <a:defRPr/>
            </a:pPr>
            <a:r>
              <a:rPr lang="en-US" altLang="zh-CN" sz="1600" dirty="0">
                <a:solidFill>
                  <a:schemeClr val="bg1"/>
                </a:solidFill>
                <a:cs typeface="+mn-ea"/>
                <a:sym typeface="+mn-lt"/>
              </a:rPr>
              <a:t>03</a:t>
            </a:r>
            <a:endParaRPr lang="en-US" altLang="zh-CN" sz="1600" dirty="0">
              <a:solidFill>
                <a:schemeClr val="bg1"/>
              </a:solidFill>
              <a:cs typeface="+mn-ea"/>
              <a:sym typeface="+mn-lt"/>
            </a:endParaRPr>
          </a:p>
        </p:txBody>
      </p:sp>
      <p:sp>
        <p:nvSpPr>
          <p:cNvPr id="4" name="燕尾形 3"/>
          <p:cNvSpPr/>
          <p:nvPr/>
        </p:nvSpPr>
        <p:spPr>
          <a:xfrm>
            <a:off x="4284324" y="2183489"/>
            <a:ext cx="256853" cy="448435"/>
          </a:xfrm>
          <a:prstGeom prst="chevr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1"/>
            </p:custDataLst>
          </p:nvPr>
        </p:nvSpPr>
        <p:spPr>
          <a:xfrm>
            <a:off x="5127362" y="4011100"/>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 name="文本框 10"/>
          <p:cNvSpPr txBox="1"/>
          <p:nvPr>
            <p:custDataLst>
              <p:tags r:id="rId12"/>
            </p:custDataLst>
          </p:nvPr>
        </p:nvSpPr>
        <p:spPr>
          <a:xfrm>
            <a:off x="5645032" y="4014404"/>
            <a:ext cx="2489318" cy="390555"/>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结论与展望</a:t>
            </a:r>
            <a:endParaRPr lang="zh-CN" altLang="en-US" sz="1700" dirty="0">
              <a:solidFill>
                <a:schemeClr val="bg1"/>
              </a:solidFill>
              <a:cs typeface="+mn-ea"/>
              <a:sym typeface="+mn-lt"/>
            </a:endParaRPr>
          </a:p>
        </p:txBody>
      </p:sp>
      <p:sp>
        <p:nvSpPr>
          <p:cNvPr id="5" name="文本框 17"/>
          <p:cNvSpPr txBox="1"/>
          <p:nvPr>
            <p:custDataLst>
              <p:tags r:id="rId13"/>
            </p:custDataLst>
          </p:nvPr>
        </p:nvSpPr>
        <p:spPr>
          <a:xfrm>
            <a:off x="5083696" y="4052180"/>
            <a:ext cx="478533" cy="337185"/>
          </a:xfrm>
          <a:prstGeom prst="rect">
            <a:avLst/>
          </a:prstGeom>
          <a:noFill/>
        </p:spPr>
        <p:txBody>
          <a:bodyPr wrap="square" rtlCol="0">
            <a:spAutoFit/>
          </a:bodyPr>
          <a:lstStyle/>
          <a:p>
            <a:pPr algn="ctr">
              <a:defRPr/>
            </a:pPr>
            <a:r>
              <a:rPr lang="en-US" altLang="zh-CN" sz="1600" dirty="0">
                <a:solidFill>
                  <a:schemeClr val="bg1"/>
                </a:solidFill>
                <a:cs typeface="+mn-ea"/>
                <a:sym typeface="+mn-lt"/>
              </a:rPr>
              <a:t>04</a:t>
            </a:r>
            <a:endParaRPr lang="en-US" altLang="zh-CN" sz="16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right)">
                                      <p:cBhvr>
                                        <p:cTn id="8" dur="500"/>
                                        <p:tgtEl>
                                          <p:spTgt spid="33"/>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ppt_x</p:attrName>
                                        </p:attrNameLst>
                                      </p:cBhvr>
                                      <p:tavLst>
                                        <p:tav tm="0">
                                          <p:val>
                                            <p:strVal val="#ppt_x-#ppt_w*1.125000"/>
                                          </p:val>
                                        </p:tav>
                                        <p:tav tm="100000">
                                          <p:val>
                                            <p:strVal val="#ppt_x"/>
                                          </p:val>
                                        </p:tav>
                                      </p:tavLst>
                                    </p:anim>
                                    <p:animEffect transition="in" filter="wipe(right)">
                                      <p:cBhvr>
                                        <p:cTn id="13" dur="500"/>
                                        <p:tgtEl>
                                          <p:spTgt spid="3"/>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p:tgtEl>
                                          <p:spTgt spid="4"/>
                                        </p:tgtEl>
                                        <p:attrNameLst>
                                          <p:attrName>ppt_x</p:attrName>
                                        </p:attrNameLst>
                                      </p:cBhvr>
                                      <p:tavLst>
                                        <p:tav tm="0">
                                          <p:val>
                                            <p:strVal val="#ppt_x-#ppt_w*1.125000"/>
                                          </p:val>
                                        </p:tav>
                                        <p:tav tm="100000">
                                          <p:val>
                                            <p:strVal val="#ppt_x"/>
                                          </p:val>
                                        </p:tav>
                                      </p:tavLst>
                                    </p:anim>
                                    <p:animEffect transition="in" filter="wipe(right)">
                                      <p:cBhvr>
                                        <p:cTn id="18" dur="500"/>
                                        <p:tgtEl>
                                          <p:spTgt spid="4"/>
                                        </p:tgtEl>
                                      </p:cBhvr>
                                    </p:animEffect>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grpId="0" nodeType="afterEffect">
                                  <p:stCondLst>
                                    <p:cond delay="0"/>
                                  </p:stCondLst>
                                  <p:childTnLst>
                                    <p:set>
                                      <p:cBhvr>
                                        <p:cTn id="26" dur="1" fill="hold">
                                          <p:stCondLst>
                                            <p:cond delay="0"/>
                                          </p:stCondLst>
                                        </p:cTn>
                                        <p:tgtEl>
                                          <p:spTgt spid="79"/>
                                        </p:tgtEl>
                                        <p:attrNameLst>
                                          <p:attrName>style.visibility</p:attrName>
                                        </p:attrNameLst>
                                      </p:cBhvr>
                                      <p:to>
                                        <p:strVal val="visible"/>
                                      </p:to>
                                    </p:set>
                                    <p:anim calcmode="lin" valueType="num">
                                      <p:cBhvr additive="base">
                                        <p:cTn id="27" dur="500" fill="hold"/>
                                        <p:tgtEl>
                                          <p:spTgt spid="79"/>
                                        </p:tgtEl>
                                        <p:attrNameLst>
                                          <p:attrName>ppt_x</p:attrName>
                                        </p:attrNameLst>
                                      </p:cBhvr>
                                      <p:tavLst>
                                        <p:tav tm="0">
                                          <p:val>
                                            <p:strVal val="1+#ppt_w/2"/>
                                          </p:val>
                                        </p:tav>
                                        <p:tav tm="100000">
                                          <p:val>
                                            <p:strVal val="#ppt_x"/>
                                          </p:val>
                                        </p:tav>
                                      </p:tavLst>
                                    </p:anim>
                                    <p:anim calcmode="lin" valueType="num">
                                      <p:cBhvr additive="base">
                                        <p:cTn id="28" dur="500" fill="hold"/>
                                        <p:tgtEl>
                                          <p:spTgt spid="79"/>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grpId="0" nodeType="afterEffect">
                                  <p:stCondLst>
                                    <p:cond delay="0"/>
                                  </p:stCondLst>
                                  <p:childTnLst>
                                    <p:set>
                                      <p:cBhvr>
                                        <p:cTn id="31" dur="1" fill="hold">
                                          <p:stCondLst>
                                            <p:cond delay="0"/>
                                          </p:stCondLst>
                                        </p:cTn>
                                        <p:tgtEl>
                                          <p:spTgt spid="83"/>
                                        </p:tgtEl>
                                        <p:attrNameLst>
                                          <p:attrName>style.visibility</p:attrName>
                                        </p:attrNameLst>
                                      </p:cBhvr>
                                      <p:to>
                                        <p:strVal val="visible"/>
                                      </p:to>
                                    </p:set>
                                    <p:anim calcmode="lin" valueType="num">
                                      <p:cBhvr additive="base">
                                        <p:cTn id="32" dur="500" fill="hold"/>
                                        <p:tgtEl>
                                          <p:spTgt spid="83"/>
                                        </p:tgtEl>
                                        <p:attrNameLst>
                                          <p:attrName>ppt_x</p:attrName>
                                        </p:attrNameLst>
                                      </p:cBhvr>
                                      <p:tavLst>
                                        <p:tav tm="0">
                                          <p:val>
                                            <p:strVal val="1+#ppt_w/2"/>
                                          </p:val>
                                        </p:tav>
                                        <p:tav tm="100000">
                                          <p:val>
                                            <p:strVal val="#ppt_x"/>
                                          </p:val>
                                        </p:tav>
                                      </p:tavLst>
                                    </p:anim>
                                    <p:anim calcmode="lin" valueType="num">
                                      <p:cBhvr additive="base">
                                        <p:cTn id="33" dur="500" fill="hold"/>
                                        <p:tgtEl>
                                          <p:spTgt spid="83"/>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2" fill="hold" grpId="0" nodeType="after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1+#ppt_w/2"/>
                                          </p:val>
                                        </p:tav>
                                        <p:tav tm="100000">
                                          <p:val>
                                            <p:strVal val="#ppt_x"/>
                                          </p:val>
                                        </p:tav>
                                      </p:tavLst>
                                    </p:anim>
                                    <p:anim calcmode="lin" valueType="num">
                                      <p:cBhvr additive="base">
                                        <p:cTn id="3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3" grpId="0"/>
      <p:bldP spid="3" grpId="0"/>
      <p:bldP spid="79" grpId="0" bldLvl="0" animBg="1"/>
      <p:bldP spid="83" grpId="0" bldLvl="0" animBg="1"/>
      <p:bldP spid="4" grpId="0" animBg="1"/>
      <p:bldP spid="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2" name="椭圆 1"/>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483768" y="2717376"/>
            <a:ext cx="4171762" cy="592470"/>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sym typeface="+mn-lt"/>
              </a:rPr>
              <a:t>研究背景与意义</a:t>
            </a:r>
            <a:endParaRPr lang="zh-CN" altLang="en-US" sz="3400" b="1" dirty="0">
              <a:solidFill>
                <a:schemeClr val="tx1">
                  <a:lumMod val="65000"/>
                  <a:lumOff val="35000"/>
                </a:schemeClr>
              </a:solidFill>
              <a:cs typeface="+mn-ea"/>
              <a:sym typeface="+mn-lt"/>
            </a:endParaRPr>
          </a:p>
        </p:txBody>
      </p:sp>
      <p:sp>
        <p:nvSpPr>
          <p:cNvPr id="95" name="文本框 11"/>
          <p:cNvSpPr txBox="1"/>
          <p:nvPr/>
        </p:nvSpPr>
        <p:spPr>
          <a:xfrm>
            <a:off x="3713476" y="1575042"/>
            <a:ext cx="1732894" cy="815736"/>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01</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600"/>
                                        <p:tgtEl>
                                          <p:spTgt spid="2"/>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p:cTn id="11" dur="500" fill="hold"/>
                                        <p:tgtEl>
                                          <p:spTgt spid="95"/>
                                        </p:tgtEl>
                                        <p:attrNameLst>
                                          <p:attrName>ppt_w</p:attrName>
                                        </p:attrNameLst>
                                      </p:cBhvr>
                                      <p:tavLst>
                                        <p:tav tm="0">
                                          <p:val>
                                            <p:fltVal val="0"/>
                                          </p:val>
                                        </p:tav>
                                        <p:tav tm="100000">
                                          <p:val>
                                            <p:strVal val="#ppt_w"/>
                                          </p:val>
                                        </p:tav>
                                      </p:tavLst>
                                    </p:anim>
                                    <p:anim calcmode="lin" valueType="num">
                                      <p:cBhvr>
                                        <p:cTn id="12" dur="500" fill="hold"/>
                                        <p:tgtEl>
                                          <p:spTgt spid="95"/>
                                        </p:tgtEl>
                                        <p:attrNameLst>
                                          <p:attrName>ppt_h</p:attrName>
                                        </p:attrNameLst>
                                      </p:cBhvr>
                                      <p:tavLst>
                                        <p:tav tm="0">
                                          <p:val>
                                            <p:fltVal val="0"/>
                                          </p:val>
                                        </p:tav>
                                        <p:tav tm="100000">
                                          <p:val>
                                            <p:strVal val="#ppt_h"/>
                                          </p:val>
                                        </p:tav>
                                      </p:tavLst>
                                    </p:anim>
                                    <p:animEffect transition="in" filter="fade">
                                      <p:cBhvr>
                                        <p:cTn id="13" dur="500"/>
                                        <p:tgtEl>
                                          <p:spTgt spid="95"/>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2"/>
                                        </p:tgtEl>
                                        <p:attrNameLst>
                                          <p:attrName>ppt_y</p:attrName>
                                        </p:attrNameLst>
                                      </p:cBhvr>
                                      <p:tavLst>
                                        <p:tav tm="0">
                                          <p:val>
                                            <p:strVal val="#ppt_y"/>
                                          </p:val>
                                        </p:tav>
                                        <p:tav tm="100000">
                                          <p:val>
                                            <p:strVal val="#ppt_y"/>
                                          </p:val>
                                        </p:tav>
                                      </p:tavLst>
                                    </p:anim>
                                    <p:anim calcmode="lin" valueType="num">
                                      <p:cBhvr>
                                        <p:cTn id="19"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9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3"/>
          <p:cNvSpPr>
            <a:spLocks noChangeArrowheads="1"/>
          </p:cNvSpPr>
          <p:nvPr/>
        </p:nvSpPr>
        <p:spPr bwMode="auto">
          <a:xfrm>
            <a:off x="4972759" y="2491652"/>
            <a:ext cx="4171241" cy="2402844"/>
          </a:xfrm>
          <a:prstGeom prst="rect">
            <a:avLst/>
          </a:prstGeom>
          <a:solidFill>
            <a:schemeClr val="tx1">
              <a:lumMod val="50000"/>
              <a:lumOff val="50000"/>
            </a:schemeClr>
          </a:solidFill>
          <a:ln w="9525">
            <a:noFill/>
            <a:bevel/>
          </a:ln>
        </p:spPr>
        <p:txBody>
          <a:bodyPr lIns="68580" tIns="34290" rIns="68580" bIns="34290"/>
          <a:lstStyle/>
          <a:p>
            <a:pPr eaLnBrk="1" hangingPunct="1"/>
            <a:endParaRPr lang="zh-CN" altLang="en-US">
              <a:cs typeface="+mn-ea"/>
              <a:sym typeface="+mn-lt"/>
            </a:endParaRPr>
          </a:p>
        </p:txBody>
      </p:sp>
      <p:sp>
        <p:nvSpPr>
          <p:cNvPr id="18" name="矩形 23"/>
          <p:cNvSpPr>
            <a:spLocks noChangeArrowheads="1"/>
          </p:cNvSpPr>
          <p:nvPr/>
        </p:nvSpPr>
        <p:spPr bwMode="auto">
          <a:xfrm>
            <a:off x="1" y="2491652"/>
            <a:ext cx="4972758" cy="2402844"/>
          </a:xfrm>
          <a:prstGeom prst="rect">
            <a:avLst/>
          </a:prstGeom>
          <a:blipFill dpi="0" rotWithShape="1">
            <a:blip r:embed="rId1" cstate="screen">
              <a:extLst>
                <a:ext uri="{BEBA8EAE-BF5A-486C-A8C5-ECC9F3942E4B}">
                  <a14:imgProps xmlns:a14="http://schemas.microsoft.com/office/drawing/2010/main">
                    <a14:imgLayer r:embed="rId2">
                      <a14:imgEffect>
                        <a14:saturation sat="0"/>
                      </a14:imgEffect>
                    </a14:imgLayer>
                  </a14:imgProps>
                </a:ext>
              </a:extLst>
            </a:blip>
            <a:srcRect/>
            <a:stretch>
              <a:fillRect/>
            </a:stretch>
          </a:blipFill>
          <a:ln w="9525">
            <a:noFill/>
            <a:bevel/>
          </a:ln>
        </p:spPr>
        <p:txBody>
          <a:bodyPr lIns="68580" tIns="34290" rIns="68580" bIns="34290"/>
          <a:lstStyle/>
          <a:p>
            <a:pPr eaLnBrk="1" hangingPunct="1"/>
            <a:endParaRPr lang="zh-CN" altLang="en-US">
              <a:cs typeface="+mn-ea"/>
              <a:sym typeface="+mn-lt"/>
            </a:endParaRPr>
          </a:p>
        </p:txBody>
      </p:sp>
      <p:sp>
        <p:nvSpPr>
          <p:cNvPr id="16" name="文本框 15"/>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研究背景</a:t>
            </a:r>
            <a:endParaRPr lang="zh-CN" altLang="en-US" sz="1800" b="1" dirty="0">
              <a:solidFill>
                <a:schemeClr val="tx1">
                  <a:lumMod val="65000"/>
                  <a:lumOff val="35000"/>
                </a:schemeClr>
              </a:solidFill>
              <a:cs typeface="+mn-ea"/>
              <a:sym typeface="+mn-lt"/>
            </a:endParaRPr>
          </a:p>
        </p:txBody>
      </p:sp>
      <p:sp>
        <p:nvSpPr>
          <p:cNvPr id="107" name="文本框 11"/>
          <p:cNvSpPr txBox="1"/>
          <p:nvPr/>
        </p:nvSpPr>
        <p:spPr>
          <a:xfrm>
            <a:off x="356180" y="693215"/>
            <a:ext cx="8356711" cy="2099945"/>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ct val="200000"/>
              </a:lnSpc>
            </a:pPr>
            <a:r>
              <a:rPr lang="en-US" sz="1100" dirty="0">
                <a:latin typeface="微软雅黑" panose="020B0503020204020204" pitchFamily="34" charset="-122"/>
                <a:ea typeface="微软雅黑" panose="020B0503020204020204" pitchFamily="34" charset="-122"/>
              </a:rPr>
              <a:t>	</a:t>
            </a:r>
            <a:r>
              <a:rPr sz="1100" dirty="0">
                <a:latin typeface="微软雅黑" panose="020B0503020204020204" pitchFamily="34" charset="-122"/>
                <a:ea typeface="微软雅黑" panose="020B0503020204020204" pitchFamily="34" charset="-122"/>
              </a:rPr>
              <a:t>当今世界上的大多数机器人是出于提高技术人员或者工人生产效率、替代人类完成枯燥重复或危险任务的目的而设计制造出来的，具有广泛的应用场景和巨大的研究价值。其中仿人类上肢结构的机器人应用最为广泛，这类机器人属于离散型机器人(discrete robot)，它由单自由度关节和刚性连杆构成，机器人的运动在各自由度关节处产生，刚性连杆用于保持各关节的相互几何关系，通过对各单自由度关节的驱动控制来实现机器人末端执行器位姿的变化。传统离散型机器人可被建模为离散关节处连接的固定刚性结构，这种离散型机器人由于结构固定，自由度有限，因此结构环境和空间的适应能力不强</a:t>
            </a:r>
            <a:endParaRPr sz="1100" dirty="0">
              <a:latin typeface="微软雅黑" panose="020B0503020204020204" pitchFamily="34" charset="-122"/>
              <a:ea typeface="微软雅黑" panose="020B0503020204020204" pitchFamily="34" charset="-122"/>
            </a:endParaRPr>
          </a:p>
          <a:p>
            <a:pPr>
              <a:lnSpc>
                <a:spcPct val="200000"/>
              </a:lnSpc>
            </a:pPr>
            <a:endParaRPr sz="1100"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607759" y="3093899"/>
            <a:ext cx="2901241" cy="1198880"/>
          </a:xfrm>
          <a:prstGeom prst="rect">
            <a:avLst/>
          </a:prstGeom>
        </p:spPr>
        <p:txBody>
          <a:bodyPr wrap="square">
            <a:spAutoFit/>
          </a:bodyPr>
          <a:lstStyle/>
          <a:p>
            <a:pPr algn="just">
              <a:lnSpc>
                <a:spcPct val="200000"/>
              </a:lnSpc>
            </a:pPr>
            <a:r>
              <a:rPr lang="zh-CN" altLang="en-US" sz="1200" dirty="0">
                <a:solidFill>
                  <a:schemeClr val="bg1"/>
                </a:solidFill>
                <a:latin typeface="微软雅黑" panose="020B0503020204020204" pitchFamily="34" charset="-122"/>
                <a:ea typeface="微软雅黑" panose="020B0503020204020204" pitchFamily="34" charset="-122"/>
                <a:sym typeface="+mn-ea"/>
              </a:rPr>
              <a:t>传统离散型机器人因其结构特征，结构环境和空间的适应能力不强，具有局限性。</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649"/>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par>
                          <p:cTn id="16" fill="hold">
                            <p:stCondLst>
                              <p:cond delay="1149"/>
                            </p:stCondLst>
                            <p:childTnLst>
                              <p:par>
                                <p:cTn id="17" presetID="2" presetClass="entr" presetSubtype="8"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1+#ppt_w/2"/>
                                          </p:val>
                                        </p:tav>
                                        <p:tav tm="100000">
                                          <p:val>
                                            <p:strVal val="#ppt_x"/>
                                          </p:val>
                                        </p:tav>
                                      </p:tavLst>
                                    </p:anim>
                                    <p:anim calcmode="lin" valueType="num">
                                      <p:cBhvr additive="base">
                                        <p:cTn id="24" dur="500" fill="hold"/>
                                        <p:tgtEl>
                                          <p:spTgt spid="23"/>
                                        </p:tgtEl>
                                        <p:attrNameLst>
                                          <p:attrName>ppt_y</p:attrName>
                                        </p:attrNameLst>
                                      </p:cBhvr>
                                      <p:tavLst>
                                        <p:tav tm="0">
                                          <p:val>
                                            <p:strVal val="#ppt_y"/>
                                          </p:val>
                                        </p:tav>
                                        <p:tav tm="100000">
                                          <p:val>
                                            <p:strVal val="#ppt_y"/>
                                          </p:val>
                                        </p:tav>
                                      </p:tavLst>
                                    </p:anim>
                                  </p:childTnLst>
                                </p:cTn>
                              </p:par>
                            </p:childTnLst>
                          </p:cTn>
                        </p:par>
                        <p:par>
                          <p:cTn id="25" fill="hold">
                            <p:stCondLst>
                              <p:cond delay="1649"/>
                            </p:stCondLst>
                            <p:childTnLst>
                              <p:par>
                                <p:cTn id="26" presetID="2" presetClass="entr" presetSubtype="2" fill="hold" grpId="0" nodeType="afterEffect">
                                  <p:stCondLst>
                                    <p:cond delay="0"/>
                                  </p:stCondLst>
                                  <p:childTnLst>
                                    <p:set>
                                      <p:cBhvr>
                                        <p:cTn id="27" dur="1" fill="hold">
                                          <p:stCondLst>
                                            <p:cond delay="0"/>
                                          </p:stCondLst>
                                        </p:cTn>
                                        <p:tgtEl>
                                          <p:spTgt spid="107"/>
                                        </p:tgtEl>
                                        <p:attrNameLst>
                                          <p:attrName>style.visibility</p:attrName>
                                        </p:attrNameLst>
                                      </p:cBhvr>
                                      <p:to>
                                        <p:strVal val="visible"/>
                                      </p:to>
                                    </p:set>
                                    <p:anim calcmode="lin" valueType="num">
                                      <p:cBhvr additive="base">
                                        <p:cTn id="28" dur="500" fill="hold"/>
                                        <p:tgtEl>
                                          <p:spTgt spid="107"/>
                                        </p:tgtEl>
                                        <p:attrNameLst>
                                          <p:attrName>ppt_x</p:attrName>
                                        </p:attrNameLst>
                                      </p:cBhvr>
                                      <p:tavLst>
                                        <p:tav tm="0">
                                          <p:val>
                                            <p:strVal val="1+#ppt_w/2"/>
                                          </p:val>
                                        </p:tav>
                                        <p:tav tm="100000">
                                          <p:val>
                                            <p:strVal val="#ppt_x"/>
                                          </p:val>
                                        </p:tav>
                                      </p:tavLst>
                                    </p:anim>
                                    <p:anim calcmode="lin" valueType="num">
                                      <p:cBhvr additive="base">
                                        <p:cTn id="29" dur="500" fill="hold"/>
                                        <p:tgtEl>
                                          <p:spTgt spid="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autoUpdateAnimBg="0"/>
      <p:bldP spid="18" grpId="0" bldLvl="0" animBg="1" autoUpdateAnimBg="0"/>
      <p:bldP spid="16" grpId="0"/>
      <p:bldP spid="10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3"/>
          <p:cNvSpPr>
            <a:spLocks noChangeArrowheads="1"/>
          </p:cNvSpPr>
          <p:nvPr/>
        </p:nvSpPr>
        <p:spPr bwMode="auto">
          <a:xfrm>
            <a:off x="4972759" y="2491652"/>
            <a:ext cx="4171241" cy="2402844"/>
          </a:xfrm>
          <a:prstGeom prst="rect">
            <a:avLst/>
          </a:prstGeom>
          <a:solidFill>
            <a:schemeClr val="tx1">
              <a:lumMod val="50000"/>
              <a:lumOff val="50000"/>
            </a:schemeClr>
          </a:solidFill>
          <a:ln w="9525">
            <a:noFill/>
            <a:bevel/>
          </a:ln>
        </p:spPr>
        <p:txBody>
          <a:bodyPr lIns="68580" tIns="34290" rIns="68580" bIns="34290"/>
          <a:lstStyle/>
          <a:p>
            <a:pPr eaLnBrk="1" hangingPunct="1"/>
            <a:endParaRPr lang="zh-CN" altLang="en-US">
              <a:cs typeface="+mn-ea"/>
              <a:sym typeface="+mn-lt"/>
            </a:endParaRPr>
          </a:p>
        </p:txBody>
      </p:sp>
      <p:sp>
        <p:nvSpPr>
          <p:cNvPr id="18" name="矩形 23"/>
          <p:cNvSpPr>
            <a:spLocks noChangeArrowheads="1"/>
          </p:cNvSpPr>
          <p:nvPr/>
        </p:nvSpPr>
        <p:spPr bwMode="auto">
          <a:xfrm>
            <a:off x="1" y="2491652"/>
            <a:ext cx="4972758" cy="2402844"/>
          </a:xfrm>
          <a:prstGeom prst="rect">
            <a:avLst/>
          </a:prstGeom>
          <a:blipFill dpi="0" rotWithShape="1">
            <a:blip r:embed="rId1" cstate="screen">
              <a:extLst>
                <a:ext uri="{BEBA8EAE-BF5A-486C-A8C5-ECC9F3942E4B}">
                  <a14:imgProps xmlns:a14="http://schemas.microsoft.com/office/drawing/2010/main">
                    <a14:imgLayer r:embed="rId2">
                      <a14:imgEffect>
                        <a14:saturation sat="0"/>
                      </a14:imgEffect>
                    </a14:imgLayer>
                  </a14:imgProps>
                </a:ext>
              </a:extLst>
            </a:blip>
            <a:srcRect/>
            <a:stretch>
              <a:fillRect/>
            </a:stretch>
          </a:blipFill>
          <a:ln w="9525">
            <a:noFill/>
            <a:bevel/>
          </a:ln>
        </p:spPr>
        <p:txBody>
          <a:bodyPr lIns="68580" tIns="34290" rIns="68580" bIns="34290"/>
          <a:lstStyle/>
          <a:p>
            <a:pPr eaLnBrk="1" hangingPunct="1"/>
            <a:endParaRPr lang="zh-CN" altLang="en-US">
              <a:cs typeface="+mn-ea"/>
              <a:sym typeface="+mn-lt"/>
            </a:endParaRPr>
          </a:p>
        </p:txBody>
      </p:sp>
      <p:sp>
        <p:nvSpPr>
          <p:cNvPr id="16" name="文本框 15"/>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研究背景</a:t>
            </a:r>
            <a:endParaRPr lang="zh-CN" altLang="en-US" sz="1800" b="1" dirty="0">
              <a:solidFill>
                <a:schemeClr val="tx1">
                  <a:lumMod val="65000"/>
                  <a:lumOff val="35000"/>
                </a:schemeClr>
              </a:solidFill>
              <a:cs typeface="+mn-ea"/>
              <a:sym typeface="+mn-lt"/>
            </a:endParaRPr>
          </a:p>
        </p:txBody>
      </p:sp>
      <p:sp>
        <p:nvSpPr>
          <p:cNvPr id="107" name="文本框 11"/>
          <p:cNvSpPr txBox="1"/>
          <p:nvPr/>
        </p:nvSpPr>
        <p:spPr>
          <a:xfrm>
            <a:off x="356180" y="693215"/>
            <a:ext cx="8356711" cy="1422400"/>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ct val="200000"/>
              </a:lnSpc>
            </a:pPr>
            <a:r>
              <a:rPr lang="en-US" sz="1100" dirty="0">
                <a:latin typeface="微软雅黑" panose="020B0503020204020204" pitchFamily="34" charset="-122"/>
                <a:ea typeface="微软雅黑" panose="020B0503020204020204" pitchFamily="34" charset="-122"/>
              </a:rPr>
              <a:t>	</a:t>
            </a:r>
            <a:r>
              <a:rPr sz="1100" dirty="0">
                <a:latin typeface="微软雅黑" panose="020B0503020204020204" pitchFamily="34" charset="-122"/>
                <a:ea typeface="微软雅黑" panose="020B0503020204020204" pitchFamily="34" charset="-122"/>
              </a:rPr>
              <a:t>在自然界中存在身体或部分身体结构可发生形变的生物，例如章鱼触手和象鼻等没有骨骼支撑的生物组织，可以出色地完成物体的柔顺操纵与定位到达等任务。 </a:t>
            </a:r>
            <a:r>
              <a:rPr sz="1100" dirty="0" err="1">
                <a:latin typeface="微软雅黑" panose="020B0503020204020204" pitchFamily="34" charset="-122"/>
                <a:ea typeface="微软雅黑" panose="020B0503020204020204" pitchFamily="34" charset="-122"/>
              </a:rPr>
              <a:t>受启发于这些生物，研究人员已经着手探索连续型机器人设计与控制问题。连续型机器人</a:t>
            </a:r>
            <a:r>
              <a:rPr sz="1100" dirty="0">
                <a:latin typeface="微软雅黑" panose="020B0503020204020204" pitchFamily="34" charset="-122"/>
                <a:ea typeface="微软雅黑" panose="020B0503020204020204" pitchFamily="34" charset="-122"/>
              </a:rPr>
              <a:t>(continuum robot)是一种由柔性材料组成、不含任何离散关节、理论上自由度无穷多的仿生机器人，可完成复杂的定位及抓取任务，具有很强的环境和空间的适应能力。但其复杂且固定的柔性结构不利于维护，可拓展性较低。</a:t>
            </a:r>
            <a:endParaRPr sz="1100"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607759" y="3278049"/>
            <a:ext cx="2901241" cy="829945"/>
          </a:xfrm>
          <a:prstGeom prst="rect">
            <a:avLst/>
          </a:prstGeom>
        </p:spPr>
        <p:txBody>
          <a:bodyPr wrap="square">
            <a:spAutoFit/>
          </a:bodyPr>
          <a:lstStyle/>
          <a:p>
            <a:pPr algn="just">
              <a:lnSpc>
                <a:spcPct val="200000"/>
              </a:lnSpc>
            </a:pPr>
            <a:r>
              <a:rPr lang="zh-CN" altLang="en-US" sz="1200" dirty="0">
                <a:solidFill>
                  <a:schemeClr val="bg1"/>
                </a:solidFill>
                <a:latin typeface="微软雅黑" panose="020B0503020204020204" pitchFamily="34" charset="-122"/>
                <a:ea typeface="微软雅黑" panose="020B0503020204020204" pitchFamily="34" charset="-122"/>
                <a:sym typeface="+mn-ea"/>
              </a:rPr>
              <a:t>连续型机器人因其复杂且固定的柔性结构不利于维护，可拓展性较低</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649"/>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par>
                          <p:cTn id="16" fill="hold">
                            <p:stCondLst>
                              <p:cond delay="1149"/>
                            </p:stCondLst>
                            <p:childTnLst>
                              <p:par>
                                <p:cTn id="17" presetID="2" presetClass="entr" presetSubtype="8"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1+#ppt_w/2"/>
                                          </p:val>
                                        </p:tav>
                                        <p:tav tm="100000">
                                          <p:val>
                                            <p:strVal val="#ppt_x"/>
                                          </p:val>
                                        </p:tav>
                                      </p:tavLst>
                                    </p:anim>
                                    <p:anim calcmode="lin" valueType="num">
                                      <p:cBhvr additive="base">
                                        <p:cTn id="24" dur="500" fill="hold"/>
                                        <p:tgtEl>
                                          <p:spTgt spid="23"/>
                                        </p:tgtEl>
                                        <p:attrNameLst>
                                          <p:attrName>ppt_y</p:attrName>
                                        </p:attrNameLst>
                                      </p:cBhvr>
                                      <p:tavLst>
                                        <p:tav tm="0">
                                          <p:val>
                                            <p:strVal val="#ppt_y"/>
                                          </p:val>
                                        </p:tav>
                                        <p:tav tm="100000">
                                          <p:val>
                                            <p:strVal val="#ppt_y"/>
                                          </p:val>
                                        </p:tav>
                                      </p:tavLst>
                                    </p:anim>
                                  </p:childTnLst>
                                </p:cTn>
                              </p:par>
                            </p:childTnLst>
                          </p:cTn>
                        </p:par>
                        <p:par>
                          <p:cTn id="25" fill="hold">
                            <p:stCondLst>
                              <p:cond delay="1649"/>
                            </p:stCondLst>
                            <p:childTnLst>
                              <p:par>
                                <p:cTn id="26" presetID="2" presetClass="entr" presetSubtype="2" fill="hold" grpId="0" nodeType="afterEffect">
                                  <p:stCondLst>
                                    <p:cond delay="0"/>
                                  </p:stCondLst>
                                  <p:childTnLst>
                                    <p:set>
                                      <p:cBhvr>
                                        <p:cTn id="27" dur="1" fill="hold">
                                          <p:stCondLst>
                                            <p:cond delay="0"/>
                                          </p:stCondLst>
                                        </p:cTn>
                                        <p:tgtEl>
                                          <p:spTgt spid="107"/>
                                        </p:tgtEl>
                                        <p:attrNameLst>
                                          <p:attrName>style.visibility</p:attrName>
                                        </p:attrNameLst>
                                      </p:cBhvr>
                                      <p:to>
                                        <p:strVal val="visible"/>
                                      </p:to>
                                    </p:set>
                                    <p:anim calcmode="lin" valueType="num">
                                      <p:cBhvr additive="base">
                                        <p:cTn id="28" dur="500" fill="hold"/>
                                        <p:tgtEl>
                                          <p:spTgt spid="107"/>
                                        </p:tgtEl>
                                        <p:attrNameLst>
                                          <p:attrName>ppt_x</p:attrName>
                                        </p:attrNameLst>
                                      </p:cBhvr>
                                      <p:tavLst>
                                        <p:tav tm="0">
                                          <p:val>
                                            <p:strVal val="1+#ppt_w/2"/>
                                          </p:val>
                                        </p:tav>
                                        <p:tav tm="100000">
                                          <p:val>
                                            <p:strVal val="#ppt_x"/>
                                          </p:val>
                                        </p:tav>
                                      </p:tavLst>
                                    </p:anim>
                                    <p:anim calcmode="lin" valueType="num">
                                      <p:cBhvr additive="base">
                                        <p:cTn id="29" dur="500" fill="hold"/>
                                        <p:tgtEl>
                                          <p:spTgt spid="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autoUpdateAnimBg="0"/>
      <p:bldP spid="18" grpId="0" bldLvl="0" animBg="1" autoUpdateAnimBg="0"/>
      <p:bldP spid="16" grpId="0"/>
      <p:bldP spid="10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泪滴形 14"/>
          <p:cNvSpPr/>
          <p:nvPr>
            <p:custDataLst>
              <p:tags r:id="rId1"/>
            </p:custDataLst>
          </p:nvPr>
        </p:nvSpPr>
        <p:spPr>
          <a:xfrm>
            <a:off x="563393" y="818756"/>
            <a:ext cx="602227" cy="602227"/>
          </a:xfrm>
          <a:prstGeom prst="teardrop">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custDataLst>
              <p:tags r:id="rId2"/>
            </p:custDataLst>
          </p:nvPr>
        </p:nvGrpSpPr>
        <p:grpSpPr>
          <a:xfrm>
            <a:off x="732098" y="937809"/>
            <a:ext cx="264816" cy="364121"/>
            <a:chOff x="6766243" y="2767965"/>
            <a:chExt cx="139700" cy="192088"/>
          </a:xfrm>
          <a:solidFill>
            <a:schemeClr val="bg1"/>
          </a:solidFill>
        </p:grpSpPr>
        <p:sp>
          <p:nvSpPr>
            <p:cNvPr id="31762" name="Rectangle 27"/>
            <p:cNvSpPr/>
            <p:nvPr>
              <p:custDataLst>
                <p:tags r:id="rId3"/>
              </p:custDataLst>
            </p:nvPr>
          </p:nvSpPr>
          <p:spPr>
            <a:xfrm>
              <a:off x="6766243" y="2807653"/>
              <a:ext cx="22225" cy="152400"/>
            </a:xfrm>
            <a:prstGeom prst="rect">
              <a:avLst/>
            </a:prstGeom>
            <a:grpFill/>
            <a:ln w="9525">
              <a:noFill/>
              <a:miter/>
            </a:ln>
          </p:spPr>
          <p:txBody>
            <a:bodyPr/>
            <a:lstStyle/>
            <a:p>
              <a:pPr lvl="0" eaLnBrk="1" hangingPunct="1"/>
              <a:endParaRPr lang="zh-CN" altLang="en-US" dirty="0">
                <a:cs typeface="+mn-ea"/>
                <a:sym typeface="+mn-lt"/>
              </a:endParaRPr>
            </a:p>
          </p:txBody>
        </p:sp>
        <p:sp>
          <p:nvSpPr>
            <p:cNvPr id="31763" name="Rectangle 28"/>
            <p:cNvSpPr/>
            <p:nvPr>
              <p:custDataLst>
                <p:tags r:id="rId4"/>
              </p:custDataLst>
            </p:nvPr>
          </p:nvSpPr>
          <p:spPr>
            <a:xfrm>
              <a:off x="6807518" y="2783840"/>
              <a:ext cx="20637" cy="176213"/>
            </a:xfrm>
            <a:prstGeom prst="rect">
              <a:avLst/>
            </a:prstGeom>
            <a:grpFill/>
            <a:ln w="9525">
              <a:noFill/>
              <a:miter/>
            </a:ln>
          </p:spPr>
          <p:txBody>
            <a:bodyPr/>
            <a:lstStyle/>
            <a:p>
              <a:pPr lvl="0" eaLnBrk="1" hangingPunct="1"/>
              <a:endParaRPr lang="zh-CN" altLang="en-US" dirty="0">
                <a:cs typeface="+mn-ea"/>
                <a:sym typeface="+mn-lt"/>
              </a:endParaRPr>
            </a:p>
          </p:txBody>
        </p:sp>
        <p:sp>
          <p:nvSpPr>
            <p:cNvPr id="31764" name="Rectangle 29"/>
            <p:cNvSpPr/>
            <p:nvPr>
              <p:custDataLst>
                <p:tags r:id="rId5"/>
              </p:custDataLst>
            </p:nvPr>
          </p:nvSpPr>
          <p:spPr>
            <a:xfrm>
              <a:off x="6844030" y="2767965"/>
              <a:ext cx="22225" cy="192088"/>
            </a:xfrm>
            <a:prstGeom prst="rect">
              <a:avLst/>
            </a:prstGeom>
            <a:grpFill/>
            <a:ln w="9525">
              <a:noFill/>
              <a:miter/>
            </a:ln>
          </p:spPr>
          <p:txBody>
            <a:bodyPr/>
            <a:lstStyle/>
            <a:p>
              <a:pPr lvl="0" eaLnBrk="1" hangingPunct="1"/>
              <a:endParaRPr lang="zh-CN" altLang="en-US" dirty="0">
                <a:cs typeface="+mn-ea"/>
                <a:sym typeface="+mn-lt"/>
              </a:endParaRPr>
            </a:p>
          </p:txBody>
        </p:sp>
        <p:sp>
          <p:nvSpPr>
            <p:cNvPr id="31765" name="Rectangle 30"/>
            <p:cNvSpPr/>
            <p:nvPr>
              <p:custDataLst>
                <p:tags r:id="rId6"/>
              </p:custDataLst>
            </p:nvPr>
          </p:nvSpPr>
          <p:spPr>
            <a:xfrm>
              <a:off x="6882130" y="2866390"/>
              <a:ext cx="23813" cy="93663"/>
            </a:xfrm>
            <a:prstGeom prst="rect">
              <a:avLst/>
            </a:prstGeom>
            <a:grpFill/>
            <a:ln w="9525">
              <a:noFill/>
              <a:miter/>
            </a:ln>
          </p:spPr>
          <p:txBody>
            <a:bodyPr/>
            <a:lstStyle/>
            <a:p>
              <a:pPr lvl="0" eaLnBrk="1" hangingPunct="1"/>
              <a:endParaRPr lang="zh-CN" altLang="en-US" dirty="0">
                <a:cs typeface="+mn-ea"/>
                <a:sym typeface="+mn-lt"/>
              </a:endParaRPr>
            </a:p>
          </p:txBody>
        </p:sp>
      </p:grpSp>
      <p:cxnSp>
        <p:nvCxnSpPr>
          <p:cNvPr id="33" name="直接连接符 32"/>
          <p:cNvCxnSpPr/>
          <p:nvPr/>
        </p:nvCxnSpPr>
        <p:spPr>
          <a:xfrm>
            <a:off x="774478" y="6193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研究意义</a:t>
            </a:r>
            <a:endParaRPr lang="zh-CN" altLang="en-US" sz="1800" b="1" dirty="0">
              <a:solidFill>
                <a:schemeClr val="tx1">
                  <a:lumMod val="65000"/>
                  <a:lumOff val="35000"/>
                </a:schemeClr>
              </a:solidFill>
              <a:cs typeface="+mn-ea"/>
              <a:sym typeface="+mn-lt"/>
            </a:endParaRPr>
          </a:p>
        </p:txBody>
      </p:sp>
      <p:sp>
        <p:nvSpPr>
          <p:cNvPr id="7" name="矩形: 圆角 6"/>
          <p:cNvSpPr/>
          <p:nvPr>
            <p:custDataLst>
              <p:tags r:id="rId7"/>
            </p:custDataLst>
          </p:nvPr>
        </p:nvSpPr>
        <p:spPr>
          <a:xfrm>
            <a:off x="1412875" y="780415"/>
            <a:ext cx="2736215" cy="3613150"/>
          </a:xfrm>
          <a:prstGeom prst="roundRect">
            <a:avLst>
              <a:gd name="adj" fmla="val 3429"/>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524000" y="892810"/>
            <a:ext cx="2477770" cy="3786505"/>
          </a:xfrm>
          <a:prstGeom prst="rect">
            <a:avLst/>
          </a:prstGeom>
          <a:noFill/>
        </p:spPr>
        <p:txBody>
          <a:bodyPr wrap="square" rtlCol="0">
            <a:noAutofit/>
          </a:bodyPr>
          <a:lstStyle/>
          <a:p>
            <a:pPr algn="l">
              <a:lnSpc>
                <a:spcPct val="200000"/>
              </a:lnSpc>
              <a:buClrTx/>
              <a:buSzTx/>
              <a:buNone/>
            </a:pPr>
            <a:r>
              <a:rPr sz="1200" dirty="0">
                <a:latin typeface="微软雅黑" panose="020B0503020204020204" pitchFamily="34" charset="-122"/>
                <a:ea typeface="微软雅黑" panose="020B0503020204020204" pitchFamily="34" charset="-122"/>
              </a:rPr>
              <a:t>在工业自动化生产中，需要根据实际的任务需求和工作场景，确定固定的机械臂结构，一种结构只能对应一种需求，迭代生产方式后就需要重新设计。在医疗救援领域，机械臂要面对复杂多变的工作空间，因此对机械臂的鲁棒性和空间适应性有很高的要求。</a:t>
            </a:r>
            <a:endParaRPr sz="1200" dirty="0">
              <a:latin typeface="微软雅黑" panose="020B0503020204020204" pitchFamily="34" charset="-122"/>
              <a:ea typeface="微软雅黑" panose="020B0503020204020204" pitchFamily="34" charset="-122"/>
            </a:endParaRPr>
          </a:p>
        </p:txBody>
      </p:sp>
      <p:pic>
        <p:nvPicPr>
          <p:cNvPr id="3" name="图片 2" descr="1.2"/>
          <p:cNvPicPr>
            <a:picLocks noChangeAspect="1"/>
          </p:cNvPicPr>
          <p:nvPr/>
        </p:nvPicPr>
        <p:blipFill>
          <a:blip r:embed="rId8"/>
          <a:stretch>
            <a:fillRect/>
          </a:stretch>
        </p:blipFill>
        <p:spPr>
          <a:xfrm>
            <a:off x="4266565" y="832485"/>
            <a:ext cx="4450715" cy="350964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5"/>
                                        </p:tgtEl>
                                        <p:attrNameLst>
                                          <p:attrName>ppt_y</p:attrName>
                                        </p:attrNameLst>
                                      </p:cBhvr>
                                      <p:tavLst>
                                        <p:tav tm="0">
                                          <p:val>
                                            <p:strVal val="#ppt_y"/>
                                          </p:val>
                                        </p:tav>
                                        <p:tav tm="100000">
                                          <p:val>
                                            <p:strVal val="#ppt_y"/>
                                          </p:val>
                                        </p:tav>
                                      </p:tavLst>
                                    </p:anim>
                                    <p:anim calcmode="lin" valueType="num">
                                      <p:cBhvr>
                                        <p:cTn id="13"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98049" y="255686"/>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研究现状</a:t>
            </a:r>
            <a:endParaRPr lang="zh-CN" altLang="en-US" sz="1800" b="1" dirty="0">
              <a:solidFill>
                <a:schemeClr val="tx1">
                  <a:lumMod val="65000"/>
                  <a:lumOff val="35000"/>
                </a:schemeClr>
              </a:solidFill>
              <a:cs typeface="+mn-ea"/>
              <a:sym typeface="+mn-lt"/>
            </a:endParaRPr>
          </a:p>
        </p:txBody>
      </p:sp>
      <p:sp>
        <p:nvSpPr>
          <p:cNvPr id="107" name="文本框 11"/>
          <p:cNvSpPr txBox="1"/>
          <p:nvPr/>
        </p:nvSpPr>
        <p:spPr>
          <a:xfrm>
            <a:off x="356180" y="693215"/>
            <a:ext cx="8356711" cy="1083945"/>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ct val="200000"/>
              </a:lnSpc>
            </a:pPr>
            <a:r>
              <a:rPr lang="en-US" sz="1100" dirty="0">
                <a:latin typeface="微软雅黑" panose="020B0503020204020204" pitchFamily="34" charset="-122"/>
                <a:ea typeface="微软雅黑" panose="020B0503020204020204" pitchFamily="34" charset="-122"/>
              </a:rPr>
              <a:t>	</a:t>
            </a:r>
            <a:r>
              <a:rPr sz="1100">
                <a:latin typeface="微软雅黑" panose="020B0503020204020204" pitchFamily="34" charset="-122"/>
                <a:ea typeface="微软雅黑" panose="020B0503020204020204" pitchFamily="34" charset="-122"/>
              </a:rPr>
              <a:t>对于机械臂环境适应性和通用性差的问题，一些科技企业和研究院所开展了模块化机械臂的研究。如图1-2，哈尔滨工业大学团队研制出了一种驱动装置和模块化连接组件相分离的新型模块化旋转关节机械臂。采用电机、编码器和制动器轴线平行的布置方式，具有标准的机械、电气接口，可以根据需求组装成不同构型的机械臂。</a:t>
            </a:r>
            <a:endParaRPr sz="110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8" name="图片 8" descr="aa"/>
          <p:cNvPicPr>
            <a:picLocks noChangeAspect="1"/>
          </p:cNvPicPr>
          <p:nvPr/>
        </p:nvPicPr>
        <p:blipFill>
          <a:blip r:embed="rId1"/>
          <a:stretch>
            <a:fillRect/>
          </a:stretch>
        </p:blipFill>
        <p:spPr>
          <a:xfrm>
            <a:off x="2798445" y="1869440"/>
            <a:ext cx="3547110" cy="2667000"/>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649"/>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par>
                          <p:cTn id="16" fill="hold">
                            <p:stCondLst>
                              <p:cond delay="1149"/>
                            </p:stCondLst>
                            <p:childTnLst>
                              <p:par>
                                <p:cTn id="17" presetID="2" presetClass="entr" presetSubtype="2" fill="hold" grpId="0" nodeType="afterEffect">
                                  <p:stCondLst>
                                    <p:cond delay="0"/>
                                  </p:stCondLst>
                                  <p:childTnLst>
                                    <p:set>
                                      <p:cBhvr>
                                        <p:cTn id="18" dur="1" fill="hold">
                                          <p:stCondLst>
                                            <p:cond delay="0"/>
                                          </p:stCondLst>
                                        </p:cTn>
                                        <p:tgtEl>
                                          <p:spTgt spid="107"/>
                                        </p:tgtEl>
                                        <p:attrNameLst>
                                          <p:attrName>style.visibility</p:attrName>
                                        </p:attrNameLst>
                                      </p:cBhvr>
                                      <p:to>
                                        <p:strVal val="visible"/>
                                      </p:to>
                                    </p:set>
                                    <p:anim calcmode="lin" valueType="num">
                                      <p:cBhvr additive="base">
                                        <p:cTn id="19" dur="500" fill="hold"/>
                                        <p:tgtEl>
                                          <p:spTgt spid="107"/>
                                        </p:tgtEl>
                                        <p:attrNameLst>
                                          <p:attrName>ppt_x</p:attrName>
                                        </p:attrNameLst>
                                      </p:cBhvr>
                                      <p:tavLst>
                                        <p:tav tm="0">
                                          <p:val>
                                            <p:strVal val="1+#ppt_w/2"/>
                                          </p:val>
                                        </p:tav>
                                        <p:tav tm="100000">
                                          <p:val>
                                            <p:strVal val="#ppt_x"/>
                                          </p:val>
                                        </p:tav>
                                      </p:tavLst>
                                    </p:anim>
                                    <p:anim calcmode="lin" valueType="num">
                                      <p:cBhvr additive="base">
                                        <p:cTn id="20" dur="500" fill="hold"/>
                                        <p:tgtEl>
                                          <p:spTgt spid="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2" name="椭圆 101"/>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1"/>
          <p:cNvSpPr txBox="1"/>
          <p:nvPr/>
        </p:nvSpPr>
        <p:spPr>
          <a:xfrm>
            <a:off x="2483768" y="2709756"/>
            <a:ext cx="4171762" cy="591185"/>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sym typeface="+mn-lt"/>
              </a:rPr>
              <a:t>结构设计</a:t>
            </a:r>
            <a:endParaRPr lang="zh-CN" altLang="en-US" sz="3400" b="1" dirty="0">
              <a:solidFill>
                <a:schemeClr val="tx1">
                  <a:lumMod val="65000"/>
                  <a:lumOff val="35000"/>
                </a:schemeClr>
              </a:solidFill>
              <a:cs typeface="+mn-ea"/>
              <a:sym typeface="+mn-lt"/>
            </a:endParaRPr>
          </a:p>
        </p:txBody>
      </p:sp>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02</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heel(1)">
                                      <p:cBhvr>
                                        <p:cTn id="7" dur="600"/>
                                        <p:tgtEl>
                                          <p:spTgt spid="102"/>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p:cTn id="11" dur="500" fill="hold"/>
                                        <p:tgtEl>
                                          <p:spTgt spid="105"/>
                                        </p:tgtEl>
                                        <p:attrNameLst>
                                          <p:attrName>ppt_w</p:attrName>
                                        </p:attrNameLst>
                                      </p:cBhvr>
                                      <p:tavLst>
                                        <p:tav tm="0">
                                          <p:val>
                                            <p:fltVal val="0"/>
                                          </p:val>
                                        </p:tav>
                                        <p:tav tm="100000">
                                          <p:val>
                                            <p:strVal val="#ppt_w"/>
                                          </p:val>
                                        </p:tav>
                                      </p:tavLst>
                                    </p:anim>
                                    <p:anim calcmode="lin" valueType="num">
                                      <p:cBhvr>
                                        <p:cTn id="12" dur="500" fill="hold"/>
                                        <p:tgtEl>
                                          <p:spTgt spid="105"/>
                                        </p:tgtEl>
                                        <p:attrNameLst>
                                          <p:attrName>ppt_h</p:attrName>
                                        </p:attrNameLst>
                                      </p:cBhvr>
                                      <p:tavLst>
                                        <p:tav tm="0">
                                          <p:val>
                                            <p:fltVal val="0"/>
                                          </p:val>
                                        </p:tav>
                                        <p:tav tm="100000">
                                          <p:val>
                                            <p:strVal val="#ppt_h"/>
                                          </p:val>
                                        </p:tav>
                                      </p:tavLst>
                                    </p:anim>
                                    <p:animEffect transition="in" filter="fade">
                                      <p:cBhvr>
                                        <p:cTn id="13" dur="500"/>
                                        <p:tgtEl>
                                          <p:spTgt spid="105"/>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3"/>
                                        </p:tgtEl>
                                        <p:attrNameLst>
                                          <p:attrName>style.visibility</p:attrName>
                                        </p:attrNameLst>
                                      </p:cBhvr>
                                      <p:to>
                                        <p:strVal val="visible"/>
                                      </p:to>
                                    </p:set>
                                    <p:anim calcmode="lin" valueType="num">
                                      <p:cBhvr>
                                        <p:cTn id="17" dur="500" fill="hold"/>
                                        <p:tgtEl>
                                          <p:spTgt spid="103"/>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3"/>
                                        </p:tgtEl>
                                        <p:attrNameLst>
                                          <p:attrName>ppt_y</p:attrName>
                                        </p:attrNameLst>
                                      </p:cBhvr>
                                      <p:tavLst>
                                        <p:tav tm="0">
                                          <p:val>
                                            <p:strVal val="#ppt_y"/>
                                          </p:val>
                                        </p:tav>
                                        <p:tav tm="100000">
                                          <p:val>
                                            <p:strVal val="#ppt_y"/>
                                          </p:val>
                                        </p:tav>
                                      </p:tavLst>
                                    </p:anim>
                                    <p:anim calcmode="lin" valueType="num">
                                      <p:cBhvr>
                                        <p:cTn id="19" dur="500" fill="hold"/>
                                        <p:tgtEl>
                                          <p:spTgt spid="103"/>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3"/>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p:bldP spid="10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790180" cy="1068705"/>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传统离散型刚性串联机械臂是基于人类上肢设计的仿生结构，由基本机构组成，，通常包括底座（Base）、关节（Joint）、连杆（Link）、手臂（Arm）、末端执行器（End Effector）、驱动装置（Drive System）、控制系统（Control System） 七个部分。</a:t>
            </a:r>
            <a:endPar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endParaRPr lang="zh-CN" altLang="en-US"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descr="2.1.1"/>
          <p:cNvPicPr>
            <a:picLocks noChangeAspect="1"/>
          </p:cNvPicPr>
          <p:nvPr/>
        </p:nvPicPr>
        <p:blipFill>
          <a:blip r:embed="rId1"/>
          <a:stretch>
            <a:fillRect/>
          </a:stretch>
        </p:blipFill>
        <p:spPr>
          <a:xfrm>
            <a:off x="2625090" y="1882775"/>
            <a:ext cx="4089400" cy="2425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77495"/>
            <a:ext cx="148272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模块化连杆</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873125" y="876300"/>
            <a:ext cx="7397750" cy="3390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6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972185"/>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为丰富模块化连接方式的多样性，设计了X-X、X-Y方向长连杆和集成化短连杆，各标准化连接节点采用M5螺丝固连，整体采用5mm厚的5052铝合金钣金和碳纤维管结构，保障模块化机械臂的强度和刚度，实现各种结构的灵活连接。</a:t>
            </a:r>
            <a:endPar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48272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模块化连杆</a:t>
            </a:r>
            <a:endParaRPr lang="zh-CN" altLang="en-US" sz="1800" b="1" dirty="0">
              <a:solidFill>
                <a:schemeClr val="tx1">
                  <a:lumMod val="65000"/>
                  <a:lumOff val="35000"/>
                </a:schemeClr>
              </a:solidFill>
              <a:cs typeface="+mn-ea"/>
              <a:sym typeface="+mn-lt"/>
            </a:endParaRPr>
          </a:p>
        </p:txBody>
      </p:sp>
      <p:pic>
        <p:nvPicPr>
          <p:cNvPr id="11" name="图片 10"/>
          <p:cNvPicPr>
            <a:picLocks noChangeAspect="1"/>
          </p:cNvPicPr>
          <p:nvPr/>
        </p:nvPicPr>
        <p:blipFill>
          <a:blip r:embed="rId1"/>
          <a:stretch>
            <a:fillRect/>
          </a:stretch>
        </p:blipFill>
        <p:spPr>
          <a:xfrm>
            <a:off x="1513840" y="1861185"/>
            <a:ext cx="1932305" cy="3004820"/>
          </a:xfrm>
          <a:prstGeom prst="rect">
            <a:avLst/>
          </a:prstGeom>
        </p:spPr>
      </p:pic>
      <p:pic>
        <p:nvPicPr>
          <p:cNvPr id="12" name="图片 11"/>
          <p:cNvPicPr>
            <a:picLocks noChangeAspect="1"/>
          </p:cNvPicPr>
          <p:nvPr/>
        </p:nvPicPr>
        <p:blipFill>
          <a:blip r:embed="rId2"/>
          <a:stretch>
            <a:fillRect/>
          </a:stretch>
        </p:blipFill>
        <p:spPr>
          <a:xfrm>
            <a:off x="3582670" y="1845310"/>
            <a:ext cx="1979295" cy="2986405"/>
          </a:xfrm>
          <a:prstGeom prst="rect">
            <a:avLst/>
          </a:prstGeom>
        </p:spPr>
      </p:pic>
      <p:pic>
        <p:nvPicPr>
          <p:cNvPr id="13" name="图片 12"/>
          <p:cNvPicPr>
            <a:picLocks noChangeAspect="1"/>
          </p:cNvPicPr>
          <p:nvPr/>
        </p:nvPicPr>
        <p:blipFill>
          <a:blip r:embed="rId3"/>
          <a:stretch>
            <a:fillRect/>
          </a:stretch>
        </p:blipFill>
        <p:spPr>
          <a:xfrm>
            <a:off x="5698490" y="2211705"/>
            <a:ext cx="2215515" cy="2254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77495"/>
            <a:ext cx="148272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模块化连杆</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a:stretch>
            <a:fillRect/>
          </a:stretch>
        </p:blipFill>
        <p:spPr>
          <a:xfrm>
            <a:off x="2783840" y="796925"/>
            <a:ext cx="3576320" cy="38957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6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972185"/>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选用42BYGH47步进电机和FLE-42-20行星减速器作为驱动装置，减速比为1:20。配备磁编码闭环控制器、STM32F103C8T6平台CAN协议通讯组件和用于各模块连接的标准化接口，实现模块化机械臂的稳定控制和精确输出力矩。</a:t>
            </a:r>
            <a:endPar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48272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模块化关节</a:t>
            </a:r>
            <a:endParaRPr lang="en-US" altLang="zh-CN" sz="1800" b="1" dirty="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2760980" y="1730375"/>
            <a:ext cx="3622040" cy="298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972185"/>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使用4040欧标铝制型材搭建模块化机械臂的工作平台，安装了350W稳定电源输入、3块测试定位板和STM32F407ZGT6平台的CAN总线控制器，预留出UART协议的通讯接口，根据具体的工作场景和任务需求选择并安装使用。</a:t>
            </a:r>
            <a:endPar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48272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工作平台</a:t>
            </a:r>
            <a:endParaRPr lang="zh-CN" altLang="en-US" sz="1800" b="1" dirty="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2085340" y="1780540"/>
            <a:ext cx="4973955" cy="29502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0" name="椭圆 99"/>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1"/>
          <p:cNvSpPr txBox="1"/>
          <p:nvPr/>
        </p:nvSpPr>
        <p:spPr>
          <a:xfrm>
            <a:off x="2483768" y="2709756"/>
            <a:ext cx="4171762" cy="591185"/>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sym typeface="+mn-lt"/>
              </a:rPr>
              <a:t>分析优化</a:t>
            </a:r>
            <a:endParaRPr lang="zh-CN" altLang="en-US" sz="3400" b="1" dirty="0">
              <a:solidFill>
                <a:schemeClr val="tx1">
                  <a:lumMod val="65000"/>
                  <a:lumOff val="35000"/>
                </a:schemeClr>
              </a:solidFill>
              <a:cs typeface="+mn-ea"/>
              <a:sym typeface="+mn-lt"/>
            </a:endParaRPr>
          </a:p>
        </p:txBody>
      </p:sp>
      <p:sp>
        <p:nvSpPr>
          <p:cNvPr id="103"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03</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heel(1)">
                                      <p:cBhvr>
                                        <p:cTn id="7" dur="600"/>
                                        <p:tgtEl>
                                          <p:spTgt spid="100"/>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 calcmode="lin" valueType="num">
                                      <p:cBhvr>
                                        <p:cTn id="11" dur="500" fill="hold"/>
                                        <p:tgtEl>
                                          <p:spTgt spid="103"/>
                                        </p:tgtEl>
                                        <p:attrNameLst>
                                          <p:attrName>ppt_w</p:attrName>
                                        </p:attrNameLst>
                                      </p:cBhvr>
                                      <p:tavLst>
                                        <p:tav tm="0">
                                          <p:val>
                                            <p:fltVal val="0"/>
                                          </p:val>
                                        </p:tav>
                                        <p:tav tm="100000">
                                          <p:val>
                                            <p:strVal val="#ppt_w"/>
                                          </p:val>
                                        </p:tav>
                                      </p:tavLst>
                                    </p:anim>
                                    <p:anim calcmode="lin" valueType="num">
                                      <p:cBhvr>
                                        <p:cTn id="12" dur="500" fill="hold"/>
                                        <p:tgtEl>
                                          <p:spTgt spid="103"/>
                                        </p:tgtEl>
                                        <p:attrNameLst>
                                          <p:attrName>ppt_h</p:attrName>
                                        </p:attrNameLst>
                                      </p:cBhvr>
                                      <p:tavLst>
                                        <p:tav tm="0">
                                          <p:val>
                                            <p:fltVal val="0"/>
                                          </p:val>
                                        </p:tav>
                                        <p:tav tm="100000">
                                          <p:val>
                                            <p:strVal val="#ppt_h"/>
                                          </p:val>
                                        </p:tav>
                                      </p:tavLst>
                                    </p:anim>
                                    <p:animEffect transition="in" filter="fade">
                                      <p:cBhvr>
                                        <p:cTn id="13" dur="500"/>
                                        <p:tgtEl>
                                          <p:spTgt spid="103"/>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1"/>
                                        </p:tgtEl>
                                        <p:attrNameLst>
                                          <p:attrName>style.visibility</p:attrName>
                                        </p:attrNameLst>
                                      </p:cBhvr>
                                      <p:to>
                                        <p:strVal val="visible"/>
                                      </p:to>
                                    </p:set>
                                    <p:anim calcmode="lin" valueType="num">
                                      <p:cBhvr>
                                        <p:cTn id="17" dur="500" fill="hold"/>
                                        <p:tgtEl>
                                          <p:spTgt spid="101"/>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1"/>
                                        </p:tgtEl>
                                        <p:attrNameLst>
                                          <p:attrName>ppt_y</p:attrName>
                                        </p:attrNameLst>
                                      </p:cBhvr>
                                      <p:tavLst>
                                        <p:tav tm="0">
                                          <p:val>
                                            <p:strVal val="#ppt_y"/>
                                          </p:val>
                                        </p:tav>
                                        <p:tav tm="100000">
                                          <p:val>
                                            <p:strVal val="#ppt_y"/>
                                          </p:val>
                                        </p:tav>
                                      </p:tavLst>
                                    </p:anim>
                                    <p:anim calcmode="lin" valueType="num">
                                      <p:cBhvr>
                                        <p:cTn id="19" dur="500" fill="hold"/>
                                        <p:tgtEl>
                                          <p:spTgt spid="101"/>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1"/>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p:bldP spid="10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68072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根据该机械臂的串联结构，连杆模块与关节模块之间构成面接触的旋转副；连杆模块与连杆模块之间也构成面接触的固连，因此可统一为连接面(Connecting Face)-连接通道(Connecting Channel)-连接面的“FCF结构”</a:t>
            </a:r>
            <a:endPar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模块化组合分析</a:t>
            </a:r>
            <a:endParaRPr lang="zh-CN" altLang="en-US" sz="1800" b="1" dirty="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204595" y="1958975"/>
            <a:ext cx="7068820" cy="20427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63245" y="1231265"/>
            <a:ext cx="7929245" cy="41275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设机械臂各模块从左向右依次固定，整体串联结构可整理为</a:t>
            </a:r>
            <a:endPar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indent="457200" algn="just">
              <a:lnSpc>
                <a:spcPct val="150000"/>
              </a:lnSpc>
            </a:pPr>
            <a:endPar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模块化组合分析</a:t>
            </a:r>
            <a:endParaRPr lang="zh-CN" altLang="en-US" sz="1800" b="1" dirty="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822325" y="2252345"/>
            <a:ext cx="7499350" cy="10902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68072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以连杆模块和关节模块的各连接面旋转中心的交点为坐标原点，垂直于各连接面分别建立坐标系</a:t>
            </a:r>
            <a:endPar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模块化组合分析</a:t>
            </a:r>
            <a:endParaRPr lang="zh-CN" altLang="en-US" sz="1800" b="1" dirty="0">
              <a:solidFill>
                <a:schemeClr val="tx1">
                  <a:lumMod val="65000"/>
                  <a:lumOff val="35000"/>
                </a:schemeClr>
              </a:solidFill>
              <a:cs typeface="+mn-ea"/>
              <a:sym typeface="+mn-lt"/>
            </a:endParaRPr>
          </a:p>
        </p:txBody>
      </p:sp>
      <p:pic>
        <p:nvPicPr>
          <p:cNvPr id="5" name="图片 4"/>
          <p:cNvPicPr>
            <a:picLocks noChangeAspect="1"/>
          </p:cNvPicPr>
          <p:nvPr/>
        </p:nvPicPr>
        <p:blipFill>
          <a:blip r:embed="rId1"/>
          <a:stretch>
            <a:fillRect/>
          </a:stretch>
        </p:blipFill>
        <p:spPr>
          <a:xfrm>
            <a:off x="830580" y="1209675"/>
            <a:ext cx="7397750" cy="3390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68072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其中X-X长连杆(X-X Long Link)和X-Y长连杆(X-Y Long Link)可抽象为6个连接面，每个连接面有4个连接通道，短连杆(Short Link)可抽象为4个连接面，每个连接面有4个连接通道，关节(Joint)可抽象为2个连接面，有4个连接通道。根据Rodriguez公式和装配关系，删去重合项，得出“FCF结构“对应的方法总数</a:t>
            </a:r>
            <a:endPar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模块化组合分析</a:t>
            </a:r>
            <a:endParaRPr lang="zh-CN" altLang="en-US" sz="1800" b="1" dirty="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3047365" y="1821815"/>
            <a:ext cx="3049905" cy="29508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68072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得到不同自由度(F)下的模块化组合总数</a:t>
            </a:r>
            <a:endPar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模块化组合分析</a:t>
            </a:r>
            <a:endParaRPr lang="zh-CN" altLang="en-US" sz="1800" b="1" dirty="0">
              <a:solidFill>
                <a:schemeClr val="tx1">
                  <a:lumMod val="65000"/>
                  <a:lumOff val="35000"/>
                </a:schemeClr>
              </a:solidFill>
              <a:cs typeface="+mn-ea"/>
              <a:sym typeface="+mn-lt"/>
            </a:endParaRPr>
          </a:p>
        </p:txBody>
      </p:sp>
      <p:pic>
        <p:nvPicPr>
          <p:cNvPr id="5" name="图片 4"/>
          <p:cNvPicPr>
            <a:picLocks noChangeAspect="1"/>
          </p:cNvPicPr>
          <p:nvPr/>
        </p:nvPicPr>
        <p:blipFill>
          <a:blip r:embed="rId1"/>
          <a:stretch>
            <a:fillRect/>
          </a:stretch>
        </p:blipFill>
        <p:spPr>
          <a:xfrm>
            <a:off x="1905000" y="1892300"/>
            <a:ext cx="5334000" cy="1358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00279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初始样机渲染图</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2626360" cy="3800475"/>
          </a:xfrm>
          <a:prstGeom prst="rect">
            <a:avLst/>
          </a:prstGeom>
        </p:spPr>
        <p:txBody>
          <a:bodyPr wrap="square">
            <a:noAutofit/>
          </a:bodyPr>
          <a:lstStyle/>
          <a:p>
            <a:pPr indent="457200" algn="just">
              <a:lnSpc>
                <a:spcPct val="150000"/>
              </a:lnSpc>
            </a:pPr>
            <a:endParaRPr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descr="渲染图"/>
          <p:cNvPicPr>
            <a:picLocks noChangeAspect="1"/>
          </p:cNvPicPr>
          <p:nvPr/>
        </p:nvPicPr>
        <p:blipFill>
          <a:blip r:embed="rId1"/>
          <a:srcRect l="23484" r="22207"/>
          <a:stretch>
            <a:fillRect/>
          </a:stretch>
        </p:blipFill>
        <p:spPr>
          <a:xfrm>
            <a:off x="2141220" y="669290"/>
            <a:ext cx="4961890" cy="39782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00279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初始样机实物图</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2626360" cy="3800475"/>
          </a:xfrm>
          <a:prstGeom prst="rect">
            <a:avLst/>
          </a:prstGeom>
        </p:spPr>
        <p:txBody>
          <a:bodyPr wrap="square">
            <a:noAutofit/>
          </a:bodyPr>
          <a:lstStyle/>
          <a:p>
            <a:pPr indent="457200" algn="just">
              <a:lnSpc>
                <a:spcPct val="150000"/>
              </a:lnSpc>
            </a:pPr>
            <a:endParaRPr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descr="示意图"/>
          <p:cNvPicPr>
            <a:picLocks noChangeAspect="1"/>
          </p:cNvPicPr>
          <p:nvPr/>
        </p:nvPicPr>
        <p:blipFill>
          <a:blip r:embed="rId1"/>
          <a:stretch>
            <a:fillRect/>
          </a:stretch>
        </p:blipFill>
        <p:spPr>
          <a:xfrm>
            <a:off x="2443480" y="708660"/>
            <a:ext cx="4256405" cy="42564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79717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初始样机模块化组合分析</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6" name="图片 5" descr="15"/>
          <p:cNvPicPr>
            <a:picLocks noChangeAspect="1"/>
          </p:cNvPicPr>
          <p:nvPr/>
        </p:nvPicPr>
        <p:blipFill>
          <a:blip r:embed="rId1"/>
          <a:stretch>
            <a:fillRect/>
          </a:stretch>
        </p:blipFill>
        <p:spPr>
          <a:xfrm>
            <a:off x="2145030" y="852170"/>
            <a:ext cx="2006600" cy="1142365"/>
          </a:xfrm>
          <a:prstGeom prst="rect">
            <a:avLst/>
          </a:prstGeom>
        </p:spPr>
      </p:pic>
      <p:pic>
        <p:nvPicPr>
          <p:cNvPr id="12" name="图片 11" descr="F:/Desktop/多场景模块化串联机械臂结构设计与分析/演示/市赛答辩/16.png16"/>
          <p:cNvPicPr>
            <a:picLocks noChangeAspect="1"/>
          </p:cNvPicPr>
          <p:nvPr/>
        </p:nvPicPr>
        <p:blipFill>
          <a:blip r:embed="rId2"/>
          <a:srcRect l="1751" r="1751"/>
          <a:stretch>
            <a:fillRect/>
          </a:stretch>
        </p:blipFill>
        <p:spPr>
          <a:xfrm>
            <a:off x="4999990" y="852170"/>
            <a:ext cx="2006600" cy="1142365"/>
          </a:xfrm>
          <a:prstGeom prst="rect">
            <a:avLst/>
          </a:prstGeom>
        </p:spPr>
      </p:pic>
      <p:pic>
        <p:nvPicPr>
          <p:cNvPr id="13" name="图片 12" descr="F:/Desktop/多场景模块化串联机械臂结构设计与分析/演示/市赛答辩/17.png17"/>
          <p:cNvPicPr>
            <a:picLocks noChangeAspect="1"/>
          </p:cNvPicPr>
          <p:nvPr/>
        </p:nvPicPr>
        <p:blipFill>
          <a:blip r:embed="rId3"/>
          <a:srcRect l="1973" r="1973"/>
          <a:stretch>
            <a:fillRect/>
          </a:stretch>
        </p:blipFill>
        <p:spPr>
          <a:xfrm>
            <a:off x="2172335" y="2188845"/>
            <a:ext cx="2006600" cy="1142365"/>
          </a:xfrm>
          <a:prstGeom prst="rect">
            <a:avLst/>
          </a:prstGeom>
        </p:spPr>
      </p:pic>
      <p:pic>
        <p:nvPicPr>
          <p:cNvPr id="14" name="图片 13" descr="F:/Desktop/多场景模块化串联机械臂结构设计与分析/演示/市赛答辩/18.png18"/>
          <p:cNvPicPr>
            <a:picLocks noChangeAspect="1"/>
          </p:cNvPicPr>
          <p:nvPr/>
        </p:nvPicPr>
        <p:blipFill>
          <a:blip r:embed="rId4"/>
          <a:srcRect t="1472" b="1472"/>
          <a:stretch>
            <a:fillRect/>
          </a:stretch>
        </p:blipFill>
        <p:spPr>
          <a:xfrm>
            <a:off x="4999990" y="2188845"/>
            <a:ext cx="2006600" cy="1142365"/>
          </a:xfrm>
          <a:prstGeom prst="rect">
            <a:avLst/>
          </a:prstGeom>
        </p:spPr>
      </p:pic>
      <p:pic>
        <p:nvPicPr>
          <p:cNvPr id="15" name="图片 14" descr="F:/Desktop/多场景模块化串联机械臂结构设计与分析/演示/市赛答辩/20.png20"/>
          <p:cNvPicPr>
            <a:picLocks noChangeAspect="1"/>
          </p:cNvPicPr>
          <p:nvPr/>
        </p:nvPicPr>
        <p:blipFill>
          <a:blip r:embed="rId5"/>
          <a:srcRect l="1584" r="1584"/>
          <a:stretch>
            <a:fillRect/>
          </a:stretch>
        </p:blipFill>
        <p:spPr>
          <a:xfrm>
            <a:off x="4999990" y="3525520"/>
            <a:ext cx="2006600" cy="1142365"/>
          </a:xfrm>
          <a:prstGeom prst="rect">
            <a:avLst/>
          </a:prstGeom>
        </p:spPr>
      </p:pic>
      <p:pic>
        <p:nvPicPr>
          <p:cNvPr id="16" name="图片 15" descr="F:/Desktop/多场景模块化串联机械臂结构设计与分析/演示/市赛答辩/19.png19"/>
          <p:cNvPicPr>
            <a:picLocks noChangeAspect="1"/>
          </p:cNvPicPr>
          <p:nvPr/>
        </p:nvPicPr>
        <p:blipFill>
          <a:blip r:embed="rId6"/>
          <a:srcRect l="862" r="862"/>
          <a:stretch>
            <a:fillRect/>
          </a:stretch>
        </p:blipFill>
        <p:spPr>
          <a:xfrm>
            <a:off x="2172335" y="3525520"/>
            <a:ext cx="2006600" cy="11423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82955" y="86931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22020" y="98869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9705" y="963295"/>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连杆坐标系的建立</a:t>
            </a:r>
            <a:endParaRPr lang="zh-CN" altLang="en-US" sz="1800" b="1" dirty="0">
              <a:solidFill>
                <a:schemeClr val="tx1">
                  <a:lumMod val="65000"/>
                  <a:lumOff val="35000"/>
                </a:schemeClr>
              </a:solidFill>
              <a:sym typeface="+mn-ea"/>
            </a:endParaRP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6" name="图片 5" descr="21"/>
          <p:cNvPicPr>
            <a:picLocks noChangeAspect="1"/>
          </p:cNvPicPr>
          <p:nvPr/>
        </p:nvPicPr>
        <p:blipFill>
          <a:blip r:embed="rId5"/>
          <a:stretch>
            <a:fillRect/>
          </a:stretch>
        </p:blipFill>
        <p:spPr>
          <a:xfrm>
            <a:off x="968375" y="1663700"/>
            <a:ext cx="7493000" cy="2752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82955" y="86931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22020" y="98869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9705" y="963295"/>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连杆坐标系的建立</a:t>
            </a:r>
            <a:endParaRPr lang="zh-CN" altLang="en-US" sz="1800" b="1" dirty="0">
              <a:solidFill>
                <a:schemeClr val="tx1">
                  <a:lumMod val="65000"/>
                  <a:lumOff val="35000"/>
                </a:schemeClr>
              </a:solidFill>
              <a:sym typeface="+mn-ea"/>
            </a:endParaRP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2" name="图片 1" descr="连杆坐标系"/>
          <p:cNvPicPr>
            <a:picLocks noChangeAspect="1"/>
          </p:cNvPicPr>
          <p:nvPr/>
        </p:nvPicPr>
        <p:blipFill>
          <a:blip r:embed="rId5"/>
          <a:stretch>
            <a:fillRect/>
          </a:stretch>
        </p:blipFill>
        <p:spPr>
          <a:xfrm>
            <a:off x="3455035" y="1280160"/>
            <a:ext cx="2242185" cy="35566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74700" y="77470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13765" y="89408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1450" y="868680"/>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机械臂运动学方程</a:t>
            </a:r>
            <a:endParaRPr lang="zh-CN" altLang="en-US" sz="1800" b="1" dirty="0">
              <a:solidFill>
                <a:schemeClr val="tx1">
                  <a:lumMod val="65000"/>
                  <a:lumOff val="35000"/>
                </a:schemeClr>
              </a:solidFill>
              <a:sym typeface="+mn-ea"/>
            </a:endParaRP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7" name="图片 6" descr="22"/>
          <p:cNvPicPr>
            <a:picLocks noChangeAspect="1"/>
          </p:cNvPicPr>
          <p:nvPr/>
        </p:nvPicPr>
        <p:blipFill>
          <a:blip r:embed="rId5"/>
          <a:stretch>
            <a:fillRect/>
          </a:stretch>
        </p:blipFill>
        <p:spPr>
          <a:xfrm>
            <a:off x="1513205" y="1280160"/>
            <a:ext cx="6210300" cy="3505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74700" y="77470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13765" y="89408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1450" y="868680"/>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机械臂运动学方程</a:t>
            </a:r>
            <a:endParaRPr lang="zh-CN" altLang="en-US" sz="1800" b="1" dirty="0">
              <a:solidFill>
                <a:schemeClr val="tx1">
                  <a:lumMod val="65000"/>
                  <a:lumOff val="35000"/>
                </a:schemeClr>
              </a:solidFill>
              <a:sym typeface="+mn-ea"/>
            </a:endParaRP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10" name="图片 9" descr="23"/>
          <p:cNvPicPr>
            <a:picLocks noChangeAspect="1"/>
          </p:cNvPicPr>
          <p:nvPr/>
        </p:nvPicPr>
        <p:blipFill>
          <a:blip r:embed="rId5"/>
          <a:stretch>
            <a:fillRect/>
          </a:stretch>
        </p:blipFill>
        <p:spPr>
          <a:xfrm>
            <a:off x="3912235" y="335915"/>
            <a:ext cx="3971290" cy="44729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13360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75057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86995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844550"/>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MATLAB机械臂建模</a:t>
            </a:r>
            <a:endParaRPr lang="zh-CN" altLang="en-US" sz="1800" b="1" dirty="0">
              <a:solidFill>
                <a:schemeClr val="tx1">
                  <a:lumMod val="65000"/>
                  <a:lumOff val="35000"/>
                </a:schemeClr>
              </a:solidFill>
              <a:sym typeface="+mn-ea"/>
            </a:endParaRPr>
          </a:p>
        </p:txBody>
      </p:sp>
      <p:sp>
        <p:nvSpPr>
          <p:cNvPr id="7" name="矩形 6"/>
          <p:cNvSpPr/>
          <p:nvPr>
            <p:custDataLst>
              <p:tags r:id="rId4"/>
            </p:custDataLst>
          </p:nvPr>
        </p:nvSpPr>
        <p:spPr>
          <a:xfrm>
            <a:off x="1018540" y="1071880"/>
            <a:ext cx="7194550" cy="396240"/>
          </a:xfrm>
          <a:prstGeom prst="rect">
            <a:avLst/>
          </a:prstGeom>
        </p:spPr>
        <p:txBody>
          <a:bodyPr wrap="square">
            <a:noAutofit/>
          </a:bodyPr>
          <a:lstStyle/>
          <a:p>
            <a:pPr indent="457200" algn="just">
              <a:lnSpc>
                <a:spcPct val="200000"/>
              </a:lnSpc>
            </a:pPr>
            <a:r>
              <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根据参数和连杆坐标系，使用Robotics Toolbox for MATLAB对机械臂进行建模，</a:t>
            </a:r>
            <a:endPar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descr="simulation"/>
          <p:cNvPicPr>
            <a:picLocks noChangeAspect="1"/>
          </p:cNvPicPr>
          <p:nvPr/>
        </p:nvPicPr>
        <p:blipFill>
          <a:blip r:embed="rId5"/>
          <a:stretch>
            <a:fillRect/>
          </a:stretch>
        </p:blipFill>
        <p:spPr>
          <a:xfrm>
            <a:off x="2535555" y="1678940"/>
            <a:ext cx="4072890" cy="30549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13360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75057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86995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844550"/>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MATLAB正运动学解算</a:t>
            </a:r>
            <a:endParaRPr lang="zh-CN" altLang="en-US" sz="1800" b="1" dirty="0">
              <a:solidFill>
                <a:schemeClr val="tx1">
                  <a:lumMod val="65000"/>
                  <a:lumOff val="35000"/>
                </a:schemeClr>
              </a:solidFill>
              <a:sym typeface="+mn-ea"/>
            </a:endParaRPr>
          </a:p>
        </p:txBody>
      </p:sp>
      <p:sp>
        <p:nvSpPr>
          <p:cNvPr id="7" name="矩形 6"/>
          <p:cNvSpPr/>
          <p:nvPr>
            <p:custDataLst>
              <p:tags r:id="rId4"/>
            </p:custDataLst>
          </p:nvPr>
        </p:nvSpPr>
        <p:spPr>
          <a:xfrm>
            <a:off x="1018540" y="1071880"/>
            <a:ext cx="7194550" cy="396240"/>
          </a:xfrm>
          <a:prstGeom prst="rect">
            <a:avLst/>
          </a:prstGeom>
        </p:spPr>
        <p:txBody>
          <a:bodyPr wrap="square">
            <a:noAutofit/>
          </a:bodyPr>
          <a:lstStyle/>
          <a:p>
            <a:pPr indent="457200" algn="just">
              <a:lnSpc>
                <a:spcPct val="200000"/>
              </a:lnSpc>
            </a:pPr>
            <a:r>
              <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通过所建模型，可根据末端执行器初始位姿和目标位姿，解算出机械臂末端执行器的位姿、速度、加速度以及空间直线轨迹。</a:t>
            </a:r>
            <a:endPar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 name="图片 9" descr="24"/>
          <p:cNvPicPr>
            <a:picLocks noChangeAspect="1"/>
          </p:cNvPicPr>
          <p:nvPr/>
        </p:nvPicPr>
        <p:blipFill>
          <a:blip r:embed="rId5"/>
          <a:srcRect b="5461"/>
          <a:stretch>
            <a:fillRect/>
          </a:stretch>
        </p:blipFill>
        <p:spPr>
          <a:xfrm>
            <a:off x="2426335" y="2065020"/>
            <a:ext cx="4378960" cy="2616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13360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75057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86995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844550"/>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MATLAB正运动学解算</a:t>
            </a:r>
            <a:endParaRPr lang="zh-CN" altLang="en-US" sz="1800" b="1" dirty="0">
              <a:solidFill>
                <a:schemeClr val="tx1">
                  <a:lumMod val="65000"/>
                  <a:lumOff val="35000"/>
                </a:schemeClr>
              </a:solidFill>
              <a:sym typeface="+mn-ea"/>
            </a:endParaRPr>
          </a:p>
        </p:txBody>
      </p:sp>
      <p:pic>
        <p:nvPicPr>
          <p:cNvPr id="2" name="图片 1" descr="运动学解算"/>
          <p:cNvPicPr>
            <a:picLocks noChangeAspect="1"/>
          </p:cNvPicPr>
          <p:nvPr/>
        </p:nvPicPr>
        <p:blipFill>
          <a:blip r:embed="rId4"/>
          <a:srcRect l="21972"/>
          <a:stretch>
            <a:fillRect/>
          </a:stretch>
        </p:blipFill>
        <p:spPr>
          <a:xfrm>
            <a:off x="627380" y="1544320"/>
            <a:ext cx="8107045" cy="23609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13360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endParaRPr lang="zh-CN" altLang="en-US" sz="1800" b="1" dirty="0">
              <a:solidFill>
                <a:schemeClr val="tx1">
                  <a:lumMod val="65000"/>
                  <a:lumOff val="35000"/>
                </a:schemeClr>
              </a:solidFill>
              <a:cs typeface="+mn-ea"/>
              <a:sym typeface="+mn-lt"/>
            </a:endParaRP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75057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86995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844550"/>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MATLAB机械臂建模</a:t>
            </a:r>
            <a:endParaRPr lang="zh-CN" altLang="en-US" sz="1800" b="1" dirty="0">
              <a:solidFill>
                <a:schemeClr val="tx1">
                  <a:lumMod val="65000"/>
                  <a:lumOff val="35000"/>
                </a:schemeClr>
              </a:solidFill>
              <a:sym typeface="+mn-ea"/>
            </a:endParaRPr>
          </a:p>
        </p:txBody>
      </p:sp>
      <p:sp>
        <p:nvSpPr>
          <p:cNvPr id="7" name="矩形 6"/>
          <p:cNvSpPr/>
          <p:nvPr>
            <p:custDataLst>
              <p:tags r:id="rId4"/>
            </p:custDataLst>
          </p:nvPr>
        </p:nvSpPr>
        <p:spPr>
          <a:xfrm>
            <a:off x="1018540" y="1071880"/>
            <a:ext cx="7194550" cy="396240"/>
          </a:xfrm>
          <a:prstGeom prst="rect">
            <a:avLst/>
          </a:prstGeom>
        </p:spPr>
        <p:txBody>
          <a:bodyPr wrap="square">
            <a:noAutofit/>
          </a:bodyPr>
          <a:lstStyle/>
          <a:p>
            <a:pPr indent="457200" algn="just">
              <a:lnSpc>
                <a:spcPct val="200000"/>
              </a:lnSpc>
            </a:pPr>
            <a:endPar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descr="仿真模型"/>
          <p:cNvPicPr>
            <a:picLocks noChangeAspect="1"/>
          </p:cNvPicPr>
          <p:nvPr/>
        </p:nvPicPr>
        <p:blipFill>
          <a:blip r:embed="rId5"/>
          <a:stretch>
            <a:fillRect/>
          </a:stretch>
        </p:blipFill>
        <p:spPr>
          <a:xfrm>
            <a:off x="2978785" y="1223645"/>
            <a:ext cx="3274060" cy="36175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68072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在多种应用场景中，需评估系统总能耗需求，对机械臂组装方式预处理并模块化重组，使系统完成特定工作时所需总功耗最小，根据轨迹函数，对各关节模块对应运行角度的一阶导数（速度）积分，设计优化指标</a:t>
            </a:r>
            <a:endPar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模块化重组优化</a:t>
            </a:r>
            <a:endParaRPr lang="zh-CN" altLang="en-US" sz="1800" b="1" dirty="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2367280" y="2032000"/>
            <a:ext cx="4343400" cy="152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68072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功耗优化的同时，需对机械臂的工作空间作出优化，使其完成目标任务时满足最优条件，根据特定装配方式的DH表，建立仿真模型，并输出测试点位的运动轨迹</a:t>
            </a:r>
            <a:endPar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模块化重组优化</a:t>
            </a:r>
            <a:endParaRPr lang="zh-CN" altLang="en-US" sz="1800" b="1" dirty="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354330" y="2004695"/>
            <a:ext cx="1758950" cy="1758950"/>
          </a:xfrm>
          <a:prstGeom prst="rect">
            <a:avLst/>
          </a:prstGeom>
        </p:spPr>
      </p:pic>
      <p:pic>
        <p:nvPicPr>
          <p:cNvPr id="5" name="图片 4"/>
          <p:cNvPicPr>
            <a:picLocks noChangeAspect="1"/>
          </p:cNvPicPr>
          <p:nvPr/>
        </p:nvPicPr>
        <p:blipFill>
          <a:blip r:embed="rId2"/>
          <a:stretch>
            <a:fillRect/>
          </a:stretch>
        </p:blipFill>
        <p:spPr>
          <a:xfrm>
            <a:off x="2226945" y="2193290"/>
            <a:ext cx="2204085" cy="1548130"/>
          </a:xfrm>
          <a:prstGeom prst="rect">
            <a:avLst/>
          </a:prstGeom>
        </p:spPr>
      </p:pic>
      <p:pic>
        <p:nvPicPr>
          <p:cNvPr id="6" name="图片 5"/>
          <p:cNvPicPr>
            <a:picLocks noChangeAspect="1"/>
          </p:cNvPicPr>
          <p:nvPr/>
        </p:nvPicPr>
        <p:blipFill>
          <a:blip r:embed="rId3"/>
          <a:stretch>
            <a:fillRect/>
          </a:stretch>
        </p:blipFill>
        <p:spPr>
          <a:xfrm>
            <a:off x="4639945" y="2100580"/>
            <a:ext cx="1734820" cy="1734820"/>
          </a:xfrm>
          <a:prstGeom prst="rect">
            <a:avLst/>
          </a:prstGeom>
        </p:spPr>
      </p:pic>
      <p:pic>
        <p:nvPicPr>
          <p:cNvPr id="7" name="图片 6"/>
          <p:cNvPicPr>
            <a:picLocks noChangeAspect="1"/>
          </p:cNvPicPr>
          <p:nvPr/>
        </p:nvPicPr>
        <p:blipFill>
          <a:blip r:embed="rId4"/>
          <a:stretch>
            <a:fillRect/>
          </a:stretch>
        </p:blipFill>
        <p:spPr>
          <a:xfrm>
            <a:off x="6517005" y="2193290"/>
            <a:ext cx="2388870" cy="1671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929245" cy="680720"/>
          </a:xfrm>
          <a:prstGeom prst="rect">
            <a:avLst/>
          </a:prstGeom>
        </p:spPr>
        <p:txBody>
          <a:bodyPr wrap="square">
            <a:noAutofit/>
          </a:bodyPr>
          <a:lstStyle/>
          <a:p>
            <a:pPr indent="457200" algn="just">
              <a:lnSpc>
                <a:spcPct val="150000"/>
              </a:lnSpc>
            </a:pPr>
            <a:r>
              <a:rPr lang="zh-CN" altLang="en-US"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完成特定工作的基本流程</a:t>
            </a:r>
            <a:endParaRPr lang="zh-CN" altLang="en-US"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5"/>
          <p:cNvSpPr txBox="1"/>
          <p:nvPr/>
        </p:nvSpPr>
        <p:spPr>
          <a:xfrm>
            <a:off x="774700" y="277495"/>
            <a:ext cx="1783715" cy="345440"/>
          </a:xfrm>
          <a:prstGeom prst="rect">
            <a:avLst/>
          </a:prstGeom>
          <a:noFill/>
        </p:spPr>
        <p:txBody>
          <a:bodyPr wrap="square" lIns="68580" tIns="34290" rIns="68580" bIns="34290" rtlCol="0">
            <a:spAutoFit/>
          </a:bodyPr>
          <a:p>
            <a:pPr algn="ctr"/>
            <a:r>
              <a:rPr lang="zh-CN" altLang="en-US" sz="1800" b="1" dirty="0">
                <a:solidFill>
                  <a:schemeClr val="tx1">
                    <a:lumMod val="65000"/>
                    <a:lumOff val="35000"/>
                  </a:schemeClr>
                </a:solidFill>
                <a:cs typeface="+mn-ea"/>
                <a:sym typeface="+mn-lt"/>
              </a:rPr>
              <a:t>模块化重组优化</a:t>
            </a:r>
            <a:endParaRPr lang="zh-CN" altLang="en-US" sz="1800" b="1" dirty="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346200" y="1499235"/>
            <a:ext cx="6786245" cy="29673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2" name="椭圆 101"/>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1"/>
          <p:cNvSpPr txBox="1"/>
          <p:nvPr/>
        </p:nvSpPr>
        <p:spPr>
          <a:xfrm>
            <a:off x="2294397" y="2717376"/>
            <a:ext cx="4555207" cy="591185"/>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rPr>
              <a:t>结论与展望</a:t>
            </a:r>
            <a:endParaRPr lang="zh-CN" altLang="en-US" sz="3400" b="1" dirty="0">
              <a:solidFill>
                <a:schemeClr val="tx1">
                  <a:lumMod val="65000"/>
                  <a:lumOff val="35000"/>
                </a:schemeClr>
              </a:solidFill>
              <a:cs typeface="+mn-ea"/>
            </a:endParaRPr>
          </a:p>
        </p:txBody>
      </p:sp>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04</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heel(1)">
                                      <p:cBhvr>
                                        <p:cTn id="7" dur="600"/>
                                        <p:tgtEl>
                                          <p:spTgt spid="102"/>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p:cTn id="11" dur="500" fill="hold"/>
                                        <p:tgtEl>
                                          <p:spTgt spid="105"/>
                                        </p:tgtEl>
                                        <p:attrNameLst>
                                          <p:attrName>ppt_w</p:attrName>
                                        </p:attrNameLst>
                                      </p:cBhvr>
                                      <p:tavLst>
                                        <p:tav tm="0">
                                          <p:val>
                                            <p:fltVal val="0"/>
                                          </p:val>
                                        </p:tav>
                                        <p:tav tm="100000">
                                          <p:val>
                                            <p:strVal val="#ppt_w"/>
                                          </p:val>
                                        </p:tav>
                                      </p:tavLst>
                                    </p:anim>
                                    <p:anim calcmode="lin" valueType="num">
                                      <p:cBhvr>
                                        <p:cTn id="12" dur="500" fill="hold"/>
                                        <p:tgtEl>
                                          <p:spTgt spid="105"/>
                                        </p:tgtEl>
                                        <p:attrNameLst>
                                          <p:attrName>ppt_h</p:attrName>
                                        </p:attrNameLst>
                                      </p:cBhvr>
                                      <p:tavLst>
                                        <p:tav tm="0">
                                          <p:val>
                                            <p:fltVal val="0"/>
                                          </p:val>
                                        </p:tav>
                                        <p:tav tm="100000">
                                          <p:val>
                                            <p:strVal val="#ppt_h"/>
                                          </p:val>
                                        </p:tav>
                                      </p:tavLst>
                                    </p:anim>
                                    <p:animEffect transition="in" filter="fade">
                                      <p:cBhvr>
                                        <p:cTn id="13" dur="500"/>
                                        <p:tgtEl>
                                          <p:spTgt spid="105"/>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3"/>
                                        </p:tgtEl>
                                        <p:attrNameLst>
                                          <p:attrName>style.visibility</p:attrName>
                                        </p:attrNameLst>
                                      </p:cBhvr>
                                      <p:to>
                                        <p:strVal val="visible"/>
                                      </p:to>
                                    </p:set>
                                    <p:anim calcmode="lin" valueType="num">
                                      <p:cBhvr>
                                        <p:cTn id="17" dur="500" fill="hold"/>
                                        <p:tgtEl>
                                          <p:spTgt spid="103"/>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3"/>
                                        </p:tgtEl>
                                        <p:attrNameLst>
                                          <p:attrName>ppt_y</p:attrName>
                                        </p:attrNameLst>
                                      </p:cBhvr>
                                      <p:tavLst>
                                        <p:tav tm="0">
                                          <p:val>
                                            <p:strVal val="#ppt_y"/>
                                          </p:val>
                                        </p:tav>
                                        <p:tav tm="100000">
                                          <p:val>
                                            <p:strVal val="#ppt_y"/>
                                          </p:val>
                                        </p:tav>
                                      </p:tavLst>
                                    </p:anim>
                                    <p:anim calcmode="lin" valueType="num">
                                      <p:cBhvr>
                                        <p:cTn id="19" dur="500" fill="hold"/>
                                        <p:tgtEl>
                                          <p:spTgt spid="103"/>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3"/>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p:bldP spid="10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直接连接符 51"/>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3" name="文本框 15"/>
          <p:cNvSpPr txBox="1"/>
          <p:nvPr/>
        </p:nvSpPr>
        <p:spPr>
          <a:xfrm>
            <a:off x="699770" y="276225"/>
            <a:ext cx="121094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未来展望</a:t>
            </a:r>
            <a:endParaRPr lang="zh-CN" altLang="en-US" sz="1800" b="1" dirty="0">
              <a:solidFill>
                <a:schemeClr val="tx1">
                  <a:lumMod val="65000"/>
                  <a:lumOff val="35000"/>
                </a:schemeClr>
              </a:solidFill>
              <a:cs typeface="+mn-ea"/>
              <a:sym typeface="+mn-lt"/>
            </a:endParaRPr>
          </a:p>
        </p:txBody>
      </p:sp>
      <p:sp>
        <p:nvSpPr>
          <p:cNvPr id="2" name="矩形 1"/>
          <p:cNvSpPr/>
          <p:nvPr/>
        </p:nvSpPr>
        <p:spPr>
          <a:xfrm>
            <a:off x="812165" y="790575"/>
            <a:ext cx="2671445" cy="3800475"/>
          </a:xfrm>
          <a:prstGeom prst="rect">
            <a:avLst/>
          </a:prstGeom>
        </p:spPr>
        <p:txBody>
          <a:bodyPr wrap="square">
            <a:noAutofit/>
          </a:bodyPr>
          <a:lstStyle/>
          <a:p>
            <a:pPr indent="457200" algn="just">
              <a:lnSpc>
                <a:spcPct val="150000"/>
              </a:lnSpc>
            </a:pPr>
            <a:r>
              <a:rPr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我的家乡宁夏被称为“枸杞之乡”，如今科技飞速发展，自动化枸杞采摘面临着巨大的挑战。传统的震动法由于损耗高、效率低，未能广泛推行。本课题研究的多场景模块化机械臂，在后续的探索过程中，优化结构与算法，根据不同的枸杞采摘需求对机械臂结构预处理，针对相应的品种和树形模块化重组，灵活多变地应对多种场景，加入机器视觉组件，实现花果精确识别分离，提高家乡万亩枸杞果田的生产效率，为美丽宁夏川的建设添砖加瓦。让高新技术产业融入基层生产，智能机械与香甜枸杞珠联璧合！</a:t>
            </a:r>
            <a:endParaRPr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3913505" y="1028065"/>
            <a:ext cx="4630420" cy="33254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300"/>
                                        <p:tgtEl>
                                          <p:spTgt spid="52"/>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53"/>
                                        </p:tgtEl>
                                        <p:attrNameLst>
                                          <p:attrName>style.visibility</p:attrName>
                                        </p:attrNameLst>
                                      </p:cBhvr>
                                      <p:to>
                                        <p:strVal val="visible"/>
                                      </p:to>
                                    </p:set>
                                    <p:anim calcmode="lin" valueType="num">
                                      <p:cBhvr>
                                        <p:cTn id="11"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53"/>
                                        </p:tgtEl>
                                        <p:attrNameLst>
                                          <p:attrName>ppt_y</p:attrName>
                                        </p:attrNameLst>
                                      </p:cBhvr>
                                      <p:tavLst>
                                        <p:tav tm="0">
                                          <p:val>
                                            <p:strVal val="#ppt_y"/>
                                          </p:val>
                                        </p:tav>
                                        <p:tav tm="100000">
                                          <p:val>
                                            <p:strVal val="#ppt_y"/>
                                          </p:val>
                                        </p:tav>
                                      </p:tavLst>
                                    </p:anim>
                                    <p:anim calcmode="lin" valueType="num">
                                      <p:cBhvr>
                                        <p:cTn id="13"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直接连接符 51"/>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3" name="文本框 15"/>
          <p:cNvSpPr txBox="1"/>
          <p:nvPr/>
        </p:nvSpPr>
        <p:spPr>
          <a:xfrm>
            <a:off x="699770" y="276225"/>
            <a:ext cx="121094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参考文献</a:t>
            </a:r>
            <a:endParaRPr lang="zh-CN" altLang="en-US" sz="1800" b="1" dirty="0">
              <a:solidFill>
                <a:schemeClr val="tx1">
                  <a:lumMod val="65000"/>
                  <a:lumOff val="35000"/>
                </a:schemeClr>
              </a:solidFill>
              <a:cs typeface="+mn-ea"/>
              <a:sym typeface="+mn-lt"/>
            </a:endParaRPr>
          </a:p>
        </p:txBody>
      </p:sp>
      <p:sp>
        <p:nvSpPr>
          <p:cNvPr id="2" name="矩形 1"/>
          <p:cNvSpPr/>
          <p:nvPr/>
        </p:nvSpPr>
        <p:spPr>
          <a:xfrm>
            <a:off x="699770" y="692785"/>
            <a:ext cx="7936230" cy="3601085"/>
          </a:xfrm>
          <a:prstGeom prst="rect">
            <a:avLst/>
          </a:prstGeom>
        </p:spPr>
        <p:txBody>
          <a:bodyPr wrap="square">
            <a:noAutofit/>
          </a:bodyPr>
          <a:lstStyle/>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[1]孙立宁,胡海燕,李满天.连续型机器人研究综述[J].机器人,2010,32(05):688-694.</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[2]孟飞. 气动连续型机械臂控制系统设计与实现[D].哈尔滨工业大学,2020:9</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[3]王浩淼. 线驱动柔性充电机器人系统的设计与控制研究[D].哈尔滨工业大学,2018</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[4]闫继宏,郭鑫,刘玉斌,等.一种模块化机械臂的设计与运动学分析[J].哈尔滨工业大学学报,2015,47(01):20-25.</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[5]潘毅,安仁兵,游文龙.古建筑木结构榫卯节点力学性能研究进展[J/OL].建筑结构学报:1-18</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[6]唐景昊. 一种面向实践教学的六轴工业机械臂的结构设计及有限元分析[D].常州大学,2023.</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[7]李帅,慕丽,付靖凯.基于MG400的机械臂力学及运动性能分析与仿真研究[J].自动化应用,2023,64(21):19-22.</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[8]林俊杰. 多自由度类人机器人设计及双冗余度机械臂运动规划[D].华南理工大学,2023</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[9]马文科,高强,刘静等.基于模块化技术的仿生蛇形搜救机器人[J].工程机械,2023,54(09):7-12+223.</a:t>
            </a:r>
            <a:endPar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300"/>
                                        <p:tgtEl>
                                          <p:spTgt spid="52"/>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53"/>
                                        </p:tgtEl>
                                        <p:attrNameLst>
                                          <p:attrName>style.visibility</p:attrName>
                                        </p:attrNameLst>
                                      </p:cBhvr>
                                      <p:to>
                                        <p:strVal val="visible"/>
                                      </p:to>
                                    </p:set>
                                    <p:anim calcmode="lin" valueType="num">
                                      <p:cBhvr>
                                        <p:cTn id="11"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53"/>
                                        </p:tgtEl>
                                        <p:attrNameLst>
                                          <p:attrName>ppt_y</p:attrName>
                                        </p:attrNameLst>
                                      </p:cBhvr>
                                      <p:tavLst>
                                        <p:tav tm="0">
                                          <p:val>
                                            <p:strVal val="#ppt_y"/>
                                          </p:val>
                                        </p:tav>
                                        <p:tav tm="100000">
                                          <p:val>
                                            <p:strVal val="#ppt_y"/>
                                          </p:val>
                                        </p:tav>
                                      </p:tavLst>
                                    </p:anim>
                                    <p:anim calcmode="lin" valueType="num">
                                      <p:cBhvr>
                                        <p:cTn id="13"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06</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
        <p:nvSpPr>
          <p:cNvPr id="2" name="文本框 11"/>
          <p:cNvSpPr txBox="1"/>
          <p:nvPr>
            <p:custDataLst>
              <p:tags r:id="rId2"/>
            </p:custDataLst>
          </p:nvPr>
        </p:nvSpPr>
        <p:spPr>
          <a:xfrm>
            <a:off x="2297430" y="1742440"/>
            <a:ext cx="4548505" cy="1176020"/>
          </a:xfrm>
          <a:prstGeom prst="rect">
            <a:avLst/>
          </a:prstGeom>
          <a:noFill/>
        </p:spPr>
        <p:txBody>
          <a:bodyPr wrap="square" lIns="68580" tIns="34290" rIns="68580" bIns="34290" rtlCol="0">
            <a:spAutoFit/>
          </a:bodyPr>
          <a:lstStyle/>
          <a:p>
            <a:pPr algn="ctr"/>
            <a:r>
              <a:rPr lang="zh-CN" altLang="en-US" sz="7200" b="1" dirty="0">
                <a:solidFill>
                  <a:schemeClr val="tx1">
                    <a:lumMod val="65000"/>
                    <a:lumOff val="35000"/>
                  </a:schemeClr>
                </a:solidFill>
                <a:cs typeface="+mn-ea"/>
                <a:sym typeface="+mn-lt"/>
              </a:rPr>
              <a:t>谢谢大家</a:t>
            </a:r>
            <a:endParaRPr lang="zh-CN" altLang="en-US" sz="7200" b="1" dirty="0">
              <a:solidFill>
                <a:schemeClr val="tx1">
                  <a:lumMod val="65000"/>
                  <a:lumOff val="3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p:cTn id="7" dur="500" fill="hold"/>
                                        <p:tgtEl>
                                          <p:spTgt spid="105"/>
                                        </p:tgtEl>
                                        <p:attrNameLst>
                                          <p:attrName>ppt_w</p:attrName>
                                        </p:attrNameLst>
                                      </p:cBhvr>
                                      <p:tavLst>
                                        <p:tav tm="0">
                                          <p:val>
                                            <p:fltVal val="0"/>
                                          </p:val>
                                        </p:tav>
                                        <p:tav tm="100000">
                                          <p:val>
                                            <p:strVal val="#ppt_w"/>
                                          </p:val>
                                        </p:tav>
                                      </p:tavLst>
                                    </p:anim>
                                    <p:anim calcmode="lin" valueType="num">
                                      <p:cBhvr>
                                        <p:cTn id="8" dur="500" fill="hold"/>
                                        <p:tgtEl>
                                          <p:spTgt spid="105"/>
                                        </p:tgtEl>
                                        <p:attrNameLst>
                                          <p:attrName>ppt_h</p:attrName>
                                        </p:attrNameLst>
                                      </p:cBhvr>
                                      <p:tavLst>
                                        <p:tav tm="0">
                                          <p:val>
                                            <p:fltVal val="0"/>
                                          </p:val>
                                        </p:tav>
                                        <p:tav tm="100000">
                                          <p:val>
                                            <p:strVal val="#ppt_h"/>
                                          </p:val>
                                        </p:tav>
                                      </p:tavLst>
                                    </p:anim>
                                    <p:animEffect transition="in" filter="fade">
                                      <p:cBhvr>
                                        <p:cTn id="9" dur="500"/>
                                        <p:tgtEl>
                                          <p:spTgt spid="105"/>
                                        </p:tgtEl>
                                      </p:cBhvr>
                                    </p:animEffect>
                                  </p:childTnLst>
                                </p:cTn>
                              </p:par>
                            </p:childTnLst>
                          </p:cTn>
                        </p:par>
                        <p:par>
                          <p:cTn id="10" fill="hold">
                            <p:stCondLst>
                              <p:cond delay="5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anim calcmode="lin" valueType="num">
                                      <p:cBhvr>
                                        <p:cTn id="15"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2" grpId="0"/>
    </p:bldLst>
  </p:timing>
</p:sld>
</file>

<file path=ppt/tags/tag1.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2.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3.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4.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5.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6.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7.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8.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9.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10.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11.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12.xml><?xml version="1.0" encoding="utf-8"?>
<p:tagLst xmlns:p="http://schemas.openxmlformats.org/presentationml/2006/main">
  <p:tag name="KSO_WM_DIAGRAM_VIRTUALLY_FRAME" val="{&quot;height&quot;:306.3106299212599,&quot;left&quot;:400.29102362204725,&quot;top&quot;:52.12708661417323,&quot;width&quot;:240.20897637795275}"/>
</p:tagLst>
</file>

<file path=ppt/tags/tag13.xml><?xml version="1.0" encoding="utf-8"?>
<p:tagLst xmlns:p="http://schemas.openxmlformats.org/presentationml/2006/main">
  <p:tag name="KSO_WM_DIAGRAM_VIRTUALLY_FRAME" val="{&quot;height&quot;:306.83251968503936,&quot;left&quot;:44.361653543307085,&quot;top&quot;:61.4640157480315,&quot;width&quot;:626.638346456693}"/>
</p:tagLst>
</file>

<file path=ppt/tags/tag14.xml><?xml version="1.0" encoding="utf-8"?>
<p:tagLst xmlns:p="http://schemas.openxmlformats.org/presentationml/2006/main">
  <p:tag name="KSO_WM_DIAGRAM_VIRTUALLY_FRAME" val="{&quot;height&quot;:306.83251968503936,&quot;left&quot;:44.361653543307085,&quot;top&quot;:61.4640157480315,&quot;width&quot;:626.638346456693}"/>
</p:tagLst>
</file>

<file path=ppt/tags/tag15.xml><?xml version="1.0" encoding="utf-8"?>
<p:tagLst xmlns:p="http://schemas.openxmlformats.org/presentationml/2006/main">
  <p:tag name="KSO_WM_DIAGRAM_VIRTUALLY_FRAME" val="{&quot;height&quot;:306.83251968503936,&quot;left&quot;:44.361653543307085,&quot;top&quot;:61.4640157480315,&quot;width&quot;:626.638346456693}"/>
</p:tagLst>
</file>

<file path=ppt/tags/tag16.xml><?xml version="1.0" encoding="utf-8"?>
<p:tagLst xmlns:p="http://schemas.openxmlformats.org/presentationml/2006/main">
  <p:tag name="KSO_WM_DIAGRAM_VIRTUALLY_FRAME" val="{&quot;height&quot;:306.83251968503936,&quot;left&quot;:44.361653543307085,&quot;top&quot;:61.4640157480315,&quot;width&quot;:626.638346456693}"/>
</p:tagLst>
</file>

<file path=ppt/tags/tag17.xml><?xml version="1.0" encoding="utf-8"?>
<p:tagLst xmlns:p="http://schemas.openxmlformats.org/presentationml/2006/main">
  <p:tag name="KSO_WM_DIAGRAM_VIRTUALLY_FRAME" val="{&quot;height&quot;:306.83251968503936,&quot;left&quot;:44.361653543307085,&quot;top&quot;:61.4640157480315,&quot;width&quot;:626.638346456693}"/>
</p:tagLst>
</file>

<file path=ppt/tags/tag18.xml><?xml version="1.0" encoding="utf-8"?>
<p:tagLst xmlns:p="http://schemas.openxmlformats.org/presentationml/2006/main">
  <p:tag name="KSO_WM_DIAGRAM_VIRTUALLY_FRAME" val="{&quot;height&quot;:306.83251968503936,&quot;left&quot;:44.361653543307085,&quot;top&quot;:61.4640157480315,&quot;width&quot;:626.638346456693}"/>
</p:tagLst>
</file>

<file path=ppt/tags/tag19.xml><?xml version="1.0" encoding="utf-8"?>
<p:tagLst xmlns:p="http://schemas.openxmlformats.org/presentationml/2006/main">
  <p:tag name="KSO_WM_DIAGRAM_VIRTUALLY_FRAME" val="{&quot;height&quot;:306.83251968503936,&quot;left&quot;:44.361653543307085,&quot;top&quot;:61.4640157480315,&quot;width&quot;:626.638346456693}"/>
</p:tagLst>
</file>

<file path=ppt/tags/tag20.xml><?xml version="1.0" encoding="utf-8"?>
<p:tagLst xmlns:p="http://schemas.openxmlformats.org/presentationml/2006/main">
  <p:tag name="KSO_WM_DIAGRAM_VIRTUALLY_FRAME" val="{&quot;height&quot;:279.6659842519685,&quot;left&quot;:65.3,&quot;top&quot;:66.68165354330708,&quot;width&quot;:600.6999212598424}"/>
</p:tagLst>
</file>

<file path=ppt/tags/tag21.xml><?xml version="1.0" encoding="utf-8"?>
<p:tagLst xmlns:p="http://schemas.openxmlformats.org/presentationml/2006/main">
  <p:tag name="KSO_WM_DIAGRAM_VIRTUALLY_FRAME" val="{&quot;height&quot;:279.6659842519685,&quot;left&quot;:65.3,&quot;top&quot;:66.68165354330708,&quot;width&quot;:600.6999212598424}"/>
</p:tagLst>
</file>

<file path=ppt/tags/tag22.xml><?xml version="1.0" encoding="utf-8"?>
<p:tagLst xmlns:p="http://schemas.openxmlformats.org/presentationml/2006/main">
  <p:tag name="KSO_WM_DIAGRAM_VIRTUALLY_FRAME" val="{&quot;height&quot;:279.6659842519685,&quot;left&quot;:65.3,&quot;top&quot;:66.68165354330708,&quot;width&quot;:600.6999212598424}"/>
</p:tagLst>
</file>

<file path=ppt/tags/tag23.xml><?xml version="1.0" encoding="utf-8"?>
<p:tagLst xmlns:p="http://schemas.openxmlformats.org/presentationml/2006/main">
  <p:tag name="KSO_WM_DIAGRAM_VIRTUALLY_FRAME" val="{&quot;height&quot;:279.6659842519685,&quot;left&quot;:65.3,&quot;top&quot;:66.68165354330708,&quot;width&quot;:600.6999212598424}"/>
</p:tagLst>
</file>

<file path=ppt/tags/tag24.xml><?xml version="1.0" encoding="utf-8"?>
<p:tagLst xmlns:p="http://schemas.openxmlformats.org/presentationml/2006/main">
  <p:tag name="KSO_WM_DIAGRAM_VIRTUALLY_FRAME" val="{&quot;height&quot;:279.6659842519685,&quot;left&quot;:65.3,&quot;top&quot;:66.68165354330708,&quot;width&quot;:600.6999212598424}"/>
</p:tagLst>
</file>

<file path=ppt/tags/tag25.xml><?xml version="1.0" encoding="utf-8"?>
<p:tagLst xmlns:p="http://schemas.openxmlformats.org/presentationml/2006/main">
  <p:tag name="KSO_WM_DIAGRAM_VIRTUALLY_FRAME" val="{&quot;height&quot;:279.6659842519685,&quot;left&quot;:65.3,&quot;top&quot;:66.68165354330708,&quot;width&quot;:600.6999212598424}"/>
</p:tagLst>
</file>

<file path=ppt/tags/tag26.xml><?xml version="1.0" encoding="utf-8"?>
<p:tagLst xmlns:p="http://schemas.openxmlformats.org/presentationml/2006/main">
  <p:tag name="KSO_WM_DIAGRAM_VIRTUALLY_FRAME" val="{&quot;height&quot;:279.6659842519685,&quot;left&quot;:65.3,&quot;top&quot;:66.68165354330708,&quot;width&quot;:600.6999212598424}"/>
</p:tagLst>
</file>

<file path=ppt/tags/tag27.xml><?xml version="1.0" encoding="utf-8"?>
<p:tagLst xmlns:p="http://schemas.openxmlformats.org/presentationml/2006/main">
  <p:tag name="KSO_WM_DIAGRAM_VIRTUALLY_FRAME" val="{&quot;height&quot;:279.6659842519685,&quot;left&quot;:65.3,&quot;top&quot;:66.68165354330708,&quot;width&quot;:600.6999212598424}"/>
</p:tagLst>
</file>

<file path=ppt/tags/tag28.xml><?xml version="1.0" encoding="utf-8"?>
<p:tagLst xmlns:p="http://schemas.openxmlformats.org/presentationml/2006/main">
  <p:tag name="KSO_WM_DIAGRAM_VIRTUALLY_FRAME" val="{&quot;height&quot;:279.6659842519685,&quot;left&quot;:65.3,&quot;top&quot;:66.68165354330708,&quot;width&quot;:600.6999212598424}"/>
</p:tagLst>
</file>

<file path=ppt/tags/tag29.xml><?xml version="1.0" encoding="utf-8"?>
<p:tagLst xmlns:p="http://schemas.openxmlformats.org/presentationml/2006/main">
  <p:tag name="KSO_WM_DIAGRAM_VIRTUALLY_FRAME" val="{&quot;height&quot;:279.6659842519685,&quot;left&quot;:65.3,&quot;top&quot;:66.68165354330708,&quot;width&quot;:600.6999212598424}"/>
</p:tagLst>
</file>

<file path=ppt/tags/tag30.xml><?xml version="1.0" encoding="utf-8"?>
<p:tagLst xmlns:p="http://schemas.openxmlformats.org/presentationml/2006/main">
  <p:tag name="KSO_WM_DIAGRAM_VIRTUALLY_FRAME" val="{&quot;height&quot;:279.6659842519685,&quot;left&quot;:65.3,&quot;top&quot;:66.68165354330708,&quot;width&quot;:600.6999212598424}"/>
</p:tagLst>
</file>

<file path=ppt/tags/tag31.xml><?xml version="1.0" encoding="utf-8"?>
<p:tagLst xmlns:p="http://schemas.openxmlformats.org/presentationml/2006/main">
  <p:tag name="KSO_WM_DIAGRAM_VIRTUALLY_FRAME" val="{&quot;height&quot;:279.6659842519685,&quot;left&quot;:65.3,&quot;top&quot;:66.68165354330708,&quot;width&quot;:600.6999212598424}"/>
</p:tagLst>
</file>

<file path=ppt/tags/tag32.xml><?xml version="1.0" encoding="utf-8"?>
<p:tagLst xmlns:p="http://schemas.openxmlformats.org/presentationml/2006/main">
  <p:tag name="KSO_WM_DIAGRAM_VIRTUALLY_FRAME" val="{&quot;height&quot;:279.6659842519685,&quot;left&quot;:65.3,&quot;top&quot;:66.68165354330708,&quot;width&quot;:600.6999212598424}"/>
</p:tagLst>
</file>

<file path=ppt/tags/tag33.xml><?xml version="1.0" encoding="utf-8"?>
<p:tagLst xmlns:p="http://schemas.openxmlformats.org/presentationml/2006/main">
  <p:tag name="KSO_WM_DIAGRAM_VIRTUALLY_FRAME" val="{&quot;height&quot;:279.6659842519685,&quot;left&quot;:65.3,&quot;top&quot;:66.68165354330708,&quot;width&quot;:600.6999212598424}"/>
</p:tagLst>
</file>

<file path=ppt/tags/tag34.xml><?xml version="1.0" encoding="utf-8"?>
<p:tagLst xmlns:p="http://schemas.openxmlformats.org/presentationml/2006/main">
  <p:tag name="KSO_WM_DIAGRAM_VIRTUALLY_FRAME" val="{&quot;height&quot;:279.6659842519685,&quot;left&quot;:65.3,&quot;top&quot;:66.68165354330708,&quot;width&quot;:600.6999212598424}"/>
</p:tagLst>
</file>

<file path=ppt/tags/tag35.xml><?xml version="1.0" encoding="utf-8"?>
<p:tagLst xmlns:p="http://schemas.openxmlformats.org/presentationml/2006/main">
  <p:tag name="KSO_WM_DIAGRAM_VIRTUALLY_FRAME" val="{&quot;height&quot;:279.6659842519685,&quot;left&quot;:65.3,&quot;top&quot;:66.68165354330708,&quot;width&quot;:600.6999212598424}"/>
</p:tagLst>
</file>

<file path=ppt/tags/tag36.xml><?xml version="1.0" encoding="utf-8"?>
<p:tagLst xmlns:p="http://schemas.openxmlformats.org/presentationml/2006/main">
  <p:tag name="KSO_WM_DIAGRAM_VIRTUALLY_FRAME" val="{&quot;height&quot;:279.6659842519685,&quot;left&quot;:65.3,&quot;top&quot;:66.68165354330708,&quot;width&quot;:600.6999212598424}"/>
</p:tagLst>
</file>

<file path=ppt/tags/tag37.xml><?xml version="1.0" encoding="utf-8"?>
<p:tagLst xmlns:p="http://schemas.openxmlformats.org/presentationml/2006/main">
  <p:tag name="KSO_WM_DIAGRAM_VIRTUALLY_FRAME" val="{&quot;height&quot;:279.6659842519685,&quot;left&quot;:65.3,&quot;top&quot;:66.68165354330708,&quot;width&quot;:600.6999212598424}"/>
</p:tagLst>
</file>

<file path=ppt/tags/tag38.xml><?xml version="1.0" encoding="utf-8"?>
<p:tagLst xmlns:p="http://schemas.openxmlformats.org/presentationml/2006/main">
  <p:tag name="KSO_WM_DIAGRAM_VIRTUALLY_FRAME" val="{&quot;height&quot;:279.6659842519685,&quot;left&quot;:65.3,&quot;top&quot;:66.68165354330708,&quot;width&quot;:600.6999212598424}"/>
</p:tagLst>
</file>

<file path=ppt/tags/tag39.xml><?xml version="1.0" encoding="utf-8"?>
<p:tagLst xmlns:p="http://schemas.openxmlformats.org/presentationml/2006/main">
  <p:tag name="KSO_WM_DIAGRAM_VIRTUALLY_FRAME" val="{&quot;height&quot;:279.6659842519685,&quot;left&quot;:65.3,&quot;top&quot;:66.68165354330708,&quot;width&quot;:600.6999212598424}"/>
</p:tagLst>
</file>

<file path=ppt/tags/tag40.xml><?xml version="1.0" encoding="utf-8"?>
<p:tagLst xmlns:p="http://schemas.openxmlformats.org/presentationml/2006/main">
  <p:tag name="KSO_WM_DIAGRAM_VIRTUALLY_FRAME" val="{&quot;height&quot;:279.6659842519685,&quot;left&quot;:65.3,&quot;top&quot;:66.68165354330708,&quot;width&quot;:600.6999212598424}"/>
</p:tagLst>
</file>

<file path=ppt/tags/tag41.xml><?xml version="1.0" encoding="utf-8"?>
<p:tagLst xmlns:p="http://schemas.openxmlformats.org/presentationml/2006/main">
  <p:tag name="KSO_WM_DIAGRAM_VIRTUALLY_FRAME" val="{&quot;height&quot;:279.6659842519685,&quot;left&quot;:65.3,&quot;top&quot;:66.68165354330708,&quot;width&quot;:600.6999212598424}"/>
</p:tagLst>
</file>

<file path=ppt/tags/tag42.xml><?xml version="1.0" encoding="utf-8"?>
<p:tagLst xmlns:p="http://schemas.openxmlformats.org/presentationml/2006/main">
  <p:tag name="KSO_WM_DIAGRAM_VIRTUALLY_FRAME" val="{&quot;height&quot;:279.6659842519685,&quot;left&quot;:65.3,&quot;top&quot;:66.68165354330708,&quot;width&quot;:600.6999212598424}"/>
</p:tagLst>
</file>

<file path=ppt/tags/tag43.xml><?xml version="1.0" encoding="utf-8"?>
<p:tagLst xmlns:p="http://schemas.openxmlformats.org/presentationml/2006/main">
  <p:tag name="KSO_WM_DIAGRAM_VIRTUALLY_FRAME" val="{&quot;height&quot;:279.6659842519685,&quot;left&quot;:65.3,&quot;top&quot;:66.68165354330708,&quot;width&quot;:600.6999212598424}"/>
</p:tagLst>
</file>

<file path=ppt/tags/tag44.xml><?xml version="1.0" encoding="utf-8"?>
<p:tagLst xmlns:p="http://schemas.openxmlformats.org/presentationml/2006/main">
  <p:tag name="KSO_WM_DIAGRAM_VIRTUALLY_FRAME" val="{&quot;height&quot;:279.6659842519685,&quot;left&quot;:65.3,&quot;top&quot;:66.68165354330708,&quot;width&quot;:600.6999212598424}"/>
</p:tagLst>
</file>

<file path=ppt/tags/tag45.xml><?xml version="1.0" encoding="utf-8"?>
<p:tagLst xmlns:p="http://schemas.openxmlformats.org/presentationml/2006/main">
  <p:tag name="KSO_WM_DIAGRAM_VIRTUALLY_FRAME" val="{&quot;height&quot;:279.6659842519685,&quot;left&quot;:65.3,&quot;top&quot;:66.68165354330708,&quot;width&quot;:600.6999212598424}"/>
</p:tagLst>
</file>

<file path=ppt/tags/tag46.xml><?xml version="1.0" encoding="utf-8"?>
<p:tagLst xmlns:p="http://schemas.openxmlformats.org/presentationml/2006/main">
  <p:tag name="KSO_WM_DIAGRAM_VIRTUALLY_FRAME" val="{&quot;height&quot;:279.6659842519685,&quot;left&quot;:65.3,&quot;top&quot;:66.68165354330708,&quot;width&quot;:600.6999212598424}"/>
</p:tagLst>
</file>

<file path=ppt/tags/tag47.xml><?xml version="1.0" encoding="utf-8"?>
<p:tagLst xmlns:p="http://schemas.openxmlformats.org/presentationml/2006/main">
  <p:tag name="KSO_WM_DIAGRAM_VIRTUALLY_FRAME" val="{&quot;height&quot;:279.6659842519685,&quot;left&quot;:65.3,&quot;top&quot;:66.68165354330708,&quot;width&quot;:600.6999212598424}"/>
</p:tagLst>
</file>

<file path=ppt/tags/tag48.xml><?xml version="1.0" encoding="utf-8"?>
<p:tagLst xmlns:p="http://schemas.openxmlformats.org/presentationml/2006/main">
  <p:tag name="KSO_WM_DIAGRAM_VIRTUALLY_FRAME" val="{&quot;height&quot;:279.6659842519685,&quot;left&quot;:65.3,&quot;top&quot;:66.68165354330708,&quot;width&quot;:600.6999212598424}"/>
</p:tagLst>
</file>

<file path=ppt/tags/tag49.xml><?xml version="1.0" encoding="utf-8"?>
<p:tagLst xmlns:p="http://schemas.openxmlformats.org/presentationml/2006/main">
  <p:tag name="KSO_WM_DIAGRAM_VIRTUALLY_FRAME" val="{&quot;height&quot;:279.6659842519685,&quot;left&quot;:65.3,&quot;top&quot;:66.68165354330708,&quot;width&quot;:600.6999212598424}"/>
</p:tagLst>
</file>

<file path=ppt/tags/tag50.xml><?xml version="1.0" encoding="utf-8"?>
<p:tagLst xmlns:p="http://schemas.openxmlformats.org/presentationml/2006/main">
  <p:tag name="KSO_WM_DIAGRAM_VIRTUALLY_FRAME" val="{&quot;height&quot;:279.6659842519685,&quot;left&quot;:65.3,&quot;top&quot;:66.68165354330708,&quot;width&quot;:600.6999212598424}"/>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COMMONDATA" val="eyJoZGlkIjoiY2NjZmUyMGFjNDY5NGY4NWVhODlkMzUxNDIwNDgxZmIifQ=="/>
  <p:tag name="commondata" val="eyJoZGlkIjoiZTdhNWZjOWY4ODNmMTEzMDEwMzZjYTRmZjlhOTBlNT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3183</Words>
  <Application>WPS 演示</Application>
  <PresentationFormat>全屏显示(16:9)</PresentationFormat>
  <Paragraphs>186</Paragraphs>
  <Slides>38</Slides>
  <Notes>51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Arial</vt:lpstr>
      <vt:lpstr>宋体</vt:lpstr>
      <vt:lpstr>Wingdings</vt:lpstr>
      <vt:lpstr>微软雅黑</vt:lpstr>
      <vt:lpstr>Times New Roman</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Hysteria</cp:lastModifiedBy>
  <cp:revision>185</cp:revision>
  <dcterms:created xsi:type="dcterms:W3CDTF">2016-05-20T12:59:00Z</dcterms:created>
  <dcterms:modified xsi:type="dcterms:W3CDTF">2024-08-15T19:42:07Z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3767E08F69374698BFC69799C35B630F_11</vt:lpwstr>
  </property>
</Properties>
</file>