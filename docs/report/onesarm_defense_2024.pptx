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3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40.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41.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42.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44.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45.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73.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3"/>
  </p:notesMasterIdLst>
  <p:handoutMasterIdLst>
    <p:handoutMasterId r:id="rId54"/>
  </p:handoutMasterIdLst>
  <p:sldIdLst>
    <p:sldId id="256" r:id="rId2"/>
    <p:sldId id="259" r:id="rId3"/>
    <p:sldId id="284" r:id="rId4"/>
    <p:sldId id="263" r:id="rId5"/>
    <p:sldId id="306" r:id="rId6"/>
    <p:sldId id="268" r:id="rId7"/>
    <p:sldId id="307" r:id="rId8"/>
    <p:sldId id="308" r:id="rId9"/>
    <p:sldId id="285" r:id="rId10"/>
    <p:sldId id="261" r:id="rId11"/>
    <p:sldId id="309" r:id="rId12"/>
    <p:sldId id="310" r:id="rId13"/>
    <p:sldId id="311" r:id="rId14"/>
    <p:sldId id="312" r:id="rId15"/>
    <p:sldId id="313" r:id="rId16"/>
    <p:sldId id="314" r:id="rId17"/>
    <p:sldId id="315" r:id="rId18"/>
    <p:sldId id="316" r:id="rId19"/>
    <p:sldId id="317" r:id="rId20"/>
    <p:sldId id="318" r:id="rId21"/>
    <p:sldId id="319" r:id="rId22"/>
    <p:sldId id="321" r:id="rId23"/>
    <p:sldId id="322" r:id="rId24"/>
    <p:sldId id="323" r:id="rId25"/>
    <p:sldId id="324" r:id="rId26"/>
    <p:sldId id="325" r:id="rId27"/>
    <p:sldId id="326" r:id="rId28"/>
    <p:sldId id="329" r:id="rId29"/>
    <p:sldId id="330" r:id="rId30"/>
    <p:sldId id="286" r:id="rId31"/>
    <p:sldId id="331" r:id="rId32"/>
    <p:sldId id="332" r:id="rId33"/>
    <p:sldId id="337" r:id="rId34"/>
    <p:sldId id="338" r:id="rId35"/>
    <p:sldId id="339" r:id="rId36"/>
    <p:sldId id="341" r:id="rId37"/>
    <p:sldId id="342" r:id="rId38"/>
    <p:sldId id="343" r:id="rId39"/>
    <p:sldId id="344" r:id="rId40"/>
    <p:sldId id="345" r:id="rId41"/>
    <p:sldId id="346" r:id="rId42"/>
    <p:sldId id="349" r:id="rId43"/>
    <p:sldId id="348" r:id="rId44"/>
    <p:sldId id="350" r:id="rId45"/>
    <p:sldId id="351" r:id="rId46"/>
    <p:sldId id="352" r:id="rId47"/>
    <p:sldId id="287" r:id="rId48"/>
    <p:sldId id="274" r:id="rId49"/>
    <p:sldId id="353" r:id="rId50"/>
    <p:sldId id="354" r:id="rId51"/>
    <p:sldId id="305" r:id="rId52"/>
  </p:sldIdLst>
  <p:sldSz cx="9144000" cy="5143500" type="screen16x9"/>
  <p:notesSz cx="6858000" cy="9144000"/>
  <p:embeddedFontLst>
    <p:embeddedFont>
      <p:font typeface="微软雅黑" panose="020B0503020204020204" pitchFamily="34" charset="-122"/>
      <p:regular r:id="rId55"/>
      <p:bold r:id="rId56"/>
    </p:embeddedFont>
  </p:embeddedFontLst>
  <p:custDataLst>
    <p:tags r:id="rId57"/>
  </p:custDataLst>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8" userDrawn="1">
          <p15:clr>
            <a:srgbClr val="A4A3A4"/>
          </p15:clr>
        </p15:guide>
        <p15:guide id="2" pos="2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4367"/>
    <a:srgbClr val="E6E6E6"/>
    <a:srgbClr val="1D4865"/>
    <a:srgbClr val="1D4971"/>
    <a:srgbClr val="51B3CD"/>
    <a:srgbClr val="83C2DB"/>
    <a:srgbClr val="2980B4"/>
    <a:srgbClr val="4287C6"/>
    <a:srgbClr val="278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88" autoAdjust="0"/>
    <p:restoredTop sz="94676" autoAdjust="0"/>
  </p:normalViewPr>
  <p:slideViewPr>
    <p:cSldViewPr snapToGrid="0" showGuides="1">
      <p:cViewPr varScale="1">
        <p:scale>
          <a:sx n="138" d="100"/>
          <a:sy n="138" d="100"/>
        </p:scale>
        <p:origin x="576" y="84"/>
      </p:cViewPr>
      <p:guideLst>
        <p:guide orient="horz" pos="1588"/>
        <p:guide pos="2896"/>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2024/3/10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2024/3/10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cstate="screen">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4" name="内容占位符 3"/>
          <p:cNvSpPr>
            <a:spLocks noGrp="1"/>
          </p:cNvSpPr>
          <p:nvPr>
            <p:ph sz="half" idx="2"/>
          </p:nvPr>
        </p:nvSpPr>
        <p:spPr>
          <a:xfrm>
            <a:off x="890080" y="1999034"/>
            <a:ext cx="3655181"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342900"/>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3"/>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3"/>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3"/>
            <a:ext cx="7886700" cy="435887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2024/3/10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t>2024/3/10</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1.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image" Target="../media/image2.jpeg"/><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6.xml"/><Relationship Id="rId7" Type="http://schemas.openxmlformats.org/officeDocument/2006/relationships/tags" Target="../tags/tag20.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10" Type="http://schemas.openxmlformats.org/officeDocument/2006/relationships/image" Target="../media/image6.png"/><Relationship Id="rId4" Type="http://schemas.openxmlformats.org/officeDocument/2006/relationships/tags" Target="../tags/tag17.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40.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37.xml"/><Relationship Id="rId5" Type="http://schemas.openxmlformats.org/officeDocument/2006/relationships/slideLayout" Target="../slideLayouts/slideLayout2.xml"/><Relationship Id="rId4" Type="http://schemas.openxmlformats.org/officeDocument/2006/relationships/tags" Target="../tags/tag41.xml"/></Relationships>
</file>

<file path=ppt/slides/_rels/slide38.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41.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tags" Target="../tags/tag45.xml"/></Relationships>
</file>

<file path=ppt/slides/_rels/slide3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tags" Target="../tags/tag48.xml"/><Relationship Id="rId7" Type="http://schemas.openxmlformats.org/officeDocument/2006/relationships/image" Target="../media/image48.png"/><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tags" Target="../tags/tag49.xml"/></Relationships>
</file>

<file path=ppt/slides/_rels/slide41.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image" Target="../media/image49.png"/><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notesSlide" Target="../notesSlides/notesSlide41.xml"/><Relationship Id="rId5" Type="http://schemas.openxmlformats.org/officeDocument/2006/relationships/slideLayout" Target="../slideLayouts/slideLayout2.xml"/><Relationship Id="rId4" Type="http://schemas.openxmlformats.org/officeDocument/2006/relationships/tags" Target="../tags/tag53.xml"/></Relationships>
</file>

<file path=ppt/slides/_rels/slide42.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image" Target="../media/image50.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notesSlide" Target="../notesSlides/notesSlide42.xml"/><Relationship Id="rId5" Type="http://schemas.openxmlformats.org/officeDocument/2006/relationships/slideLayout" Target="../slideLayouts/slideLayout2.xml"/><Relationship Id="rId4" Type="http://schemas.openxmlformats.org/officeDocument/2006/relationships/tags" Target="../tags/tag57.xml"/></Relationships>
</file>

<file path=ppt/slides/_rels/slide43.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image" Target="../media/image51.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notesSlide" Target="../notesSlides/notesSlide43.xml"/><Relationship Id="rId5" Type="http://schemas.openxmlformats.org/officeDocument/2006/relationships/slideLayout" Target="../slideLayouts/slideLayout2.xml"/><Relationship Id="rId4" Type="http://schemas.openxmlformats.org/officeDocument/2006/relationships/tags" Target="../tags/tag61.xml"/></Relationships>
</file>

<file path=ppt/slides/_rels/slide44.xml.rels><?xml version="1.0" encoding="UTF-8" standalone="yes"?>
<Relationships xmlns="http://schemas.openxmlformats.org/package/2006/relationships"><Relationship Id="rId3" Type="http://schemas.openxmlformats.org/officeDocument/2006/relationships/tags" Target="../tags/tag64.xml"/><Relationship Id="rId7" Type="http://schemas.openxmlformats.org/officeDocument/2006/relationships/image" Target="../media/image52.jpeg"/><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notesSlide" Target="../notesSlides/notesSlide44.xml"/><Relationship Id="rId5" Type="http://schemas.openxmlformats.org/officeDocument/2006/relationships/slideLayout" Target="../slideLayouts/slideLayout2.xml"/><Relationship Id="rId4" Type="http://schemas.openxmlformats.org/officeDocument/2006/relationships/tags" Target="../tags/tag65.xml"/></Relationships>
</file>

<file path=ppt/slides/_rels/slide45.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53.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notesSlide" Target="../notesSlides/notesSlide45.xml"/><Relationship Id="rId5" Type="http://schemas.openxmlformats.org/officeDocument/2006/relationships/slideLayout" Target="../slideLayouts/slideLayout2.xml"/><Relationship Id="rId4" Type="http://schemas.openxmlformats.org/officeDocument/2006/relationships/tags" Target="../tags/tag69.xml"/></Relationships>
</file>

<file path=ppt/slides/_rels/slide46.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54.png"/><Relationship Id="rId5" Type="http://schemas.openxmlformats.org/officeDocument/2006/relationships/notesSlide" Target="../notesSlides/notesSlide46.xml"/><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tags" Target="../tags/tag73.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2856090" y="1669270"/>
            <a:ext cx="6326090" cy="683895"/>
          </a:xfrm>
          <a:prstGeom prst="rect">
            <a:avLst/>
          </a:prstGeom>
          <a:noFill/>
        </p:spPr>
        <p:txBody>
          <a:bodyPr wrap="square" lIns="68580" tIns="34290" rIns="68580" bIns="34290" rtlCol="0">
            <a:spAutoFit/>
          </a:bodyPr>
          <a:lstStyle/>
          <a:p>
            <a:r>
              <a:rPr lang="zh-CN" altLang="en-US" sz="4000" b="1" dirty="0">
                <a:solidFill>
                  <a:schemeClr val="tx1">
                    <a:lumMod val="50000"/>
                    <a:lumOff val="50000"/>
                  </a:schemeClr>
                </a:solidFill>
              </a:rPr>
              <a:t>珠联</a:t>
            </a:r>
            <a:r>
              <a:rPr lang="en-US" altLang="zh-CN" sz="4000" b="1" dirty="0">
                <a:solidFill>
                  <a:schemeClr val="tx1">
                    <a:lumMod val="50000"/>
                    <a:lumOff val="50000"/>
                  </a:schemeClr>
                </a:solidFill>
              </a:rPr>
              <a:t>“</a:t>
            </a:r>
            <a:r>
              <a:rPr lang="zh-CN" altLang="en-US" sz="4000" b="1" dirty="0">
                <a:solidFill>
                  <a:schemeClr val="tx1">
                    <a:lumMod val="50000"/>
                    <a:lumOff val="50000"/>
                  </a:schemeClr>
                </a:solidFill>
              </a:rPr>
              <a:t>臂</a:t>
            </a:r>
            <a:r>
              <a:rPr lang="en-US" altLang="zh-CN" sz="4000" b="1" dirty="0">
                <a:solidFill>
                  <a:schemeClr val="tx1">
                    <a:lumMod val="50000"/>
                    <a:lumOff val="50000"/>
                  </a:schemeClr>
                </a:solidFill>
              </a:rPr>
              <a:t>”</a:t>
            </a:r>
            <a:r>
              <a:rPr lang="zh-CN" altLang="en-US" sz="4000" b="1" dirty="0">
                <a:solidFill>
                  <a:schemeClr val="tx1">
                    <a:lumMod val="50000"/>
                    <a:lumOff val="50000"/>
                  </a:schemeClr>
                </a:solidFill>
              </a:rPr>
              <a:t>合</a:t>
            </a:r>
          </a:p>
        </p:txBody>
      </p:sp>
      <p:sp>
        <p:nvSpPr>
          <p:cNvPr id="3075" name="文本框 3074"/>
          <p:cNvSpPr txBox="1"/>
          <p:nvPr/>
        </p:nvSpPr>
        <p:spPr>
          <a:xfrm>
            <a:off x="2881490" y="3180129"/>
            <a:ext cx="3461808" cy="252730"/>
          </a:xfrm>
          <a:prstGeom prst="rect">
            <a:avLst/>
          </a:prstGeom>
          <a:noFill/>
          <a:ln w="9525">
            <a:noFill/>
            <a:miter/>
          </a:ln>
          <a:effectLst/>
        </p:spPr>
        <p:txBody>
          <a:bodyPr vert="horz" wrap="square" lIns="68580" tIns="34290" rIns="68580" bIns="34290" anchor="t">
            <a:spAutoFit/>
          </a:bodyPr>
          <a:lstStyle/>
          <a:p>
            <a:pPr lvl="0" eaLnBrk="0" hangingPunct="0"/>
            <a:r>
              <a:rPr lang="zh-CN" altLang="en-US" sz="1200" dirty="0">
                <a:solidFill>
                  <a:schemeClr val="tx1">
                    <a:lumMod val="65000"/>
                    <a:lumOff val="35000"/>
                  </a:schemeClr>
                </a:solidFill>
                <a:cs typeface="+mn-ea"/>
                <a:sym typeface="+mn-lt"/>
              </a:rPr>
              <a:t>宁夏回族自治区固原市第一中学          郭沫晗</a:t>
            </a:r>
          </a:p>
        </p:txBody>
      </p:sp>
      <p:sp>
        <p:nvSpPr>
          <p:cNvPr id="121" name="TextBox 120"/>
          <p:cNvSpPr txBox="1"/>
          <p:nvPr/>
        </p:nvSpPr>
        <p:spPr>
          <a:xfrm>
            <a:off x="2928442" y="2703832"/>
            <a:ext cx="4570907" cy="305406"/>
          </a:xfrm>
          <a:prstGeom prst="roundRect">
            <a:avLst/>
          </a:prstGeom>
          <a:solidFill>
            <a:schemeClr val="tx1">
              <a:lumMod val="50000"/>
              <a:lumOff val="50000"/>
            </a:schemeClr>
          </a:solidFill>
        </p:spPr>
        <p:txBody>
          <a:bodyPr wrap="square" rtlCol="0">
            <a:spAutoFit/>
          </a:bodyPr>
          <a:lstStyle/>
          <a:p>
            <a:r>
              <a:rPr lang="zh-CN" altLang="en-US" sz="1200" dirty="0">
                <a:solidFill>
                  <a:schemeClr val="bg1"/>
                </a:solidFill>
                <a:cs typeface="+mn-ea"/>
                <a:sym typeface="+mn-lt"/>
              </a:rPr>
              <a:t>多场景模块化串联机械臂结构设计与分析</a:t>
            </a:r>
          </a:p>
        </p:txBody>
      </p:sp>
      <p:sp>
        <p:nvSpPr>
          <p:cNvPr id="2" name="矩形 1"/>
          <p:cNvSpPr/>
          <p:nvPr/>
        </p:nvSpPr>
        <p:spPr>
          <a:xfrm>
            <a:off x="2856090" y="2303071"/>
            <a:ext cx="4523476" cy="229870"/>
          </a:xfrm>
          <a:prstGeom prst="rect">
            <a:avLst/>
          </a:prstGeom>
        </p:spPr>
        <p:txBody>
          <a:bodyPr wrap="square">
            <a:spAutoFit/>
          </a:bodyPr>
          <a:lstStyle/>
          <a:p>
            <a:pPr eaLnBrk="0" hangingPunct="0"/>
            <a:r>
              <a:rPr lang="en-US" altLang="zh-CN" sz="900" dirty="0">
                <a:solidFill>
                  <a:schemeClr val="tx1">
                    <a:lumMod val="65000"/>
                    <a:lumOff val="35000"/>
                  </a:schemeClr>
                </a:solidFill>
                <a:cs typeface="+mn-ea"/>
              </a:rPr>
              <a:t>Design and Analysis of Multi-scenario Modular Tandem Manipulator Structure</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par>
                          <p:cTn id="12" fill="hold">
                            <p:stCondLst>
                              <p:cond delay="750"/>
                            </p:stCondLst>
                            <p:childTnLst>
                              <p:par>
                                <p:cTn id="13" presetID="14" presetClass="entr" presetSubtype="10" fill="hold" grpId="0" nodeType="afterEffect">
                                  <p:stCondLst>
                                    <p:cond delay="0"/>
                                  </p:stCondLst>
                                  <p:childTnLst>
                                    <p:set>
                                      <p:cBhvr>
                                        <p:cTn id="14" dur="1" fill="hold">
                                          <p:stCondLst>
                                            <p:cond delay="0"/>
                                          </p:stCondLst>
                                        </p:cTn>
                                        <p:tgtEl>
                                          <p:spTgt spid="121"/>
                                        </p:tgtEl>
                                        <p:attrNameLst>
                                          <p:attrName>style.visibility</p:attrName>
                                        </p:attrNameLst>
                                      </p:cBhvr>
                                      <p:to>
                                        <p:strVal val="visible"/>
                                      </p:to>
                                    </p:set>
                                    <p:animEffect transition="in" filter="randombar(horizontal)">
                                      <p:cBhvr>
                                        <p:cTn id="15" dur="500"/>
                                        <p:tgtEl>
                                          <p:spTgt spid="121"/>
                                        </p:tgtEl>
                                      </p:cBhvr>
                                    </p:animEffect>
                                  </p:childTnLst>
                                </p:cTn>
                              </p:par>
                            </p:childTnLst>
                          </p:cTn>
                        </p:par>
                        <p:par>
                          <p:cTn id="16" fill="hold">
                            <p:stCondLst>
                              <p:cond delay="1250"/>
                            </p:stCondLst>
                            <p:childTnLst>
                              <p:par>
                                <p:cTn id="17" presetID="12" presetClass="entr" presetSubtype="8" fill="hold" grpId="0" nodeType="afterEffect">
                                  <p:stCondLst>
                                    <p:cond delay="0"/>
                                  </p:stCondLst>
                                  <p:childTnLst>
                                    <p:set>
                                      <p:cBhvr>
                                        <p:cTn id="18" dur="1" fill="hold">
                                          <p:stCondLst>
                                            <p:cond delay="0"/>
                                          </p:stCondLst>
                                        </p:cTn>
                                        <p:tgtEl>
                                          <p:spTgt spid="3075"/>
                                        </p:tgtEl>
                                        <p:attrNameLst>
                                          <p:attrName>style.visibility</p:attrName>
                                        </p:attrNameLst>
                                      </p:cBhvr>
                                      <p:to>
                                        <p:strVal val="visible"/>
                                      </p:to>
                                    </p:set>
                                    <p:anim calcmode="lin" valueType="num">
                                      <p:cBhvr additive="base">
                                        <p:cTn id="19" dur="500"/>
                                        <p:tgtEl>
                                          <p:spTgt spid="3075"/>
                                        </p:tgtEl>
                                        <p:attrNameLst>
                                          <p:attrName>ppt_x</p:attrName>
                                        </p:attrNameLst>
                                      </p:cBhvr>
                                      <p:tavLst>
                                        <p:tav tm="0">
                                          <p:val>
                                            <p:strVal val="#ppt_x-#ppt_w*1.125000"/>
                                          </p:val>
                                        </p:tav>
                                        <p:tav tm="100000">
                                          <p:val>
                                            <p:strVal val="#ppt_x"/>
                                          </p:val>
                                        </p:tav>
                                      </p:tavLst>
                                    </p:anim>
                                    <p:animEffect transition="in" filter="wipe(right)">
                                      <p:cBhvr>
                                        <p:cTn id="20"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75" grpId="0" bldLvl="0" animBg="1"/>
      <p:bldP spid="12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5" cstate="screen">
            <a:lum/>
          </a:blip>
          <a:srcRect/>
          <a:stretch>
            <a:fillRect/>
          </a:stretch>
        </a:blipFill>
        <a:effectLst/>
      </p:bgPr>
    </p:bg>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5645032" y="681828"/>
            <a:ext cx="2489318" cy="391597"/>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研究背景与意义</a:t>
            </a:r>
          </a:p>
        </p:txBody>
      </p:sp>
      <p:sp>
        <p:nvSpPr>
          <p:cNvPr id="25" name="椭圆 24"/>
          <p:cNvSpPr/>
          <p:nvPr>
            <p:custDataLst>
              <p:tags r:id="rId2"/>
            </p:custDataLst>
          </p:nvPr>
        </p:nvSpPr>
        <p:spPr>
          <a:xfrm>
            <a:off x="5169272" y="662014"/>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6" name="文本框 17"/>
          <p:cNvSpPr txBox="1"/>
          <p:nvPr>
            <p:custDataLst>
              <p:tags r:id="rId3"/>
            </p:custDataLst>
          </p:nvPr>
        </p:nvSpPr>
        <p:spPr>
          <a:xfrm>
            <a:off x="5127511" y="695474"/>
            <a:ext cx="478533" cy="338554"/>
          </a:xfrm>
          <a:prstGeom prst="rect">
            <a:avLst/>
          </a:prstGeom>
          <a:noFill/>
        </p:spPr>
        <p:txBody>
          <a:bodyPr wrap="square" rtlCol="0">
            <a:spAutoFit/>
          </a:bodyPr>
          <a:lstStyle/>
          <a:p>
            <a:pPr algn="ctr">
              <a:defRPr/>
            </a:pPr>
            <a:r>
              <a:rPr lang="en-US" altLang="zh-CN" sz="1600" dirty="0">
                <a:solidFill>
                  <a:schemeClr val="bg1"/>
                </a:solidFill>
                <a:cs typeface="+mn-ea"/>
                <a:sym typeface="+mn-lt"/>
              </a:rPr>
              <a:t>01</a:t>
            </a:r>
          </a:p>
        </p:txBody>
      </p:sp>
      <p:sp>
        <p:nvSpPr>
          <p:cNvPr id="33" name="文本框 32"/>
          <p:cNvSpPr txBox="1"/>
          <p:nvPr/>
        </p:nvSpPr>
        <p:spPr>
          <a:xfrm>
            <a:off x="2866491" y="2012712"/>
            <a:ext cx="2147298" cy="769441"/>
          </a:xfrm>
          <a:prstGeom prst="rect">
            <a:avLst/>
          </a:prstGeom>
          <a:noFill/>
        </p:spPr>
        <p:txBody>
          <a:bodyPr vert="horz" wrap="square" rtlCol="0">
            <a:spAutoFit/>
          </a:bodyPr>
          <a:lstStyle/>
          <a:p>
            <a:r>
              <a:rPr lang="zh-CN" altLang="en-US" sz="4400" b="1" spc="-225" dirty="0">
                <a:solidFill>
                  <a:schemeClr val="tx1">
                    <a:lumMod val="65000"/>
                    <a:lumOff val="35000"/>
                  </a:schemeClr>
                </a:solidFill>
                <a:cs typeface="+mn-ea"/>
                <a:sym typeface="+mn-lt"/>
              </a:rPr>
              <a:t>目 录</a:t>
            </a:r>
          </a:p>
        </p:txBody>
      </p:sp>
      <p:sp>
        <p:nvSpPr>
          <p:cNvPr id="3" name="文本框 2"/>
          <p:cNvSpPr txBox="1"/>
          <p:nvPr/>
        </p:nvSpPr>
        <p:spPr>
          <a:xfrm>
            <a:off x="2924547" y="2701966"/>
            <a:ext cx="2113154" cy="400110"/>
          </a:xfrm>
          <a:prstGeom prst="rect">
            <a:avLst/>
          </a:prstGeom>
          <a:noFill/>
        </p:spPr>
        <p:txBody>
          <a:bodyPr vert="horz" wrap="square" rtlCol="0">
            <a:spAutoFit/>
          </a:bodyPr>
          <a:lstStyle/>
          <a:p>
            <a:r>
              <a:rPr lang="en-US" altLang="zh-CN" sz="2000" b="1" dirty="0">
                <a:solidFill>
                  <a:schemeClr val="tx1">
                    <a:lumMod val="65000"/>
                    <a:lumOff val="35000"/>
                  </a:schemeClr>
                </a:solidFill>
                <a:cs typeface="+mn-ea"/>
                <a:sym typeface="+mn-lt"/>
              </a:rPr>
              <a:t>CONTENTS</a:t>
            </a:r>
          </a:p>
        </p:txBody>
      </p:sp>
      <p:sp>
        <p:nvSpPr>
          <p:cNvPr id="79" name="文本框 10"/>
          <p:cNvSpPr txBox="1"/>
          <p:nvPr>
            <p:custDataLst>
              <p:tags r:id="rId4"/>
            </p:custDataLst>
          </p:nvPr>
        </p:nvSpPr>
        <p:spPr>
          <a:xfrm>
            <a:off x="5645032" y="1793072"/>
            <a:ext cx="2489318" cy="390555"/>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结构设计</a:t>
            </a:r>
          </a:p>
        </p:txBody>
      </p:sp>
      <p:sp>
        <p:nvSpPr>
          <p:cNvPr id="81" name="椭圆 80"/>
          <p:cNvSpPr/>
          <p:nvPr>
            <p:custDataLst>
              <p:tags r:id="rId5"/>
            </p:custDataLst>
          </p:nvPr>
        </p:nvSpPr>
        <p:spPr>
          <a:xfrm>
            <a:off x="5167367" y="1771353"/>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2" name="文本框 17"/>
          <p:cNvSpPr txBox="1"/>
          <p:nvPr>
            <p:custDataLst>
              <p:tags r:id="rId6"/>
            </p:custDataLst>
          </p:nvPr>
        </p:nvSpPr>
        <p:spPr>
          <a:xfrm>
            <a:off x="5127511" y="1810528"/>
            <a:ext cx="478533" cy="338554"/>
          </a:xfrm>
          <a:prstGeom prst="rect">
            <a:avLst/>
          </a:prstGeom>
          <a:noFill/>
        </p:spPr>
        <p:txBody>
          <a:bodyPr wrap="square" rtlCol="0">
            <a:spAutoFit/>
          </a:bodyPr>
          <a:lstStyle/>
          <a:p>
            <a:pPr algn="ctr">
              <a:defRPr/>
            </a:pPr>
            <a:r>
              <a:rPr lang="en-US" altLang="zh-CN" sz="1600" dirty="0">
                <a:solidFill>
                  <a:schemeClr val="bg1"/>
                </a:solidFill>
                <a:cs typeface="+mn-ea"/>
                <a:sym typeface="+mn-lt"/>
              </a:rPr>
              <a:t>02</a:t>
            </a:r>
          </a:p>
        </p:txBody>
      </p:sp>
      <p:sp>
        <p:nvSpPr>
          <p:cNvPr id="83" name="文本框 10"/>
          <p:cNvSpPr txBox="1"/>
          <p:nvPr>
            <p:custDataLst>
              <p:tags r:id="rId7"/>
            </p:custDataLst>
          </p:nvPr>
        </p:nvSpPr>
        <p:spPr>
          <a:xfrm>
            <a:off x="5645032" y="2903681"/>
            <a:ext cx="2489318" cy="390555"/>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分析优化</a:t>
            </a:r>
          </a:p>
        </p:txBody>
      </p:sp>
      <p:sp>
        <p:nvSpPr>
          <p:cNvPr id="85" name="椭圆 84"/>
          <p:cNvSpPr/>
          <p:nvPr>
            <p:custDataLst>
              <p:tags r:id="rId8"/>
            </p:custDataLst>
          </p:nvPr>
        </p:nvSpPr>
        <p:spPr>
          <a:xfrm>
            <a:off x="5169272" y="2903552"/>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6" name="文本框 17"/>
          <p:cNvSpPr txBox="1"/>
          <p:nvPr>
            <p:custDataLst>
              <p:tags r:id="rId9"/>
            </p:custDataLst>
          </p:nvPr>
        </p:nvSpPr>
        <p:spPr>
          <a:xfrm>
            <a:off x="5102111" y="2925582"/>
            <a:ext cx="478533" cy="338554"/>
          </a:xfrm>
          <a:prstGeom prst="rect">
            <a:avLst/>
          </a:prstGeom>
          <a:noFill/>
        </p:spPr>
        <p:txBody>
          <a:bodyPr wrap="square" rtlCol="0">
            <a:spAutoFit/>
          </a:bodyPr>
          <a:lstStyle/>
          <a:p>
            <a:pPr algn="ctr">
              <a:defRPr/>
            </a:pPr>
            <a:r>
              <a:rPr lang="en-US" altLang="zh-CN" sz="1600" dirty="0">
                <a:solidFill>
                  <a:schemeClr val="bg1"/>
                </a:solidFill>
                <a:cs typeface="+mn-ea"/>
                <a:sym typeface="+mn-lt"/>
              </a:rPr>
              <a:t>03</a:t>
            </a:r>
          </a:p>
        </p:txBody>
      </p:sp>
      <p:sp>
        <p:nvSpPr>
          <p:cNvPr id="4" name="燕尾形 3"/>
          <p:cNvSpPr/>
          <p:nvPr/>
        </p:nvSpPr>
        <p:spPr>
          <a:xfrm>
            <a:off x="4284324" y="2183489"/>
            <a:ext cx="256853" cy="448435"/>
          </a:xfrm>
          <a:prstGeom prst="chevr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5127362" y="4011100"/>
            <a:ext cx="393570" cy="393570"/>
          </a:xfrm>
          <a:prstGeom prst="ellipse">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 name="文本框 10"/>
          <p:cNvSpPr txBox="1"/>
          <p:nvPr>
            <p:custDataLst>
              <p:tags r:id="rId11"/>
            </p:custDataLst>
          </p:nvPr>
        </p:nvSpPr>
        <p:spPr>
          <a:xfrm>
            <a:off x="5645032" y="4014404"/>
            <a:ext cx="2489318" cy="390555"/>
          </a:xfrm>
          <a:prstGeom prst="roundRect">
            <a:avLst/>
          </a:prstGeom>
          <a:solidFill>
            <a:schemeClr val="tx1">
              <a:lumMod val="50000"/>
              <a:lumOff val="50000"/>
            </a:schemeClr>
          </a:solidFill>
        </p:spPr>
        <p:txBody>
          <a:bodyPr wrap="square" rtlCol="0">
            <a:spAutoFit/>
          </a:bodyPr>
          <a:lstStyle/>
          <a:p>
            <a:r>
              <a:rPr lang="zh-CN" altLang="en-US" sz="1700" dirty="0">
                <a:solidFill>
                  <a:schemeClr val="bg1"/>
                </a:solidFill>
                <a:cs typeface="+mn-ea"/>
                <a:sym typeface="+mn-lt"/>
              </a:rPr>
              <a:t>结论与展望</a:t>
            </a:r>
          </a:p>
        </p:txBody>
      </p:sp>
      <p:sp>
        <p:nvSpPr>
          <p:cNvPr id="5" name="文本框 17"/>
          <p:cNvSpPr txBox="1"/>
          <p:nvPr>
            <p:custDataLst>
              <p:tags r:id="rId12"/>
            </p:custDataLst>
          </p:nvPr>
        </p:nvSpPr>
        <p:spPr>
          <a:xfrm>
            <a:off x="5083696" y="4052180"/>
            <a:ext cx="478533" cy="337185"/>
          </a:xfrm>
          <a:prstGeom prst="rect">
            <a:avLst/>
          </a:prstGeom>
          <a:noFill/>
        </p:spPr>
        <p:txBody>
          <a:bodyPr wrap="square" rtlCol="0">
            <a:spAutoFit/>
          </a:bodyPr>
          <a:lstStyle/>
          <a:p>
            <a:pPr algn="ctr">
              <a:defRPr/>
            </a:pPr>
            <a:r>
              <a:rPr lang="en-US" altLang="zh-CN" sz="1600" dirty="0">
                <a:solidFill>
                  <a:schemeClr val="bg1"/>
                </a:solidFill>
                <a:cs typeface="+mn-ea"/>
                <a:sym typeface="+mn-lt"/>
              </a:rPr>
              <a:t>04</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right)">
                                      <p:cBhvr>
                                        <p:cTn id="8" dur="500"/>
                                        <p:tgtEl>
                                          <p:spTgt spid="33"/>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ppt_x</p:attrName>
                                        </p:attrNameLst>
                                      </p:cBhvr>
                                      <p:tavLst>
                                        <p:tav tm="0">
                                          <p:val>
                                            <p:strVal val="#ppt_x-#ppt_w*1.125000"/>
                                          </p:val>
                                        </p:tav>
                                        <p:tav tm="100000">
                                          <p:val>
                                            <p:strVal val="#ppt_x"/>
                                          </p:val>
                                        </p:tav>
                                      </p:tavLst>
                                    </p:anim>
                                    <p:animEffect transition="in" filter="wipe(right)">
                                      <p:cBhvr>
                                        <p:cTn id="13" dur="500"/>
                                        <p:tgtEl>
                                          <p:spTgt spid="3"/>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p:tgtEl>
                                          <p:spTgt spid="4"/>
                                        </p:tgtEl>
                                        <p:attrNameLst>
                                          <p:attrName>ppt_x</p:attrName>
                                        </p:attrNameLst>
                                      </p:cBhvr>
                                      <p:tavLst>
                                        <p:tav tm="0">
                                          <p:val>
                                            <p:strVal val="#ppt_x-#ppt_w*1.125000"/>
                                          </p:val>
                                        </p:tav>
                                        <p:tav tm="100000">
                                          <p:val>
                                            <p:strVal val="#ppt_x"/>
                                          </p:val>
                                        </p:tav>
                                      </p:tavLst>
                                    </p:anim>
                                    <p:animEffect transition="in" filter="wipe(right)">
                                      <p:cBhvr>
                                        <p:cTn id="18" dur="500"/>
                                        <p:tgtEl>
                                          <p:spTgt spid="4"/>
                                        </p:tgtEl>
                                      </p:cBhvr>
                                    </p:animEffect>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1+#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79"/>
                                        </p:tgtEl>
                                        <p:attrNameLst>
                                          <p:attrName>style.visibility</p:attrName>
                                        </p:attrNameLst>
                                      </p:cBhvr>
                                      <p:to>
                                        <p:strVal val="visible"/>
                                      </p:to>
                                    </p:set>
                                    <p:anim calcmode="lin" valueType="num">
                                      <p:cBhvr additive="base">
                                        <p:cTn id="27" dur="500" fill="hold"/>
                                        <p:tgtEl>
                                          <p:spTgt spid="79"/>
                                        </p:tgtEl>
                                        <p:attrNameLst>
                                          <p:attrName>ppt_x</p:attrName>
                                        </p:attrNameLst>
                                      </p:cBhvr>
                                      <p:tavLst>
                                        <p:tav tm="0">
                                          <p:val>
                                            <p:strVal val="1+#ppt_w/2"/>
                                          </p:val>
                                        </p:tav>
                                        <p:tav tm="100000">
                                          <p:val>
                                            <p:strVal val="#ppt_x"/>
                                          </p:val>
                                        </p:tav>
                                      </p:tavLst>
                                    </p:anim>
                                    <p:anim calcmode="lin" valueType="num">
                                      <p:cBhvr additive="base">
                                        <p:cTn id="28" dur="500" fill="hold"/>
                                        <p:tgtEl>
                                          <p:spTgt spid="79"/>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2" fill="hold" grpId="0" nodeType="afterEffect">
                                  <p:stCondLst>
                                    <p:cond delay="0"/>
                                  </p:stCondLst>
                                  <p:childTnLst>
                                    <p:set>
                                      <p:cBhvr>
                                        <p:cTn id="31" dur="1" fill="hold">
                                          <p:stCondLst>
                                            <p:cond delay="0"/>
                                          </p:stCondLst>
                                        </p:cTn>
                                        <p:tgtEl>
                                          <p:spTgt spid="83"/>
                                        </p:tgtEl>
                                        <p:attrNameLst>
                                          <p:attrName>style.visibility</p:attrName>
                                        </p:attrNameLst>
                                      </p:cBhvr>
                                      <p:to>
                                        <p:strVal val="visible"/>
                                      </p:to>
                                    </p:set>
                                    <p:anim calcmode="lin" valueType="num">
                                      <p:cBhvr additive="base">
                                        <p:cTn id="32" dur="500" fill="hold"/>
                                        <p:tgtEl>
                                          <p:spTgt spid="83"/>
                                        </p:tgtEl>
                                        <p:attrNameLst>
                                          <p:attrName>ppt_x</p:attrName>
                                        </p:attrNameLst>
                                      </p:cBhvr>
                                      <p:tavLst>
                                        <p:tav tm="0">
                                          <p:val>
                                            <p:strVal val="1+#ppt_w/2"/>
                                          </p:val>
                                        </p:tav>
                                        <p:tav tm="100000">
                                          <p:val>
                                            <p:strVal val="#ppt_x"/>
                                          </p:val>
                                        </p:tav>
                                      </p:tavLst>
                                    </p:anim>
                                    <p:anim calcmode="lin" valueType="num">
                                      <p:cBhvr additive="base">
                                        <p:cTn id="33" dur="500" fill="hold"/>
                                        <p:tgtEl>
                                          <p:spTgt spid="83"/>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2" fill="hold" grpId="0" nodeType="after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1+#ppt_w/2"/>
                                          </p:val>
                                        </p:tav>
                                        <p:tav tm="100000">
                                          <p:val>
                                            <p:strVal val="#ppt_x"/>
                                          </p:val>
                                        </p:tav>
                                      </p:tavLst>
                                    </p:anim>
                                    <p:anim calcmode="lin" valueType="num">
                                      <p:cBhvr additive="base">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3" grpId="0"/>
      <p:bldP spid="3" grpId="0"/>
      <p:bldP spid="79" grpId="0" bldLvl="0" animBg="1"/>
      <p:bldP spid="83" grpId="0" bldLvl="0" animBg="1"/>
      <p:bldP spid="4" grpId="0" animBg="1"/>
      <p:bldP spid="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blip>
          <a:srcRect/>
          <a:stretch>
            <a:fillRect/>
          </a:stretch>
        </a:blipFill>
        <a:effectLst/>
      </p:bgPr>
    </p:bg>
    <p:spTree>
      <p:nvGrpSpPr>
        <p:cNvPr id="1" name=""/>
        <p:cNvGrpSpPr/>
        <p:nvPr/>
      </p:nvGrpSpPr>
      <p:grpSpPr>
        <a:xfrm>
          <a:off x="0" y="0"/>
          <a:ext cx="0" cy="0"/>
          <a:chOff x="0" y="0"/>
          <a:chExt cx="0" cy="0"/>
        </a:xfrm>
      </p:grpSpPr>
      <p:sp>
        <p:nvSpPr>
          <p:cNvPr id="2" name="椭圆 1"/>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2483768" y="2717376"/>
            <a:ext cx="4171762" cy="592470"/>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sym typeface="+mn-lt"/>
              </a:rPr>
              <a:t>研究背景与意义</a:t>
            </a:r>
          </a:p>
        </p:txBody>
      </p:sp>
      <p:sp>
        <p:nvSpPr>
          <p:cNvPr id="95" name="文本框 11"/>
          <p:cNvSpPr txBox="1"/>
          <p:nvPr/>
        </p:nvSpPr>
        <p:spPr>
          <a:xfrm>
            <a:off x="3713476" y="1575042"/>
            <a:ext cx="1732894" cy="815736"/>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01</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600"/>
                                        <p:tgtEl>
                                          <p:spTgt spid="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95"/>
                                        </p:tgtEl>
                                        <p:attrNameLst>
                                          <p:attrName>style.visibility</p:attrName>
                                        </p:attrNameLst>
                                      </p:cBhvr>
                                      <p:to>
                                        <p:strVal val="visible"/>
                                      </p:to>
                                    </p:set>
                                    <p:anim calcmode="lin" valueType="num">
                                      <p:cBhvr>
                                        <p:cTn id="11" dur="500" fill="hold"/>
                                        <p:tgtEl>
                                          <p:spTgt spid="95"/>
                                        </p:tgtEl>
                                        <p:attrNameLst>
                                          <p:attrName>ppt_w</p:attrName>
                                        </p:attrNameLst>
                                      </p:cBhvr>
                                      <p:tavLst>
                                        <p:tav tm="0">
                                          <p:val>
                                            <p:fltVal val="0"/>
                                          </p:val>
                                        </p:tav>
                                        <p:tav tm="100000">
                                          <p:val>
                                            <p:strVal val="#ppt_w"/>
                                          </p:val>
                                        </p:tav>
                                      </p:tavLst>
                                    </p:anim>
                                    <p:anim calcmode="lin" valueType="num">
                                      <p:cBhvr>
                                        <p:cTn id="12" dur="500" fill="hold"/>
                                        <p:tgtEl>
                                          <p:spTgt spid="95"/>
                                        </p:tgtEl>
                                        <p:attrNameLst>
                                          <p:attrName>ppt_h</p:attrName>
                                        </p:attrNameLst>
                                      </p:cBhvr>
                                      <p:tavLst>
                                        <p:tav tm="0">
                                          <p:val>
                                            <p:fltVal val="0"/>
                                          </p:val>
                                        </p:tav>
                                        <p:tav tm="100000">
                                          <p:val>
                                            <p:strVal val="#ppt_h"/>
                                          </p:val>
                                        </p:tav>
                                      </p:tavLst>
                                    </p:anim>
                                    <p:animEffect transition="in" filter="fade">
                                      <p:cBhvr>
                                        <p:cTn id="13" dur="500"/>
                                        <p:tgtEl>
                                          <p:spTgt spid="9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2"/>
                                        </p:tgtEl>
                                        <p:attrNameLst>
                                          <p:attrName>ppt_y</p:attrName>
                                        </p:attrNameLst>
                                      </p:cBhvr>
                                      <p:tavLst>
                                        <p:tav tm="0">
                                          <p:val>
                                            <p:strVal val="#ppt_y"/>
                                          </p:val>
                                        </p:tav>
                                        <p:tav tm="100000">
                                          <p:val>
                                            <p:strVal val="#ppt_y"/>
                                          </p:val>
                                        </p:tav>
                                      </p:tavLst>
                                    </p:anim>
                                    <p:anim calcmode="lin" valueType="num">
                                      <p:cBhvr>
                                        <p:cTn id="19"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9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3"/>
          <p:cNvSpPr>
            <a:spLocks noChangeArrowheads="1"/>
          </p:cNvSpPr>
          <p:nvPr/>
        </p:nvSpPr>
        <p:spPr bwMode="auto">
          <a:xfrm>
            <a:off x="4972759" y="2491652"/>
            <a:ext cx="4171241" cy="2402844"/>
          </a:xfrm>
          <a:prstGeom prst="rect">
            <a:avLst/>
          </a:prstGeom>
          <a:solidFill>
            <a:schemeClr val="tx1">
              <a:lumMod val="50000"/>
              <a:lumOff val="50000"/>
            </a:schemeClr>
          </a:solidFill>
          <a:ln w="9525">
            <a:noFill/>
            <a:bevel/>
          </a:ln>
        </p:spPr>
        <p:txBody>
          <a:bodyPr lIns="68580" tIns="34290" rIns="68580" bIns="34290"/>
          <a:lstStyle/>
          <a:p>
            <a:pPr eaLnBrk="1" hangingPunct="1"/>
            <a:endParaRPr lang="zh-CN" altLang="en-US">
              <a:cs typeface="+mn-ea"/>
              <a:sym typeface="+mn-lt"/>
            </a:endParaRPr>
          </a:p>
        </p:txBody>
      </p:sp>
      <p:sp>
        <p:nvSpPr>
          <p:cNvPr id="18" name="矩形 23"/>
          <p:cNvSpPr>
            <a:spLocks noChangeArrowheads="1"/>
          </p:cNvSpPr>
          <p:nvPr/>
        </p:nvSpPr>
        <p:spPr bwMode="auto">
          <a:xfrm>
            <a:off x="1" y="2491652"/>
            <a:ext cx="4972758" cy="2402844"/>
          </a:xfrm>
          <a:prstGeom prst="rect">
            <a:avLst/>
          </a:prstGeom>
          <a:blipFill dpi="0" rotWithShape="1">
            <a:blip r:embed="rId3" cstate="screen">
              <a:extLst>
                <a:ext uri="{BEBA8EAE-BF5A-486C-A8C5-ECC9F3942E4B}">
                  <a14:imgProps xmlns:a14="http://schemas.microsoft.com/office/drawing/2010/main">
                    <a14:imgLayer r:embed="rId4">
                      <a14:imgEffect>
                        <a14:saturation sat="0"/>
                      </a14:imgEffect>
                    </a14:imgLayer>
                  </a14:imgProps>
                </a:ext>
              </a:extLst>
            </a:blip>
            <a:srcRect/>
            <a:stretch>
              <a:fillRect/>
            </a:stretch>
          </a:blipFill>
          <a:ln w="9525">
            <a:noFill/>
            <a:bevel/>
          </a:ln>
        </p:spPr>
        <p:txBody>
          <a:bodyPr lIns="68580" tIns="34290" rIns="68580" bIns="34290"/>
          <a:lstStyle/>
          <a:p>
            <a:pPr eaLnBrk="1" hangingPunct="1"/>
            <a:endParaRPr lang="zh-CN" altLang="en-US">
              <a:cs typeface="+mn-ea"/>
              <a:sym typeface="+mn-lt"/>
            </a:endParaRPr>
          </a:p>
        </p:txBody>
      </p:sp>
      <p:sp>
        <p:nvSpPr>
          <p:cNvPr id="16" name="文本框 15"/>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研究背景</a:t>
            </a:r>
          </a:p>
        </p:txBody>
      </p:sp>
      <p:sp>
        <p:nvSpPr>
          <p:cNvPr id="107" name="文本框 11"/>
          <p:cNvSpPr txBox="1"/>
          <p:nvPr/>
        </p:nvSpPr>
        <p:spPr>
          <a:xfrm>
            <a:off x="356180" y="693215"/>
            <a:ext cx="8356711" cy="2099945"/>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ct val="200000"/>
              </a:lnSpc>
            </a:pPr>
            <a:r>
              <a:rPr lang="en-US" sz="1100" dirty="0">
                <a:latin typeface="微软雅黑" panose="020B0503020204020204" pitchFamily="34" charset="-122"/>
                <a:ea typeface="微软雅黑" panose="020B0503020204020204" pitchFamily="34" charset="-122"/>
              </a:rPr>
              <a:t>	</a:t>
            </a:r>
            <a:r>
              <a:rPr sz="1100" dirty="0">
                <a:latin typeface="微软雅黑" panose="020B0503020204020204" pitchFamily="34" charset="-122"/>
                <a:ea typeface="微软雅黑" panose="020B0503020204020204" pitchFamily="34" charset="-122"/>
              </a:rPr>
              <a:t>当今世界上的大多数机器人是出于提高技术人员或者工人生产效率、替代人类完成枯燥重复或危险任务的目的而设计制造出来的，具有广泛的应用场景和巨大的研究价值。其中仿人类上肢结构的机器人应用最为广泛，这类机器人属于离散型机器人(discrete robot)，它由单自由度关节和刚性连杆构成，机器人的运动在各自由度关节处产生，刚性连杆用于保持各关节的相互几何关系，通过对各单自由度关节的驱动控制来实现机器人末端执行器位姿的变化。传统离散型机器人可被建模为离散关节处连接的固定刚性结构，这种离散型机器人由于结构固定，自由度有限，因此结构环境和空间的适应能力不强</a:t>
            </a:r>
          </a:p>
          <a:p>
            <a:pPr>
              <a:lnSpc>
                <a:spcPct val="200000"/>
              </a:lnSpc>
            </a:pPr>
            <a:endParaRPr sz="1100" dirty="0">
              <a:latin typeface="微软雅黑" panose="020B0503020204020204" pitchFamily="34" charset="-122"/>
              <a:ea typeface="微软雅黑" panose="020B0503020204020204" pitchFamily="34" charset="-122"/>
            </a:endParaRP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607759" y="3093899"/>
            <a:ext cx="2901241" cy="1198880"/>
          </a:xfrm>
          <a:prstGeom prst="rect">
            <a:avLst/>
          </a:prstGeom>
        </p:spPr>
        <p:txBody>
          <a:bodyPr wrap="square">
            <a:spAutoFit/>
          </a:bodyPr>
          <a:lstStyle/>
          <a:p>
            <a:pPr algn="just">
              <a:lnSpc>
                <a:spcPct val="200000"/>
              </a:lnSpc>
            </a:pPr>
            <a:r>
              <a:rPr lang="zh-CN" altLang="en-US" sz="1200" dirty="0">
                <a:solidFill>
                  <a:schemeClr val="bg1"/>
                </a:solidFill>
                <a:latin typeface="微软雅黑" panose="020B0503020204020204" pitchFamily="34" charset="-122"/>
                <a:ea typeface="微软雅黑" panose="020B0503020204020204" pitchFamily="34" charset="-122"/>
                <a:sym typeface="+mn-ea"/>
              </a:rPr>
              <a:t>传统离散型机器人因其结构特征，结构环境和空间的适应能力不强，具有局限性。</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649"/>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par>
                          <p:cTn id="16" fill="hold">
                            <p:stCondLst>
                              <p:cond delay="1149"/>
                            </p:stCondLst>
                            <p:childTnLst>
                              <p:par>
                                <p:cTn id="17" presetID="2" presetClass="entr" presetSubtype="8"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1+#ppt_w/2"/>
                                          </p:val>
                                        </p:tav>
                                        <p:tav tm="100000">
                                          <p:val>
                                            <p:strVal val="#ppt_x"/>
                                          </p:val>
                                        </p:tav>
                                      </p:tavLst>
                                    </p:anim>
                                    <p:anim calcmode="lin" valueType="num">
                                      <p:cBhvr additive="base">
                                        <p:cTn id="24" dur="500" fill="hold"/>
                                        <p:tgtEl>
                                          <p:spTgt spid="23"/>
                                        </p:tgtEl>
                                        <p:attrNameLst>
                                          <p:attrName>ppt_y</p:attrName>
                                        </p:attrNameLst>
                                      </p:cBhvr>
                                      <p:tavLst>
                                        <p:tav tm="0">
                                          <p:val>
                                            <p:strVal val="#ppt_y"/>
                                          </p:val>
                                        </p:tav>
                                        <p:tav tm="100000">
                                          <p:val>
                                            <p:strVal val="#ppt_y"/>
                                          </p:val>
                                        </p:tav>
                                      </p:tavLst>
                                    </p:anim>
                                  </p:childTnLst>
                                </p:cTn>
                              </p:par>
                            </p:childTnLst>
                          </p:cTn>
                        </p:par>
                        <p:par>
                          <p:cTn id="25" fill="hold">
                            <p:stCondLst>
                              <p:cond delay="1649"/>
                            </p:stCondLst>
                            <p:childTnLst>
                              <p:par>
                                <p:cTn id="26" presetID="2" presetClass="entr" presetSubtype="2" fill="hold" grpId="0" nodeType="afterEffect">
                                  <p:stCondLst>
                                    <p:cond delay="0"/>
                                  </p:stCondLst>
                                  <p:childTnLst>
                                    <p:set>
                                      <p:cBhvr>
                                        <p:cTn id="27" dur="1" fill="hold">
                                          <p:stCondLst>
                                            <p:cond delay="0"/>
                                          </p:stCondLst>
                                        </p:cTn>
                                        <p:tgtEl>
                                          <p:spTgt spid="107"/>
                                        </p:tgtEl>
                                        <p:attrNameLst>
                                          <p:attrName>style.visibility</p:attrName>
                                        </p:attrNameLst>
                                      </p:cBhvr>
                                      <p:to>
                                        <p:strVal val="visible"/>
                                      </p:to>
                                    </p:set>
                                    <p:anim calcmode="lin" valueType="num">
                                      <p:cBhvr additive="base">
                                        <p:cTn id="28" dur="500" fill="hold"/>
                                        <p:tgtEl>
                                          <p:spTgt spid="107"/>
                                        </p:tgtEl>
                                        <p:attrNameLst>
                                          <p:attrName>ppt_x</p:attrName>
                                        </p:attrNameLst>
                                      </p:cBhvr>
                                      <p:tavLst>
                                        <p:tav tm="0">
                                          <p:val>
                                            <p:strVal val="1+#ppt_w/2"/>
                                          </p:val>
                                        </p:tav>
                                        <p:tav tm="100000">
                                          <p:val>
                                            <p:strVal val="#ppt_x"/>
                                          </p:val>
                                        </p:tav>
                                      </p:tavLst>
                                    </p:anim>
                                    <p:anim calcmode="lin" valueType="num">
                                      <p:cBhvr additive="base">
                                        <p:cTn id="29" dur="5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autoUpdateAnimBg="0"/>
      <p:bldP spid="18" grpId="0" bldLvl="0" animBg="1" autoUpdateAnimBg="0"/>
      <p:bldP spid="16" grpId="0"/>
      <p:bldP spid="10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3"/>
          <p:cNvSpPr>
            <a:spLocks noChangeArrowheads="1"/>
          </p:cNvSpPr>
          <p:nvPr/>
        </p:nvSpPr>
        <p:spPr bwMode="auto">
          <a:xfrm>
            <a:off x="4972759" y="2491652"/>
            <a:ext cx="4171241" cy="2402844"/>
          </a:xfrm>
          <a:prstGeom prst="rect">
            <a:avLst/>
          </a:prstGeom>
          <a:solidFill>
            <a:schemeClr val="tx1">
              <a:lumMod val="50000"/>
              <a:lumOff val="50000"/>
            </a:schemeClr>
          </a:solidFill>
          <a:ln w="9525">
            <a:noFill/>
            <a:bevel/>
          </a:ln>
        </p:spPr>
        <p:txBody>
          <a:bodyPr lIns="68580" tIns="34290" rIns="68580" bIns="34290"/>
          <a:lstStyle/>
          <a:p>
            <a:pPr eaLnBrk="1" hangingPunct="1"/>
            <a:endParaRPr lang="zh-CN" altLang="en-US">
              <a:cs typeface="+mn-ea"/>
              <a:sym typeface="+mn-lt"/>
            </a:endParaRPr>
          </a:p>
        </p:txBody>
      </p:sp>
      <p:sp>
        <p:nvSpPr>
          <p:cNvPr id="18" name="矩形 23"/>
          <p:cNvSpPr>
            <a:spLocks noChangeArrowheads="1"/>
          </p:cNvSpPr>
          <p:nvPr/>
        </p:nvSpPr>
        <p:spPr bwMode="auto">
          <a:xfrm>
            <a:off x="1" y="2491652"/>
            <a:ext cx="4972758" cy="2402844"/>
          </a:xfrm>
          <a:prstGeom prst="rect">
            <a:avLst/>
          </a:prstGeom>
          <a:blipFill dpi="0" rotWithShape="1">
            <a:blip r:embed="rId3" cstate="screen">
              <a:extLst>
                <a:ext uri="{BEBA8EAE-BF5A-486C-A8C5-ECC9F3942E4B}">
                  <a14:imgProps xmlns:a14="http://schemas.microsoft.com/office/drawing/2010/main">
                    <a14:imgLayer r:embed="rId4">
                      <a14:imgEffect>
                        <a14:saturation sat="0"/>
                      </a14:imgEffect>
                    </a14:imgLayer>
                  </a14:imgProps>
                </a:ext>
              </a:extLst>
            </a:blip>
            <a:srcRect/>
            <a:stretch>
              <a:fillRect/>
            </a:stretch>
          </a:blipFill>
          <a:ln w="9525">
            <a:noFill/>
            <a:bevel/>
          </a:ln>
        </p:spPr>
        <p:txBody>
          <a:bodyPr lIns="68580" tIns="34290" rIns="68580" bIns="34290"/>
          <a:lstStyle/>
          <a:p>
            <a:pPr eaLnBrk="1" hangingPunct="1"/>
            <a:endParaRPr lang="zh-CN" altLang="en-US">
              <a:cs typeface="+mn-ea"/>
              <a:sym typeface="+mn-lt"/>
            </a:endParaRPr>
          </a:p>
        </p:txBody>
      </p:sp>
      <p:sp>
        <p:nvSpPr>
          <p:cNvPr id="16" name="文本框 15"/>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研究背景</a:t>
            </a:r>
          </a:p>
        </p:txBody>
      </p:sp>
      <p:sp>
        <p:nvSpPr>
          <p:cNvPr id="107" name="文本框 11"/>
          <p:cNvSpPr txBox="1"/>
          <p:nvPr/>
        </p:nvSpPr>
        <p:spPr>
          <a:xfrm>
            <a:off x="356180" y="693215"/>
            <a:ext cx="8356711" cy="1372427"/>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nSpc>
                <a:spcPct val="200000"/>
              </a:lnSpc>
            </a:pPr>
            <a:r>
              <a:rPr lang="en-US" sz="1100" dirty="0">
                <a:latin typeface="微软雅黑" panose="020B0503020204020204" pitchFamily="34" charset="-122"/>
                <a:ea typeface="微软雅黑" panose="020B0503020204020204" pitchFamily="34" charset="-122"/>
              </a:rPr>
              <a:t>	</a:t>
            </a:r>
            <a:r>
              <a:rPr sz="1100" dirty="0">
                <a:latin typeface="微软雅黑" panose="020B0503020204020204" pitchFamily="34" charset="-122"/>
                <a:ea typeface="微软雅黑" panose="020B0503020204020204" pitchFamily="34" charset="-122"/>
              </a:rPr>
              <a:t>在自然界中存在身体或部分身体结构可发生形变的生物，例如章鱼触手和象鼻等没有骨骼支撑的生物组织，可以出色地完成物体的柔顺操纵与定位到达等任务。如图 1-1， </a:t>
            </a:r>
            <a:r>
              <a:rPr sz="1100" dirty="0" err="1">
                <a:latin typeface="微软雅黑" panose="020B0503020204020204" pitchFamily="34" charset="-122"/>
                <a:ea typeface="微软雅黑" panose="020B0503020204020204" pitchFamily="34" charset="-122"/>
              </a:rPr>
              <a:t>受启发于这些生物，研究人员已经着手探索连续型机器人设计与控制问题。连续型机器人</a:t>
            </a:r>
            <a:r>
              <a:rPr sz="1100" dirty="0">
                <a:latin typeface="微软雅黑" panose="020B0503020204020204" pitchFamily="34" charset="-122"/>
                <a:ea typeface="微软雅黑" panose="020B0503020204020204" pitchFamily="34" charset="-122"/>
              </a:rPr>
              <a:t>(continuum robot)是一种由柔性材料组成、不含任何离散关节、理论上自由度无穷多的仿生机器人，可完成复杂的定位及抓取任务，具有很强的环境和空间的适应能力。但其复杂且固定的柔性结构不利于维护，可拓展性较低。</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607759" y="3278049"/>
            <a:ext cx="2901241" cy="829945"/>
          </a:xfrm>
          <a:prstGeom prst="rect">
            <a:avLst/>
          </a:prstGeom>
        </p:spPr>
        <p:txBody>
          <a:bodyPr wrap="square">
            <a:spAutoFit/>
          </a:bodyPr>
          <a:lstStyle/>
          <a:p>
            <a:pPr algn="just">
              <a:lnSpc>
                <a:spcPct val="200000"/>
              </a:lnSpc>
            </a:pPr>
            <a:r>
              <a:rPr lang="zh-CN" altLang="en-US" sz="1200" dirty="0">
                <a:solidFill>
                  <a:schemeClr val="bg1"/>
                </a:solidFill>
                <a:latin typeface="微软雅黑" panose="020B0503020204020204" pitchFamily="34" charset="-122"/>
                <a:ea typeface="微软雅黑" panose="020B0503020204020204" pitchFamily="34" charset="-122"/>
                <a:sym typeface="+mn-ea"/>
              </a:rPr>
              <a:t>连续型机器人因其复杂且固定的柔性结构不利于维护，可拓展性较低</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649"/>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childTnLst>
                          </p:cTn>
                        </p:par>
                        <p:par>
                          <p:cTn id="16" fill="hold">
                            <p:stCondLst>
                              <p:cond delay="1149"/>
                            </p:stCondLst>
                            <p:childTnLst>
                              <p:par>
                                <p:cTn id="17" presetID="2" presetClass="entr" presetSubtype="8"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0-#ppt_w/2"/>
                                          </p:val>
                                        </p:tav>
                                        <p:tav tm="100000">
                                          <p:val>
                                            <p:strVal val="#ppt_x"/>
                                          </p:val>
                                        </p:tav>
                                      </p:tavLst>
                                    </p:anim>
                                    <p:anim calcmode="lin" valueType="num">
                                      <p:cBhvr additive="base">
                                        <p:cTn id="20" dur="500" fill="hold"/>
                                        <p:tgtEl>
                                          <p:spTgt spid="18"/>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 calcmode="lin" valueType="num">
                                      <p:cBhvr additive="base">
                                        <p:cTn id="23" dur="500" fill="hold"/>
                                        <p:tgtEl>
                                          <p:spTgt spid="23"/>
                                        </p:tgtEl>
                                        <p:attrNameLst>
                                          <p:attrName>ppt_x</p:attrName>
                                        </p:attrNameLst>
                                      </p:cBhvr>
                                      <p:tavLst>
                                        <p:tav tm="0">
                                          <p:val>
                                            <p:strVal val="1+#ppt_w/2"/>
                                          </p:val>
                                        </p:tav>
                                        <p:tav tm="100000">
                                          <p:val>
                                            <p:strVal val="#ppt_x"/>
                                          </p:val>
                                        </p:tav>
                                      </p:tavLst>
                                    </p:anim>
                                    <p:anim calcmode="lin" valueType="num">
                                      <p:cBhvr additive="base">
                                        <p:cTn id="24" dur="500" fill="hold"/>
                                        <p:tgtEl>
                                          <p:spTgt spid="23"/>
                                        </p:tgtEl>
                                        <p:attrNameLst>
                                          <p:attrName>ppt_y</p:attrName>
                                        </p:attrNameLst>
                                      </p:cBhvr>
                                      <p:tavLst>
                                        <p:tav tm="0">
                                          <p:val>
                                            <p:strVal val="#ppt_y"/>
                                          </p:val>
                                        </p:tav>
                                        <p:tav tm="100000">
                                          <p:val>
                                            <p:strVal val="#ppt_y"/>
                                          </p:val>
                                        </p:tav>
                                      </p:tavLst>
                                    </p:anim>
                                  </p:childTnLst>
                                </p:cTn>
                              </p:par>
                            </p:childTnLst>
                          </p:cTn>
                        </p:par>
                        <p:par>
                          <p:cTn id="25" fill="hold">
                            <p:stCondLst>
                              <p:cond delay="1649"/>
                            </p:stCondLst>
                            <p:childTnLst>
                              <p:par>
                                <p:cTn id="26" presetID="2" presetClass="entr" presetSubtype="2" fill="hold" grpId="0" nodeType="afterEffect">
                                  <p:stCondLst>
                                    <p:cond delay="0"/>
                                  </p:stCondLst>
                                  <p:childTnLst>
                                    <p:set>
                                      <p:cBhvr>
                                        <p:cTn id="27" dur="1" fill="hold">
                                          <p:stCondLst>
                                            <p:cond delay="0"/>
                                          </p:stCondLst>
                                        </p:cTn>
                                        <p:tgtEl>
                                          <p:spTgt spid="107"/>
                                        </p:tgtEl>
                                        <p:attrNameLst>
                                          <p:attrName>style.visibility</p:attrName>
                                        </p:attrNameLst>
                                      </p:cBhvr>
                                      <p:to>
                                        <p:strVal val="visible"/>
                                      </p:to>
                                    </p:set>
                                    <p:anim calcmode="lin" valueType="num">
                                      <p:cBhvr additive="base">
                                        <p:cTn id="28" dur="500" fill="hold"/>
                                        <p:tgtEl>
                                          <p:spTgt spid="107"/>
                                        </p:tgtEl>
                                        <p:attrNameLst>
                                          <p:attrName>ppt_x</p:attrName>
                                        </p:attrNameLst>
                                      </p:cBhvr>
                                      <p:tavLst>
                                        <p:tav tm="0">
                                          <p:val>
                                            <p:strVal val="1+#ppt_w/2"/>
                                          </p:val>
                                        </p:tav>
                                        <p:tav tm="100000">
                                          <p:val>
                                            <p:strVal val="#ppt_x"/>
                                          </p:val>
                                        </p:tav>
                                      </p:tavLst>
                                    </p:anim>
                                    <p:anim calcmode="lin" valueType="num">
                                      <p:cBhvr additive="base">
                                        <p:cTn id="29" dur="500" fill="hold"/>
                                        <p:tgtEl>
                                          <p:spTgt spid="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autoUpdateAnimBg="0"/>
      <p:bldP spid="18" grpId="0" bldLvl="0" animBg="1" autoUpdateAnimBg="0"/>
      <p:bldP spid="16" grpId="0"/>
      <p:bldP spid="10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泪滴形 14"/>
          <p:cNvSpPr/>
          <p:nvPr>
            <p:custDataLst>
              <p:tags r:id="rId1"/>
            </p:custDataLst>
          </p:nvPr>
        </p:nvSpPr>
        <p:spPr>
          <a:xfrm>
            <a:off x="563393" y="818756"/>
            <a:ext cx="602227" cy="602227"/>
          </a:xfrm>
          <a:prstGeom prst="teardrop">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custDataLst>
              <p:tags r:id="rId2"/>
            </p:custDataLst>
          </p:nvPr>
        </p:nvGrpSpPr>
        <p:grpSpPr>
          <a:xfrm>
            <a:off x="732098" y="937809"/>
            <a:ext cx="264816" cy="364121"/>
            <a:chOff x="6766243" y="2767965"/>
            <a:chExt cx="139700" cy="192088"/>
          </a:xfrm>
          <a:solidFill>
            <a:schemeClr val="bg1"/>
          </a:solidFill>
        </p:grpSpPr>
        <p:sp>
          <p:nvSpPr>
            <p:cNvPr id="31762" name="Rectangle 27"/>
            <p:cNvSpPr/>
            <p:nvPr>
              <p:custDataLst>
                <p:tags r:id="rId4"/>
              </p:custDataLst>
            </p:nvPr>
          </p:nvSpPr>
          <p:spPr>
            <a:xfrm>
              <a:off x="6766243" y="2807653"/>
              <a:ext cx="22225" cy="152400"/>
            </a:xfrm>
            <a:prstGeom prst="rect">
              <a:avLst/>
            </a:prstGeom>
            <a:grpFill/>
            <a:ln w="9525">
              <a:noFill/>
              <a:miter/>
            </a:ln>
          </p:spPr>
          <p:txBody>
            <a:bodyPr/>
            <a:lstStyle/>
            <a:p>
              <a:pPr lvl="0" eaLnBrk="1" hangingPunct="1"/>
              <a:endParaRPr lang="zh-CN" altLang="en-US" dirty="0">
                <a:cs typeface="+mn-ea"/>
                <a:sym typeface="+mn-lt"/>
              </a:endParaRPr>
            </a:p>
          </p:txBody>
        </p:sp>
        <p:sp>
          <p:nvSpPr>
            <p:cNvPr id="31763" name="Rectangle 28"/>
            <p:cNvSpPr/>
            <p:nvPr>
              <p:custDataLst>
                <p:tags r:id="rId5"/>
              </p:custDataLst>
            </p:nvPr>
          </p:nvSpPr>
          <p:spPr>
            <a:xfrm>
              <a:off x="6807518" y="2783840"/>
              <a:ext cx="20637" cy="176213"/>
            </a:xfrm>
            <a:prstGeom prst="rect">
              <a:avLst/>
            </a:prstGeom>
            <a:grpFill/>
            <a:ln w="9525">
              <a:noFill/>
              <a:miter/>
            </a:ln>
          </p:spPr>
          <p:txBody>
            <a:bodyPr/>
            <a:lstStyle/>
            <a:p>
              <a:pPr lvl="0" eaLnBrk="1" hangingPunct="1"/>
              <a:endParaRPr lang="zh-CN" altLang="en-US" dirty="0">
                <a:cs typeface="+mn-ea"/>
                <a:sym typeface="+mn-lt"/>
              </a:endParaRPr>
            </a:p>
          </p:txBody>
        </p:sp>
        <p:sp>
          <p:nvSpPr>
            <p:cNvPr id="31764" name="Rectangle 29"/>
            <p:cNvSpPr/>
            <p:nvPr>
              <p:custDataLst>
                <p:tags r:id="rId6"/>
              </p:custDataLst>
            </p:nvPr>
          </p:nvSpPr>
          <p:spPr>
            <a:xfrm>
              <a:off x="6844030" y="2767965"/>
              <a:ext cx="22225" cy="192088"/>
            </a:xfrm>
            <a:prstGeom prst="rect">
              <a:avLst/>
            </a:prstGeom>
            <a:grpFill/>
            <a:ln w="9525">
              <a:noFill/>
              <a:miter/>
            </a:ln>
          </p:spPr>
          <p:txBody>
            <a:bodyPr/>
            <a:lstStyle/>
            <a:p>
              <a:pPr lvl="0" eaLnBrk="1" hangingPunct="1"/>
              <a:endParaRPr lang="zh-CN" altLang="en-US" dirty="0">
                <a:cs typeface="+mn-ea"/>
                <a:sym typeface="+mn-lt"/>
              </a:endParaRPr>
            </a:p>
          </p:txBody>
        </p:sp>
        <p:sp>
          <p:nvSpPr>
            <p:cNvPr id="31765" name="Rectangle 30"/>
            <p:cNvSpPr/>
            <p:nvPr>
              <p:custDataLst>
                <p:tags r:id="rId7"/>
              </p:custDataLst>
            </p:nvPr>
          </p:nvSpPr>
          <p:spPr>
            <a:xfrm>
              <a:off x="6882130" y="2866390"/>
              <a:ext cx="23813" cy="93663"/>
            </a:xfrm>
            <a:prstGeom prst="rect">
              <a:avLst/>
            </a:prstGeom>
            <a:grpFill/>
            <a:ln w="9525">
              <a:noFill/>
              <a:miter/>
            </a:ln>
          </p:spPr>
          <p:txBody>
            <a:bodyPr/>
            <a:lstStyle/>
            <a:p>
              <a:pPr lvl="0" eaLnBrk="1" hangingPunct="1"/>
              <a:endParaRPr lang="zh-CN" altLang="en-US" dirty="0">
                <a:cs typeface="+mn-ea"/>
                <a:sym typeface="+mn-lt"/>
              </a:endParaRPr>
            </a:p>
          </p:txBody>
        </p:sp>
      </p:grpSp>
      <p:cxnSp>
        <p:nvCxnSpPr>
          <p:cNvPr id="33" name="直接连接符 32"/>
          <p:cNvCxnSpPr/>
          <p:nvPr/>
        </p:nvCxnSpPr>
        <p:spPr>
          <a:xfrm>
            <a:off x="774478" y="6193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研究意义</a:t>
            </a:r>
          </a:p>
        </p:txBody>
      </p:sp>
      <p:sp>
        <p:nvSpPr>
          <p:cNvPr id="7" name="矩形: 圆角 6"/>
          <p:cNvSpPr/>
          <p:nvPr>
            <p:custDataLst>
              <p:tags r:id="rId3"/>
            </p:custDataLst>
          </p:nvPr>
        </p:nvSpPr>
        <p:spPr>
          <a:xfrm>
            <a:off x="1412875" y="780415"/>
            <a:ext cx="2736215" cy="3613150"/>
          </a:xfrm>
          <a:prstGeom prst="roundRect">
            <a:avLst>
              <a:gd name="adj" fmla="val 3429"/>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524000" y="892810"/>
            <a:ext cx="2477770" cy="3786505"/>
          </a:xfrm>
          <a:prstGeom prst="rect">
            <a:avLst/>
          </a:prstGeom>
          <a:noFill/>
        </p:spPr>
        <p:txBody>
          <a:bodyPr wrap="square" rtlCol="0">
            <a:noAutofit/>
          </a:bodyPr>
          <a:lstStyle/>
          <a:p>
            <a:pPr algn="l">
              <a:lnSpc>
                <a:spcPct val="200000"/>
              </a:lnSpc>
              <a:buClrTx/>
              <a:buSzTx/>
              <a:buNone/>
            </a:pPr>
            <a:r>
              <a:rPr sz="1200" dirty="0">
                <a:latin typeface="微软雅黑" panose="020B0503020204020204" pitchFamily="34" charset="-122"/>
                <a:ea typeface="微软雅黑" panose="020B0503020204020204" pitchFamily="34" charset="-122"/>
              </a:rPr>
              <a:t>受启发于连续型机械臂多自由度的灵活结构，在传统刚性离散型串联机械臂刚性结构的基础上，将固定的刚性连杆拆分为两个相邻关节轴夹角(广义连杆参数定义为α)可变的模块化接口，增多了机械臂的自由度，并设计标准化的模块连接结构与硬件组件，使关节的数量和自由度均可以灵活调整。</a:t>
            </a:r>
          </a:p>
        </p:txBody>
      </p:sp>
      <p:pic>
        <p:nvPicPr>
          <p:cNvPr id="3" name="图片 2" descr="1.2"/>
          <p:cNvPicPr>
            <a:picLocks noChangeAspect="1"/>
          </p:cNvPicPr>
          <p:nvPr/>
        </p:nvPicPr>
        <p:blipFill>
          <a:blip r:embed="rId10"/>
          <a:stretch>
            <a:fillRect/>
          </a:stretch>
        </p:blipFill>
        <p:spPr>
          <a:xfrm>
            <a:off x="4266565" y="832485"/>
            <a:ext cx="4450715" cy="3509645"/>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5"/>
                                        </p:tgtEl>
                                        <p:attrNameLst>
                                          <p:attrName>ppt_y</p:attrName>
                                        </p:attrNameLst>
                                      </p:cBhvr>
                                      <p:tavLst>
                                        <p:tav tm="0">
                                          <p:val>
                                            <p:strVal val="#ppt_y"/>
                                          </p:val>
                                        </p:tav>
                                        <p:tav tm="100000">
                                          <p:val>
                                            <p:strVal val="#ppt_y"/>
                                          </p:val>
                                        </p:tav>
                                      </p:tavLst>
                                    </p:anim>
                                    <p:anim calcmode="lin" valueType="num">
                                      <p:cBhvr>
                                        <p:cTn id="1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泪滴形 14"/>
          <p:cNvSpPr/>
          <p:nvPr>
            <p:custDataLst>
              <p:tags r:id="rId1"/>
            </p:custDataLst>
          </p:nvPr>
        </p:nvSpPr>
        <p:spPr>
          <a:xfrm>
            <a:off x="563393" y="818756"/>
            <a:ext cx="602227" cy="602227"/>
          </a:xfrm>
          <a:prstGeom prst="teardrop">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custDataLst>
              <p:tags r:id="rId2"/>
            </p:custDataLst>
          </p:nvPr>
        </p:nvGrpSpPr>
        <p:grpSpPr>
          <a:xfrm>
            <a:off x="732098" y="937809"/>
            <a:ext cx="264816" cy="364121"/>
            <a:chOff x="6766243" y="2767965"/>
            <a:chExt cx="139700" cy="192088"/>
          </a:xfrm>
          <a:solidFill>
            <a:schemeClr val="bg1"/>
          </a:solidFill>
        </p:grpSpPr>
        <p:sp>
          <p:nvSpPr>
            <p:cNvPr id="31762" name="Rectangle 27"/>
            <p:cNvSpPr/>
            <p:nvPr>
              <p:custDataLst>
                <p:tags r:id="rId4"/>
              </p:custDataLst>
            </p:nvPr>
          </p:nvSpPr>
          <p:spPr>
            <a:xfrm>
              <a:off x="6766243" y="2807653"/>
              <a:ext cx="22225" cy="152400"/>
            </a:xfrm>
            <a:prstGeom prst="rect">
              <a:avLst/>
            </a:prstGeom>
            <a:grpFill/>
            <a:ln w="9525">
              <a:noFill/>
              <a:miter/>
            </a:ln>
          </p:spPr>
          <p:txBody>
            <a:bodyPr/>
            <a:lstStyle/>
            <a:p>
              <a:pPr lvl="0" eaLnBrk="1" hangingPunct="1"/>
              <a:endParaRPr lang="zh-CN" altLang="en-US" dirty="0">
                <a:cs typeface="+mn-ea"/>
                <a:sym typeface="+mn-lt"/>
              </a:endParaRPr>
            </a:p>
          </p:txBody>
        </p:sp>
        <p:sp>
          <p:nvSpPr>
            <p:cNvPr id="31763" name="Rectangle 28"/>
            <p:cNvSpPr/>
            <p:nvPr>
              <p:custDataLst>
                <p:tags r:id="rId5"/>
              </p:custDataLst>
            </p:nvPr>
          </p:nvSpPr>
          <p:spPr>
            <a:xfrm>
              <a:off x="6807518" y="2783840"/>
              <a:ext cx="20637" cy="176213"/>
            </a:xfrm>
            <a:prstGeom prst="rect">
              <a:avLst/>
            </a:prstGeom>
            <a:grpFill/>
            <a:ln w="9525">
              <a:noFill/>
              <a:miter/>
            </a:ln>
          </p:spPr>
          <p:txBody>
            <a:bodyPr/>
            <a:lstStyle/>
            <a:p>
              <a:pPr lvl="0" eaLnBrk="1" hangingPunct="1"/>
              <a:endParaRPr lang="zh-CN" altLang="en-US" dirty="0">
                <a:cs typeface="+mn-ea"/>
                <a:sym typeface="+mn-lt"/>
              </a:endParaRPr>
            </a:p>
          </p:txBody>
        </p:sp>
        <p:sp>
          <p:nvSpPr>
            <p:cNvPr id="31764" name="Rectangle 29"/>
            <p:cNvSpPr/>
            <p:nvPr>
              <p:custDataLst>
                <p:tags r:id="rId6"/>
              </p:custDataLst>
            </p:nvPr>
          </p:nvSpPr>
          <p:spPr>
            <a:xfrm>
              <a:off x="6844030" y="2767965"/>
              <a:ext cx="22225" cy="192088"/>
            </a:xfrm>
            <a:prstGeom prst="rect">
              <a:avLst/>
            </a:prstGeom>
            <a:grpFill/>
            <a:ln w="9525">
              <a:noFill/>
              <a:miter/>
            </a:ln>
          </p:spPr>
          <p:txBody>
            <a:bodyPr/>
            <a:lstStyle/>
            <a:p>
              <a:pPr lvl="0" eaLnBrk="1" hangingPunct="1"/>
              <a:endParaRPr lang="zh-CN" altLang="en-US" dirty="0">
                <a:cs typeface="+mn-ea"/>
                <a:sym typeface="+mn-lt"/>
              </a:endParaRPr>
            </a:p>
          </p:txBody>
        </p:sp>
        <p:sp>
          <p:nvSpPr>
            <p:cNvPr id="31765" name="Rectangle 30"/>
            <p:cNvSpPr/>
            <p:nvPr>
              <p:custDataLst>
                <p:tags r:id="rId7"/>
              </p:custDataLst>
            </p:nvPr>
          </p:nvSpPr>
          <p:spPr>
            <a:xfrm>
              <a:off x="6882130" y="2866390"/>
              <a:ext cx="23813" cy="93663"/>
            </a:xfrm>
            <a:prstGeom prst="rect">
              <a:avLst/>
            </a:prstGeom>
            <a:grpFill/>
            <a:ln w="9525">
              <a:noFill/>
              <a:miter/>
            </a:ln>
          </p:spPr>
          <p:txBody>
            <a:bodyPr/>
            <a:lstStyle/>
            <a:p>
              <a:pPr lvl="0" eaLnBrk="1" hangingPunct="1"/>
              <a:endParaRPr lang="zh-CN" altLang="en-US" dirty="0">
                <a:cs typeface="+mn-ea"/>
                <a:sym typeface="+mn-lt"/>
              </a:endParaRPr>
            </a:p>
          </p:txBody>
        </p:sp>
      </p:grpSp>
      <p:cxnSp>
        <p:nvCxnSpPr>
          <p:cNvPr id="33" name="直接连接符 32"/>
          <p:cNvCxnSpPr/>
          <p:nvPr/>
        </p:nvCxnSpPr>
        <p:spPr>
          <a:xfrm>
            <a:off x="774478" y="6193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研究意义</a:t>
            </a:r>
          </a:p>
        </p:txBody>
      </p:sp>
      <p:sp>
        <p:nvSpPr>
          <p:cNvPr id="7" name="矩形: 圆角 6"/>
          <p:cNvSpPr/>
          <p:nvPr>
            <p:custDataLst>
              <p:tags r:id="rId3"/>
            </p:custDataLst>
          </p:nvPr>
        </p:nvSpPr>
        <p:spPr>
          <a:xfrm>
            <a:off x="1412875" y="780415"/>
            <a:ext cx="7136765" cy="3340100"/>
          </a:xfrm>
          <a:prstGeom prst="roundRect">
            <a:avLst>
              <a:gd name="adj" fmla="val 3429"/>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524000" y="892810"/>
            <a:ext cx="6762115" cy="3378835"/>
          </a:xfrm>
          <a:prstGeom prst="rect">
            <a:avLst/>
          </a:prstGeom>
          <a:noFill/>
        </p:spPr>
        <p:txBody>
          <a:bodyPr wrap="square" rtlCol="0">
            <a:noAutofit/>
          </a:bodyPr>
          <a:lstStyle/>
          <a:p>
            <a:pPr indent="457200" algn="l">
              <a:lnSpc>
                <a:spcPct val="200000"/>
              </a:lnSpc>
              <a:buClrTx/>
              <a:buSzTx/>
              <a:buNone/>
            </a:pPr>
            <a:r>
              <a:rPr sz="1200" dirty="0">
                <a:latin typeface="微软雅黑" panose="020B0503020204020204" pitchFamily="34" charset="-122"/>
                <a:ea typeface="微软雅黑" panose="020B0503020204020204" pitchFamily="34" charset="-122"/>
              </a:rPr>
              <a:t>具有离散型固定机构的机械臂经过模块化调整，更趋向于非离散型连续型机械臂，大大增加了机械臂的灵活性和可拓展性</a:t>
            </a:r>
            <a:r>
              <a:rPr lang="zh-CN" sz="1200" dirty="0">
                <a:latin typeface="微软雅黑" panose="020B0503020204020204" pitchFamily="34" charset="-122"/>
                <a:ea typeface="微软雅黑" panose="020B0503020204020204" pitchFamily="34" charset="-122"/>
              </a:rPr>
              <a:t>。在末端执行器设计多种拓展接口，可连接适用于各种场景的传感器模块，使机械臂不再局限于机械手的抓取工作，可进一步实现针对不 同场景的探测及分析，增强了机械臂的通用性和环境适应性，满足工业自动化制造、工业探伤、医疗器械、救援等多种工作需求。整体模块化的设计，使机械臂的各个关节及工具模块均可以灵活地单独拆卸、维修，大大降低了系统的维护成本。可以根据需要进行调整和重组，节约工作场地空间，利于不同工作环境的空间优化。各模块间相互独立，提高了系统运行的可靠性，也可以根据标准化接口单独升级和拓展，以满足不断变化的需求和技术发展。实现了珠联“臂”合的目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5"/>
                                        </p:tgtEl>
                                        <p:attrNameLst>
                                          <p:attrName>ppt_y</p:attrName>
                                        </p:attrNameLst>
                                      </p:cBhvr>
                                      <p:tavLst>
                                        <p:tav tm="0">
                                          <p:val>
                                            <p:strVal val="#ppt_y"/>
                                          </p:val>
                                        </p:tav>
                                        <p:tav tm="100000">
                                          <p:val>
                                            <p:strVal val="#ppt_y"/>
                                          </p:val>
                                        </p:tav>
                                      </p:tavLst>
                                    </p:anim>
                                    <p:anim calcmode="lin" valueType="num">
                                      <p:cBhvr>
                                        <p:cTn id="1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774478" y="6193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98049" y="255686"/>
            <a:ext cx="2261711" cy="346249"/>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研究意义</a:t>
            </a:r>
          </a:p>
        </p:txBody>
      </p:sp>
      <p:pic>
        <p:nvPicPr>
          <p:cNvPr id="3" name="图片 2" descr="1-3"/>
          <p:cNvPicPr>
            <a:picLocks noChangeAspect="1"/>
          </p:cNvPicPr>
          <p:nvPr/>
        </p:nvPicPr>
        <p:blipFill>
          <a:blip r:embed="rId3"/>
          <a:stretch>
            <a:fillRect/>
          </a:stretch>
        </p:blipFill>
        <p:spPr>
          <a:xfrm>
            <a:off x="2654300" y="527050"/>
            <a:ext cx="3835400" cy="40894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5"/>
                                        </p:tgtEl>
                                        <p:attrNameLst>
                                          <p:attrName>ppt_y</p:attrName>
                                        </p:attrNameLst>
                                      </p:cBhvr>
                                      <p:tavLst>
                                        <p:tav tm="0">
                                          <p:val>
                                            <p:strVal val="#ppt_y"/>
                                          </p:val>
                                        </p:tav>
                                        <p:tav tm="100000">
                                          <p:val>
                                            <p:strVal val="#ppt_y"/>
                                          </p:val>
                                        </p:tav>
                                      </p:tavLst>
                                    </p:anim>
                                    <p:anim calcmode="lin" valueType="num">
                                      <p:cBhvr>
                                        <p:cTn id="1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blip>
          <a:srcRect/>
          <a:stretch>
            <a:fillRect/>
          </a:stretch>
        </a:blipFill>
        <a:effectLst/>
      </p:bgPr>
    </p:bg>
    <p:spTree>
      <p:nvGrpSpPr>
        <p:cNvPr id="1" name=""/>
        <p:cNvGrpSpPr/>
        <p:nvPr/>
      </p:nvGrpSpPr>
      <p:grpSpPr>
        <a:xfrm>
          <a:off x="0" y="0"/>
          <a:ext cx="0" cy="0"/>
          <a:chOff x="0" y="0"/>
          <a:chExt cx="0" cy="0"/>
        </a:xfrm>
      </p:grpSpPr>
      <p:sp>
        <p:nvSpPr>
          <p:cNvPr id="102" name="椭圆 101"/>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1"/>
          <p:cNvSpPr txBox="1"/>
          <p:nvPr/>
        </p:nvSpPr>
        <p:spPr>
          <a:xfrm>
            <a:off x="2483768" y="2709756"/>
            <a:ext cx="4171762" cy="591185"/>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sym typeface="+mn-lt"/>
              </a:rPr>
              <a:t>结构设计</a:t>
            </a:r>
          </a:p>
        </p:txBody>
      </p:sp>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02</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600"/>
                                        <p:tgtEl>
                                          <p:spTgt spid="10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animEffect transition="in" filter="fade">
                                      <p:cBhvr>
                                        <p:cTn id="13" dur="500"/>
                                        <p:tgtEl>
                                          <p:spTgt spid="10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3"/>
                                        </p:tgtEl>
                                        <p:attrNameLst>
                                          <p:attrName>style.visibility</p:attrName>
                                        </p:attrNameLst>
                                      </p:cBhvr>
                                      <p:to>
                                        <p:strVal val="visible"/>
                                      </p:to>
                                    </p:set>
                                    <p:anim calcmode="lin" valueType="num">
                                      <p:cBhvr>
                                        <p:cTn id="17" dur="500" fill="hold"/>
                                        <p:tgtEl>
                                          <p:spTgt spid="10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3"/>
                                        </p:tgtEl>
                                        <p:attrNameLst>
                                          <p:attrName>ppt_y</p:attrName>
                                        </p:attrNameLst>
                                      </p:cBhvr>
                                      <p:tavLst>
                                        <p:tav tm="0">
                                          <p:val>
                                            <p:strVal val="#ppt_y"/>
                                          </p:val>
                                        </p:tav>
                                        <p:tav tm="100000">
                                          <p:val>
                                            <p:strVal val="#ppt_y"/>
                                          </p:val>
                                        </p:tav>
                                      </p:tavLst>
                                    </p:anim>
                                    <p:anim calcmode="lin" valueType="num">
                                      <p:cBhvr>
                                        <p:cTn id="19" dur="500" fill="hold"/>
                                        <p:tgtEl>
                                          <p:spTgt spid="10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p:bldP spid="10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2940685" cy="388747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传统离散型刚性串联机械臂是基于人类上肢设计的仿生结构，由基本机构组成，，通常包括底座（Base）、关节（Joint）、连杆（Link）、手臂（Arm）、末端执行器（End Effector）、驱动装置（Drive System）、控制系统（Control System） 七个部分。</a:t>
            </a:r>
          </a:p>
          <a:p>
            <a:pPr indent="457200" algn="just">
              <a:lnSpc>
                <a:spcPct val="150000"/>
              </a:lnSpc>
              <a:buClrTx/>
              <a:buSzTx/>
              <a:buFontTx/>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为达到模块化调整各关节自由度的目的，以连接关节使其相对运动的连杆为切入点，设计主要的模块化接口，并在关节部分预留驱动装置的安装位置，在底座与连杆，连杆与末端执行器部分将这一接口统一标准，实现各模块灵活连接的功能</a:t>
            </a:r>
            <a:r>
              <a:rPr lang="zh-CN" altLang="en-US"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a:t>
            </a:r>
          </a:p>
          <a:p>
            <a:pPr indent="457200" algn="just">
              <a:lnSpc>
                <a:spcPct val="150000"/>
              </a:lnSpc>
            </a:pPr>
            <a:endParaRPr lang="zh-CN" altLang="en-US"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2-2"/>
          <p:cNvPicPr>
            <a:picLocks noChangeAspect="1"/>
          </p:cNvPicPr>
          <p:nvPr/>
        </p:nvPicPr>
        <p:blipFill>
          <a:blip r:embed="rId3"/>
          <a:stretch>
            <a:fillRect/>
          </a:stretch>
        </p:blipFill>
        <p:spPr>
          <a:xfrm>
            <a:off x="3715385" y="1080135"/>
            <a:ext cx="2410460" cy="2982595"/>
          </a:xfrm>
          <a:prstGeom prst="rect">
            <a:avLst/>
          </a:prstGeom>
        </p:spPr>
      </p:pic>
      <p:pic>
        <p:nvPicPr>
          <p:cNvPr id="4" name="图片 3" descr="2-3"/>
          <p:cNvPicPr>
            <a:picLocks noChangeAspect="1"/>
          </p:cNvPicPr>
          <p:nvPr/>
        </p:nvPicPr>
        <p:blipFill>
          <a:blip r:embed="rId4"/>
          <a:stretch>
            <a:fillRect/>
          </a:stretch>
        </p:blipFill>
        <p:spPr>
          <a:xfrm>
            <a:off x="6108065" y="546100"/>
            <a:ext cx="2298700" cy="43751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2940685" cy="388747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将机械臂整体分为底座(Base)、关节模块(Joint Module)、末端执行模块(Holder/Sensor Module)三个部分。其中底座部分预留拓展接口，可连接嵌入式控制器拓展机械臂深度强化学习功能；预留供电接口，在负载较多时可外接电源保障驱动装置和控制系统稳定运行。关节模块由若干个子模块组成，根据驱动装置不同的连接标准件定义，每个子模块可任意方向任意顺序连接。末端执行模块可由机械夹具(Holder Module)和以若干种传感</a:t>
            </a:r>
            <a:r>
              <a:rPr lang="zh-CN" altLang="en-US"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。器为核心的传感器模块(Sensor Module)组成，工作过程中可根据场景的需要选择其中一种，并连接使用。</a:t>
            </a:r>
          </a:p>
        </p:txBody>
      </p:sp>
      <p:pic>
        <p:nvPicPr>
          <p:cNvPr id="3" name="图片 2" descr="2-4"/>
          <p:cNvPicPr>
            <a:picLocks noChangeAspect="1"/>
          </p:cNvPicPr>
          <p:nvPr/>
        </p:nvPicPr>
        <p:blipFill>
          <a:blip r:embed="rId3"/>
          <a:stretch>
            <a:fillRect/>
          </a:stretch>
        </p:blipFill>
        <p:spPr>
          <a:xfrm>
            <a:off x="4044950" y="499745"/>
            <a:ext cx="4372610" cy="43097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35025" y="3712210"/>
            <a:ext cx="7562215" cy="105537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模块化连接组件须保证安装与拆卸过程简便快捷和使用过程中连接稳固，由此联想到了中国传统古建筑木结构中的榫卯节点。榫卯节点(Mortise and tenonjoints)是古建筑木结构中的重要组成部分，由于其独特的连接方式和木材特有的力学性能使其既能承受一定的弯矩，又能产生一定的变形，具有典型的半刚性连接特性</a:t>
            </a:r>
          </a:p>
        </p:txBody>
      </p:sp>
      <p:pic>
        <p:nvPicPr>
          <p:cNvPr id="2" name="图片 1" descr="2-5"/>
          <p:cNvPicPr>
            <a:picLocks noChangeAspect="1"/>
          </p:cNvPicPr>
          <p:nvPr/>
        </p:nvPicPr>
        <p:blipFill>
          <a:blip r:embed="rId3"/>
          <a:stretch>
            <a:fillRect/>
          </a:stretch>
        </p:blipFill>
        <p:spPr>
          <a:xfrm>
            <a:off x="2045970" y="791210"/>
            <a:ext cx="5140325" cy="2921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774700" y="758190"/>
            <a:ext cx="7562215" cy="93980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其中燕尾榫节点，常采用“放乍”、 收溜”的做法，即榫头部分做成头部宽、根部窄， 上部大、下部小的形式。因此，燕尾榫节点具有较好 的抗拉拔能力，广泛用于需要拉结的部位中。如图 2-6 所示，而十字刻半榫用于方形水平构件之间的搭接，作用是连接两榀木构架， 增强木构架平面外的稳定性和抗侧能力。</a:t>
            </a:r>
          </a:p>
        </p:txBody>
      </p:sp>
      <p:pic>
        <p:nvPicPr>
          <p:cNvPr id="3" name="图片 2" descr="3"/>
          <p:cNvPicPr>
            <a:picLocks noChangeAspect="1"/>
          </p:cNvPicPr>
          <p:nvPr/>
        </p:nvPicPr>
        <p:blipFill>
          <a:blip r:embed="rId3"/>
          <a:srcRect t="4292"/>
          <a:stretch>
            <a:fillRect/>
          </a:stretch>
        </p:blipFill>
        <p:spPr>
          <a:xfrm>
            <a:off x="1669415" y="1735455"/>
            <a:ext cx="5772785" cy="2180590"/>
          </a:xfrm>
          <a:prstGeom prst="rect">
            <a:avLst/>
          </a:prstGeom>
        </p:spPr>
      </p:pic>
      <p:sp>
        <p:nvSpPr>
          <p:cNvPr id="4" name="矩形 3"/>
          <p:cNvSpPr/>
          <p:nvPr/>
        </p:nvSpPr>
        <p:spPr>
          <a:xfrm>
            <a:off x="791210" y="3987165"/>
            <a:ext cx="7562215" cy="93980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根据机械臂模块化连接的的需求，结合燕尾榫头部宽、根部窄和十字刻半榫用于方形水平构件之间的搭接的特点，设计了“T”字型和“N”字形连接节点，其中“T”连接节点位于连接组件顶部，“N”连接节点位于连接组件底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3140075" cy="3800475"/>
          </a:xfrm>
          <a:prstGeom prst="rect">
            <a:avLst/>
          </a:prstGeom>
        </p:spPr>
        <p:txBody>
          <a:bodyPr wrap="square">
            <a:noAutofit/>
          </a:bodyPr>
          <a:lstStyle/>
          <a:p>
            <a:pPr indent="457200" algn="just">
              <a:lnSpc>
                <a:spcPct val="150000"/>
              </a:lnSpc>
            </a:pPr>
            <a:r>
              <a:rPr lang="zh-CN" altLang="en-US"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如图 2-7 所示，机械臂模块化连接组件底部设计有 4 个直径 3mm、深度 3mm的 M3 型号螺丝孔，用于固定驱动装置。靠后边缘设计有一个宽 30mm、高 58.72mm的 PCB 固定槽，用于在垂直方向固定 PCB 线路板。</a:t>
            </a:r>
          </a:p>
        </p:txBody>
      </p:sp>
      <p:pic>
        <p:nvPicPr>
          <p:cNvPr id="2" name="图片 1" descr="4"/>
          <p:cNvPicPr>
            <a:picLocks noChangeAspect="1"/>
          </p:cNvPicPr>
          <p:nvPr/>
        </p:nvPicPr>
        <p:blipFill>
          <a:blip r:embed="rId3"/>
          <a:stretch>
            <a:fillRect/>
          </a:stretch>
        </p:blipFill>
        <p:spPr>
          <a:xfrm>
            <a:off x="4366895" y="559435"/>
            <a:ext cx="3845560" cy="4080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62330" y="3712210"/>
            <a:ext cx="7562215" cy="105537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如图 2-8 所示，加粗部分为“N”字型连接节点，在正视靠前边缘处建立坐标系{A}，定义垂直于连接组件驱动装置固定平面为 Z 轴，平行于连接截面为 X轴，垂直于连接截面为 Y 轴。该连接节点可沿 X 轴方向运动以达到连接“T”字型节点的目的。</a:t>
            </a:r>
          </a:p>
        </p:txBody>
      </p:sp>
      <p:pic>
        <p:nvPicPr>
          <p:cNvPr id="3" name="图片 2" descr="5"/>
          <p:cNvPicPr>
            <a:picLocks noChangeAspect="1"/>
          </p:cNvPicPr>
          <p:nvPr/>
        </p:nvPicPr>
        <p:blipFill>
          <a:blip r:embed="rId3"/>
          <a:stretch>
            <a:fillRect/>
          </a:stretch>
        </p:blipFill>
        <p:spPr>
          <a:xfrm>
            <a:off x="1931035" y="897255"/>
            <a:ext cx="5425440" cy="29254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3140075" cy="3800475"/>
          </a:xfrm>
          <a:prstGeom prst="rect">
            <a:avLst/>
          </a:prstGeom>
        </p:spPr>
        <p:txBody>
          <a:bodyPr wrap="square">
            <a:noAutofit/>
          </a:bodyPr>
          <a:lstStyle/>
          <a:p>
            <a:pPr indent="457200" algn="just">
              <a:lnSpc>
                <a:spcPct val="150000"/>
              </a:lnSpc>
            </a:pPr>
            <a:r>
              <a:rPr lang="zh-CN" altLang="en-US"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如图 2-9 所示，机械臂模块化连接组件顶部设计有 4 个直径 3mm、深度 3mm的 M3 型号螺丝孔，用于固定驱动装置。靠后边缘设计有一个“L”形的 PCB 固定槽，用于在水平方向固定 PCB 线路板。</a:t>
            </a:r>
          </a:p>
        </p:txBody>
      </p:sp>
      <p:pic>
        <p:nvPicPr>
          <p:cNvPr id="3" name="图片 2" descr="6"/>
          <p:cNvPicPr>
            <a:picLocks noChangeAspect="1"/>
          </p:cNvPicPr>
          <p:nvPr/>
        </p:nvPicPr>
        <p:blipFill>
          <a:blip r:embed="rId3"/>
          <a:stretch>
            <a:fillRect/>
          </a:stretch>
        </p:blipFill>
        <p:spPr>
          <a:xfrm>
            <a:off x="4151630" y="511810"/>
            <a:ext cx="4033520" cy="39814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62330" y="3712210"/>
            <a:ext cx="7562215" cy="105537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如图 2-</a:t>
            </a:r>
            <a:r>
              <a:rPr lang="en-US" altLang="zh-CN"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10</a:t>
            </a: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所示，机械臂模块化连接组件顶部设计有 4 个直径 3mm、深度 3mm的 M3 型号螺丝孔，用于固定驱动装置。靠后边缘设计有一个“L”形的 PCB 固定槽，用于在水平方向固定 PCB 线路板。</a:t>
            </a:r>
          </a:p>
        </p:txBody>
      </p:sp>
      <p:pic>
        <p:nvPicPr>
          <p:cNvPr id="2" name="图片 1" descr="7"/>
          <p:cNvPicPr>
            <a:picLocks noChangeAspect="1"/>
          </p:cNvPicPr>
          <p:nvPr/>
        </p:nvPicPr>
        <p:blipFill>
          <a:blip r:embed="rId3"/>
          <a:stretch>
            <a:fillRect/>
          </a:stretch>
        </p:blipFill>
        <p:spPr>
          <a:xfrm>
            <a:off x="1417320" y="779145"/>
            <a:ext cx="6540500" cy="30568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3140075" cy="3800475"/>
          </a:xfrm>
          <a:prstGeom prst="rect">
            <a:avLst/>
          </a:prstGeom>
        </p:spPr>
        <p:txBody>
          <a:bodyPr wrap="square">
            <a:noAutofit/>
          </a:bodyPr>
          <a:lstStyle/>
          <a:p>
            <a:pPr indent="457200" algn="just">
              <a:lnSpc>
                <a:spcPct val="150000"/>
              </a:lnSpc>
            </a:pPr>
            <a:r>
              <a:rPr lang="zh-CN" altLang="en-US"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如图 2-1</a:t>
            </a:r>
            <a:r>
              <a:rPr lang="en-US" altLang="zh-CN"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所示，加粗部分为“T”字型连接节点，在正视靠前边缘处建立坐标系{B}，定义垂直于连接组件驱动装置固定平面为 Z 轴，平行于正视图连接截面为 X 轴，垂直于正视图连接截面为 Y 轴。</a:t>
            </a:r>
          </a:p>
        </p:txBody>
      </p:sp>
      <p:pic>
        <p:nvPicPr>
          <p:cNvPr id="2" name="图片 1" descr="8"/>
          <p:cNvPicPr>
            <a:picLocks noChangeAspect="1"/>
          </p:cNvPicPr>
          <p:nvPr/>
        </p:nvPicPr>
        <p:blipFill>
          <a:blip r:embed="rId3"/>
          <a:stretch>
            <a:fillRect/>
          </a:stretch>
        </p:blipFill>
        <p:spPr>
          <a:xfrm>
            <a:off x="4214495" y="554355"/>
            <a:ext cx="3978910" cy="40354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2626360" cy="3800475"/>
          </a:xfrm>
          <a:prstGeom prst="rect">
            <a:avLst/>
          </a:prstGeom>
        </p:spPr>
        <p:txBody>
          <a:bodyPr wrap="square">
            <a:noAutofit/>
          </a:bodyPr>
          <a:lstStyle/>
          <a:p>
            <a:pPr indent="457200" algn="just">
              <a:lnSpc>
                <a:spcPct val="150000"/>
              </a:lnSpc>
            </a:pPr>
            <a:r>
              <a:rPr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如图 2-11 所示，“N”字型连接节点在{A}系 X 方向可沿“T”字型连接节点{B}系 X 和 Y 方向运动，可以将两个连接节点以相互垂直的两个方向连接，达到了增加机械臂自由度的目的。</a:t>
            </a:r>
          </a:p>
        </p:txBody>
      </p:sp>
      <p:pic>
        <p:nvPicPr>
          <p:cNvPr id="3" name="图片 2" descr="9"/>
          <p:cNvPicPr>
            <a:picLocks noChangeAspect="1"/>
          </p:cNvPicPr>
          <p:nvPr/>
        </p:nvPicPr>
        <p:blipFill>
          <a:blip r:embed="rId3"/>
          <a:stretch>
            <a:fillRect/>
          </a:stretch>
        </p:blipFill>
        <p:spPr>
          <a:xfrm>
            <a:off x="3912870" y="282575"/>
            <a:ext cx="4156710" cy="44850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95021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模块化硬件结构设计及装配</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7291070" cy="852170"/>
          </a:xfrm>
          <a:prstGeom prst="rect">
            <a:avLst/>
          </a:prstGeom>
        </p:spPr>
        <p:txBody>
          <a:bodyPr wrap="square">
            <a:noAutofit/>
          </a:bodyPr>
          <a:lstStyle/>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为保障机械臂各关节平稳运行，驱动装置选取众灵科技 15kg.cm 扭矩 PWM 信号数字舵机</a:t>
            </a:r>
            <a:r>
              <a:rPr lang="zh-CN"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2" name="图片 1" descr="2-15"/>
          <p:cNvPicPr>
            <a:picLocks noChangeAspect="1"/>
          </p:cNvPicPr>
          <p:nvPr/>
        </p:nvPicPr>
        <p:blipFill>
          <a:blip r:embed="rId3"/>
          <a:stretch>
            <a:fillRect/>
          </a:stretch>
        </p:blipFill>
        <p:spPr>
          <a:xfrm>
            <a:off x="1943100" y="1452880"/>
            <a:ext cx="5257800" cy="3378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4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95021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模块化硬件结构设计及装配</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7291070" cy="518795"/>
          </a:xfrm>
          <a:prstGeom prst="rect">
            <a:avLst/>
          </a:prstGeom>
        </p:spPr>
        <p:txBody>
          <a:bodyPr wrap="square">
            <a:noAutofit/>
          </a:bodyPr>
          <a:lstStyle/>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装配舵机 90°和 45°双轴支架标准件并构建 3D 模型。</a:t>
            </a:r>
          </a:p>
        </p:txBody>
      </p:sp>
      <p:pic>
        <p:nvPicPr>
          <p:cNvPr id="4" name="图片 3" descr="11"/>
          <p:cNvPicPr>
            <a:picLocks noChangeAspect="1"/>
          </p:cNvPicPr>
          <p:nvPr/>
        </p:nvPicPr>
        <p:blipFill>
          <a:blip r:embed="rId3"/>
          <a:stretch>
            <a:fillRect/>
          </a:stretch>
        </p:blipFill>
        <p:spPr>
          <a:xfrm>
            <a:off x="1798955" y="1139190"/>
            <a:ext cx="5472430" cy="35985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4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2626360" cy="3800475"/>
          </a:xfrm>
          <a:prstGeom prst="rect">
            <a:avLst/>
          </a:prstGeom>
        </p:spPr>
        <p:txBody>
          <a:bodyPr wrap="square">
            <a:noAutofit/>
          </a:bodyPr>
          <a:lstStyle/>
          <a:p>
            <a:pPr indent="457200" algn="just">
              <a:lnSpc>
                <a:spcPct val="150000"/>
              </a:lnSpc>
            </a:pPr>
            <a:r>
              <a:rPr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伺服控制系统选取基于 RP2040 芯片的 Raspberry Pi Pico W SMT 封装开发板作为控制载体，搭载了双核 ARM Cortex M0 + 处理器，运行频率高达 133MHz灵活时钟,内置了 264KB 的 SRAM 和 2MB 的片上 Flash，搭载 2 个 SPI，2 个 I2C，2 个 UART，3 个 12 位 ADC，16 个可控 PWM 通道，精确的片上时钟和定时器温度传感器。板载 2.4GHz 无线接口芯片(802.11n 或 Wifi4)，可进行 TCP/IP 协议的网络通信，拓展网络控制的相关功能。</a:t>
            </a:r>
          </a:p>
        </p:txBody>
      </p:sp>
      <p:pic>
        <p:nvPicPr>
          <p:cNvPr id="2" name="图片 1" descr="2-18"/>
          <p:cNvPicPr>
            <a:picLocks noChangeAspect="1"/>
          </p:cNvPicPr>
          <p:nvPr/>
        </p:nvPicPr>
        <p:blipFill>
          <a:blip r:embed="rId3"/>
          <a:stretch>
            <a:fillRect/>
          </a:stretch>
        </p:blipFill>
        <p:spPr>
          <a:xfrm>
            <a:off x="3940810" y="912495"/>
            <a:ext cx="4147820" cy="3491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71006" y="758190"/>
            <a:ext cx="3676559" cy="3800475"/>
          </a:xfrm>
          <a:prstGeom prst="rect">
            <a:avLst/>
          </a:prstGeom>
        </p:spPr>
        <p:txBody>
          <a:bodyPr wrap="square">
            <a:noAutofit/>
          </a:bodyPr>
          <a:lstStyle/>
          <a:p>
            <a:pPr indent="457200" algn="just">
              <a:lnSpc>
                <a:spcPct val="150000"/>
              </a:lnSpc>
            </a:pPr>
            <a:r>
              <a:rPr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搭载控制载体的 Base 主板上除了基本的信号接口，还拓展了一路 SPI 协议接口和一路 I2C </a:t>
            </a:r>
            <a:r>
              <a:rPr sz="1000" kern="100" dirty="0" err="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协议接口，用于连接嵌入式控制器拓展机械臂深度强化学习功能；预留了供电接口，在负载较多时可外接电源保障驱动装置和控制系统稳定运</a:t>
            </a:r>
            <a:r>
              <a:rPr lang="zh-CN" altLang="en-US"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行。</a:t>
            </a:r>
            <a:endParaRPr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用于各关节模块的 Joint A 和 Joint B 连接板上分别搭载了 3 路 PWM 数字接口、5 路 LED 状态指示灯和 3 路舵机信号选择器，用于为舵机传输稳定的 PWM </a:t>
            </a:r>
            <a:r>
              <a:rPr sz="1000" kern="100" dirty="0" err="1">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信号、反馈机械臂实时状态和选择舵机的信号接口，可使用跳线帽进行操</a:t>
            </a:r>
            <a:r>
              <a:rPr lang="zh-CN" altLang="en-US"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作。</a:t>
            </a:r>
            <a:endParaRPr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indent="457200" algn="just">
              <a:lnSpc>
                <a:spcPct val="150000"/>
              </a:lnSpc>
            </a:pPr>
            <a:r>
              <a:rPr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连接末端执行器的 Holder/Sensor 连接板上搭载了 2 路 ADC/DC 模数转化接口，用于连接模拟传感器，3 路数字 PWM 接口，用于连接数字传感器和舵机驱动的机械夹具。</a:t>
            </a:r>
          </a:p>
          <a:p>
            <a:pPr indent="457200" algn="just">
              <a:lnSpc>
                <a:spcPct val="150000"/>
              </a:lnSpc>
            </a:pPr>
            <a:r>
              <a:rPr sz="10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各模块之间使用 16P 2.54mm 封装的金手指插件及插座连接，模块内使用 12P 1mm 封装的 FPC 连接线和 XH 3P 2.54mm 封装的端子线连接，保障了供电和信号传输的稳定性和拆卸安装的便捷性。</a:t>
            </a:r>
          </a:p>
        </p:txBody>
      </p:sp>
      <p:pic>
        <p:nvPicPr>
          <p:cNvPr id="3" name="图片 2" descr="2-23"/>
          <p:cNvPicPr>
            <a:picLocks noChangeAspect="1"/>
          </p:cNvPicPr>
          <p:nvPr/>
        </p:nvPicPr>
        <p:blipFill>
          <a:blip r:embed="rId3"/>
          <a:stretch>
            <a:fillRect/>
          </a:stretch>
        </p:blipFill>
        <p:spPr>
          <a:xfrm>
            <a:off x="4885690" y="438785"/>
            <a:ext cx="3620770" cy="41198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泪滴形 14"/>
          <p:cNvSpPr/>
          <p:nvPr>
            <p:custDataLst>
              <p:tags r:id="rId1"/>
            </p:custDataLst>
          </p:nvPr>
        </p:nvSpPr>
        <p:spPr>
          <a:xfrm>
            <a:off x="652928" y="1301991"/>
            <a:ext cx="602227" cy="602227"/>
          </a:xfrm>
          <a:prstGeom prst="teardrop">
            <a:avLst/>
          </a:prstGeom>
          <a:solidFill>
            <a:schemeClr val="tx1">
              <a:lumMod val="50000"/>
              <a:lumOff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custDataLst>
              <p:tags r:id="rId2"/>
            </p:custDataLst>
          </p:nvPr>
        </p:nvGrpSpPr>
        <p:grpSpPr>
          <a:xfrm>
            <a:off x="807663" y="1382944"/>
            <a:ext cx="264816" cy="364121"/>
            <a:chOff x="6766243" y="2767965"/>
            <a:chExt cx="139700" cy="192088"/>
          </a:xfrm>
          <a:solidFill>
            <a:schemeClr val="bg1"/>
          </a:solidFill>
        </p:grpSpPr>
        <p:sp>
          <p:nvSpPr>
            <p:cNvPr id="31762" name="Rectangle 27"/>
            <p:cNvSpPr/>
            <p:nvPr>
              <p:custDataLst>
                <p:tags r:id="rId4"/>
              </p:custDataLst>
            </p:nvPr>
          </p:nvSpPr>
          <p:spPr>
            <a:xfrm>
              <a:off x="6766243" y="2807653"/>
              <a:ext cx="22225" cy="152400"/>
            </a:xfrm>
            <a:prstGeom prst="rect">
              <a:avLst/>
            </a:prstGeom>
            <a:grpFill/>
            <a:ln w="9525">
              <a:noFill/>
              <a:miter/>
            </a:ln>
          </p:spPr>
          <p:txBody>
            <a:bodyPr/>
            <a:lstStyle/>
            <a:p>
              <a:pPr lvl="0" eaLnBrk="1" hangingPunct="1"/>
              <a:endParaRPr lang="zh-CN" altLang="en-US" dirty="0">
                <a:cs typeface="+mn-ea"/>
                <a:sym typeface="+mn-lt"/>
              </a:endParaRPr>
            </a:p>
          </p:txBody>
        </p:sp>
        <p:sp>
          <p:nvSpPr>
            <p:cNvPr id="31763" name="Rectangle 28"/>
            <p:cNvSpPr/>
            <p:nvPr>
              <p:custDataLst>
                <p:tags r:id="rId5"/>
              </p:custDataLst>
            </p:nvPr>
          </p:nvSpPr>
          <p:spPr>
            <a:xfrm>
              <a:off x="6807518" y="2783840"/>
              <a:ext cx="20637" cy="176213"/>
            </a:xfrm>
            <a:prstGeom prst="rect">
              <a:avLst/>
            </a:prstGeom>
            <a:grpFill/>
            <a:ln w="9525">
              <a:noFill/>
              <a:miter/>
            </a:ln>
          </p:spPr>
          <p:txBody>
            <a:bodyPr/>
            <a:lstStyle/>
            <a:p>
              <a:pPr lvl="0" eaLnBrk="1" hangingPunct="1"/>
              <a:endParaRPr lang="zh-CN" altLang="en-US" dirty="0">
                <a:cs typeface="+mn-ea"/>
                <a:sym typeface="+mn-lt"/>
              </a:endParaRPr>
            </a:p>
          </p:txBody>
        </p:sp>
        <p:sp>
          <p:nvSpPr>
            <p:cNvPr id="31764" name="Rectangle 29"/>
            <p:cNvSpPr/>
            <p:nvPr>
              <p:custDataLst>
                <p:tags r:id="rId6"/>
              </p:custDataLst>
            </p:nvPr>
          </p:nvSpPr>
          <p:spPr>
            <a:xfrm>
              <a:off x="6844030" y="2767965"/>
              <a:ext cx="22225" cy="192088"/>
            </a:xfrm>
            <a:prstGeom prst="rect">
              <a:avLst/>
            </a:prstGeom>
            <a:grpFill/>
            <a:ln w="9525">
              <a:noFill/>
              <a:miter/>
            </a:ln>
          </p:spPr>
          <p:txBody>
            <a:bodyPr/>
            <a:lstStyle/>
            <a:p>
              <a:pPr lvl="0" eaLnBrk="1" hangingPunct="1"/>
              <a:endParaRPr lang="zh-CN" altLang="en-US" dirty="0">
                <a:cs typeface="+mn-ea"/>
                <a:sym typeface="+mn-lt"/>
              </a:endParaRPr>
            </a:p>
          </p:txBody>
        </p:sp>
        <p:sp>
          <p:nvSpPr>
            <p:cNvPr id="31765" name="Rectangle 30"/>
            <p:cNvSpPr/>
            <p:nvPr>
              <p:custDataLst>
                <p:tags r:id="rId7"/>
              </p:custDataLst>
            </p:nvPr>
          </p:nvSpPr>
          <p:spPr>
            <a:xfrm>
              <a:off x="6882130" y="2866390"/>
              <a:ext cx="23813" cy="93663"/>
            </a:xfrm>
            <a:prstGeom prst="rect">
              <a:avLst/>
            </a:prstGeom>
            <a:grpFill/>
            <a:ln w="9525">
              <a:noFill/>
              <a:miter/>
            </a:ln>
          </p:spPr>
          <p:txBody>
            <a:bodyPr/>
            <a:lstStyle/>
            <a:p>
              <a:pPr lvl="0" eaLnBrk="1" hangingPunct="1"/>
              <a:endParaRPr lang="zh-CN" altLang="en-US" dirty="0">
                <a:cs typeface="+mn-ea"/>
                <a:sym typeface="+mn-lt"/>
              </a:endParaRPr>
            </a:p>
          </p:txBody>
        </p:sp>
      </p:grpSp>
      <p:cxnSp>
        <p:nvCxnSpPr>
          <p:cNvPr id="33" name="直接连接符 32"/>
          <p:cNvCxnSpPr/>
          <p:nvPr/>
        </p:nvCxnSpPr>
        <p:spPr>
          <a:xfrm>
            <a:off x="774478" y="6193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563504" y="209331"/>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sp>
        <p:nvSpPr>
          <p:cNvPr id="7" name="矩形: 圆角 6"/>
          <p:cNvSpPr/>
          <p:nvPr>
            <p:custDataLst>
              <p:tags r:id="rId3"/>
            </p:custDataLst>
          </p:nvPr>
        </p:nvSpPr>
        <p:spPr>
          <a:xfrm>
            <a:off x="1412875" y="1367790"/>
            <a:ext cx="7136765" cy="2407285"/>
          </a:xfrm>
          <a:prstGeom prst="roundRect">
            <a:avLst>
              <a:gd name="adj" fmla="val 3429"/>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12875" y="1498600"/>
            <a:ext cx="6873240" cy="2773045"/>
          </a:xfrm>
          <a:prstGeom prst="rect">
            <a:avLst/>
          </a:prstGeom>
          <a:noFill/>
        </p:spPr>
        <p:txBody>
          <a:bodyPr wrap="square" rtlCol="0">
            <a:noAutofit/>
          </a:bodyPr>
          <a:lstStyle/>
          <a:p>
            <a:pPr marL="457200" lvl="1" indent="457200" algn="l">
              <a:lnSpc>
                <a:spcPct val="200000"/>
              </a:lnSpc>
              <a:buClrTx/>
              <a:buSzTx/>
              <a:buNone/>
            </a:pPr>
            <a:r>
              <a:rPr sz="1600" dirty="0">
                <a:latin typeface="微软雅黑" panose="020B0503020204020204" pitchFamily="34" charset="-122"/>
                <a:ea typeface="微软雅黑" panose="020B0503020204020204" pitchFamily="34" charset="-122"/>
              </a:rPr>
              <a:t>末端执行器需完成不同场景下的特定工作，保障机械臂在不同环境的空间适应性。模块化设计可以使得机械臂在不同任务之间快速切换，从而提高生产效率和灵活性。每种场景模块都固定在与关节模块相同的模块化组件上，统一接口，以达到各部分灵活组合的目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calcmode="lin" valueType="num">
                                      <p:cBhvr>
                                        <p:cTn id="11"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5"/>
                                        </p:tgtEl>
                                        <p:attrNameLst>
                                          <p:attrName>ppt_y</p:attrName>
                                        </p:attrNameLst>
                                      </p:cBhvr>
                                      <p:tavLst>
                                        <p:tav tm="0">
                                          <p:val>
                                            <p:strVal val="#ppt_y"/>
                                          </p:val>
                                        </p:tav>
                                        <p:tav tm="100000">
                                          <p:val>
                                            <p:strVal val="#ppt_y"/>
                                          </p:val>
                                        </p:tav>
                                      </p:tavLst>
                                    </p:anim>
                                    <p:anim calcmode="lin" valueType="num">
                                      <p:cBhvr>
                                        <p:cTn id="13"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835025" y="4064635"/>
            <a:ext cx="7562215" cy="75946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平行夹具用于直径≤50mm 刚性及柔性物体的抓取，可完成自动化制造、救援、医疗等场景的特定任务。</a:t>
            </a:r>
          </a:p>
        </p:txBody>
      </p:sp>
      <p:pic>
        <p:nvPicPr>
          <p:cNvPr id="3" name="图片 2" descr="2-26"/>
          <p:cNvPicPr>
            <a:picLocks noChangeAspect="1"/>
          </p:cNvPicPr>
          <p:nvPr/>
        </p:nvPicPr>
        <p:blipFill>
          <a:blip r:embed="rId3"/>
          <a:stretch>
            <a:fillRect/>
          </a:stretch>
        </p:blipFill>
        <p:spPr>
          <a:xfrm>
            <a:off x="3299460" y="504190"/>
            <a:ext cx="2772410" cy="36531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01345" y="4064635"/>
            <a:ext cx="7869555" cy="759460"/>
          </a:xfrm>
          <a:prstGeom prst="rect">
            <a:avLst/>
          </a:prstGeom>
        </p:spPr>
        <p:txBody>
          <a:bodyPr wrap="square">
            <a:noAutofit/>
          </a:bodyPr>
          <a:lstStyle/>
          <a:p>
            <a:pPr indent="457200" algn="just">
              <a:lnSpc>
                <a:spcPct val="150000"/>
              </a:lnSpc>
            </a:pP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超声波模块搭载了 HC-HR04 型号的数字超声波传感器，可探测机械臂末端执行器所处环境的当前距离并根据数字信号输出准确数据。可完成医疗、救援，特殊环境探测等场景的特定任务。</a:t>
            </a:r>
          </a:p>
        </p:txBody>
      </p:sp>
      <p:pic>
        <p:nvPicPr>
          <p:cNvPr id="2" name="图片 1" descr="2-25"/>
          <p:cNvPicPr>
            <a:picLocks noChangeAspect="1"/>
          </p:cNvPicPr>
          <p:nvPr/>
        </p:nvPicPr>
        <p:blipFill>
          <a:blip r:embed="rId3"/>
          <a:stretch>
            <a:fillRect/>
          </a:stretch>
        </p:blipFill>
        <p:spPr>
          <a:xfrm>
            <a:off x="2955290" y="756285"/>
            <a:ext cx="3233420" cy="32778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541020" y="4064635"/>
            <a:ext cx="8046085" cy="75946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气体成分模块搭载了 MQ 系列的模拟气体成分传感器，可探测机械臂末端执行器所处环境特定气体成分浓度并根据模拟信号输出准确数据，可完成救援，自动化制造，特殊环境探测等场景的特定任务。</a:t>
            </a:r>
          </a:p>
        </p:txBody>
      </p:sp>
      <p:pic>
        <p:nvPicPr>
          <p:cNvPr id="3" name="图片 2" descr="2-24"/>
          <p:cNvPicPr>
            <a:picLocks noChangeAspect="1"/>
          </p:cNvPicPr>
          <p:nvPr/>
        </p:nvPicPr>
        <p:blipFill>
          <a:blip r:embed="rId3"/>
          <a:stretch>
            <a:fillRect/>
          </a:stretch>
        </p:blipFill>
        <p:spPr>
          <a:xfrm>
            <a:off x="2936240" y="711835"/>
            <a:ext cx="3402330" cy="33597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2626360" cy="3800475"/>
          </a:xfrm>
          <a:prstGeom prst="rect">
            <a:avLst/>
          </a:prstGeom>
        </p:spPr>
        <p:txBody>
          <a:bodyPr wrap="square">
            <a:noAutofit/>
          </a:bodyPr>
          <a:lstStyle/>
          <a:p>
            <a:pPr indent="457200" algn="just">
              <a:lnSpc>
                <a:spcPct val="150000"/>
              </a:lnSpc>
            </a:pPr>
            <a:endParaRPr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descr="12"/>
          <p:cNvPicPr>
            <a:picLocks noChangeAspect="1"/>
          </p:cNvPicPr>
          <p:nvPr/>
        </p:nvPicPr>
        <p:blipFill>
          <a:blip r:embed="rId3"/>
          <a:stretch>
            <a:fillRect/>
          </a:stretch>
        </p:blipFill>
        <p:spPr>
          <a:xfrm>
            <a:off x="3126740" y="628015"/>
            <a:ext cx="5293360" cy="4152265"/>
          </a:xfrm>
          <a:prstGeom prst="rect">
            <a:avLst/>
          </a:prstGeom>
        </p:spPr>
      </p:pic>
      <p:sp>
        <p:nvSpPr>
          <p:cNvPr id="5" name="矩形 4"/>
          <p:cNvSpPr/>
          <p:nvPr/>
        </p:nvSpPr>
        <p:spPr>
          <a:xfrm>
            <a:off x="774700" y="757555"/>
            <a:ext cx="2261235" cy="4066540"/>
          </a:xfrm>
          <a:prstGeom prst="rect">
            <a:avLst/>
          </a:prstGeom>
        </p:spPr>
        <p:txBody>
          <a:bodyPr wrap="square">
            <a:noAutofit/>
          </a:bodyPr>
          <a:lstStyle/>
          <a:p>
            <a:pPr indent="457200" algn="just">
              <a:lnSpc>
                <a:spcPct val="150000"/>
              </a:lnSpc>
            </a:pPr>
            <a:r>
              <a:rPr lang="zh-CN" altLang="en-US"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在测试中，选择了 1 个 45°关节</a:t>
            </a:r>
            <a:r>
              <a:rPr lang="zh-CN" altLang="en-US"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模块、2 个 90°关节模块和底座模块、夹具模块、超声波探测模块、气体成分检测模块进行装配。整个系统可以稳定连接并简单快捷地装配重组，达到了搭建多场景模块化串联机械臂基本结构的目的。</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487" y="282863"/>
            <a:ext cx="2261711"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工作原理与布局设计</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11555" y="758190"/>
            <a:ext cx="2626360" cy="3800475"/>
          </a:xfrm>
          <a:prstGeom prst="rect">
            <a:avLst/>
          </a:prstGeom>
        </p:spPr>
        <p:txBody>
          <a:bodyPr wrap="square">
            <a:noAutofit/>
          </a:bodyPr>
          <a:lstStyle/>
          <a:p>
            <a:pPr indent="457200" algn="just">
              <a:lnSpc>
                <a:spcPct val="150000"/>
              </a:lnSpc>
            </a:pPr>
            <a:endParaRPr sz="12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渲染图"/>
          <p:cNvPicPr>
            <a:picLocks noChangeAspect="1"/>
          </p:cNvPicPr>
          <p:nvPr/>
        </p:nvPicPr>
        <p:blipFill>
          <a:blip r:embed="rId3"/>
          <a:srcRect l="23484" r="22207"/>
          <a:stretch>
            <a:fillRect/>
          </a:stretch>
        </p:blipFill>
        <p:spPr>
          <a:xfrm>
            <a:off x="2141220" y="669290"/>
            <a:ext cx="4961890" cy="39782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9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blip>
          <a:srcRect/>
          <a:stretch>
            <a:fillRect/>
          </a:stretch>
        </a:blipFill>
        <a:effectLst/>
      </p:bgPr>
    </p:bg>
    <p:spTree>
      <p:nvGrpSpPr>
        <p:cNvPr id="1" name=""/>
        <p:cNvGrpSpPr/>
        <p:nvPr/>
      </p:nvGrpSpPr>
      <p:grpSpPr>
        <a:xfrm>
          <a:off x="0" y="0"/>
          <a:ext cx="0" cy="0"/>
          <a:chOff x="0" y="0"/>
          <a:chExt cx="0" cy="0"/>
        </a:xfrm>
      </p:grpSpPr>
      <p:sp>
        <p:nvSpPr>
          <p:cNvPr id="100" name="椭圆 99"/>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文本框 11"/>
          <p:cNvSpPr txBox="1"/>
          <p:nvPr/>
        </p:nvSpPr>
        <p:spPr>
          <a:xfrm>
            <a:off x="2483768" y="2709756"/>
            <a:ext cx="4171762" cy="591185"/>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sym typeface="+mn-lt"/>
              </a:rPr>
              <a:t>分析优化</a:t>
            </a:r>
          </a:p>
        </p:txBody>
      </p:sp>
      <p:sp>
        <p:nvSpPr>
          <p:cNvPr id="103"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03</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heel(1)">
                                      <p:cBhvr>
                                        <p:cTn id="7" dur="600"/>
                                        <p:tgtEl>
                                          <p:spTgt spid="100"/>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 calcmode="lin" valueType="num">
                                      <p:cBhvr>
                                        <p:cTn id="11" dur="500" fill="hold"/>
                                        <p:tgtEl>
                                          <p:spTgt spid="103"/>
                                        </p:tgtEl>
                                        <p:attrNameLst>
                                          <p:attrName>ppt_w</p:attrName>
                                        </p:attrNameLst>
                                      </p:cBhvr>
                                      <p:tavLst>
                                        <p:tav tm="0">
                                          <p:val>
                                            <p:fltVal val="0"/>
                                          </p:val>
                                        </p:tav>
                                        <p:tav tm="100000">
                                          <p:val>
                                            <p:strVal val="#ppt_w"/>
                                          </p:val>
                                        </p:tav>
                                      </p:tavLst>
                                    </p:anim>
                                    <p:anim calcmode="lin" valueType="num">
                                      <p:cBhvr>
                                        <p:cTn id="12" dur="500" fill="hold"/>
                                        <p:tgtEl>
                                          <p:spTgt spid="103"/>
                                        </p:tgtEl>
                                        <p:attrNameLst>
                                          <p:attrName>ppt_h</p:attrName>
                                        </p:attrNameLst>
                                      </p:cBhvr>
                                      <p:tavLst>
                                        <p:tav tm="0">
                                          <p:val>
                                            <p:fltVal val="0"/>
                                          </p:val>
                                        </p:tav>
                                        <p:tav tm="100000">
                                          <p:val>
                                            <p:strVal val="#ppt_h"/>
                                          </p:val>
                                        </p:tav>
                                      </p:tavLst>
                                    </p:anim>
                                    <p:animEffect transition="in" filter="fade">
                                      <p:cBhvr>
                                        <p:cTn id="13" dur="500"/>
                                        <p:tgtEl>
                                          <p:spTgt spid="103"/>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1"/>
                                        </p:tgtEl>
                                        <p:attrNameLst>
                                          <p:attrName>style.visibility</p:attrName>
                                        </p:attrNameLst>
                                      </p:cBhvr>
                                      <p:to>
                                        <p:strVal val="visible"/>
                                      </p:to>
                                    </p:set>
                                    <p:anim calcmode="lin" valueType="num">
                                      <p:cBhvr>
                                        <p:cTn id="17" dur="500" fill="hold"/>
                                        <p:tgtEl>
                                          <p:spTgt spid="101"/>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1"/>
                                        </p:tgtEl>
                                        <p:attrNameLst>
                                          <p:attrName>ppt_y</p:attrName>
                                        </p:attrNameLst>
                                      </p:cBhvr>
                                      <p:tavLst>
                                        <p:tav tm="0">
                                          <p:val>
                                            <p:strVal val="#ppt_y"/>
                                          </p:val>
                                        </p:tav>
                                        <p:tav tm="100000">
                                          <p:val>
                                            <p:strVal val="#ppt_y"/>
                                          </p:val>
                                        </p:tav>
                                      </p:tavLst>
                                    </p:anim>
                                    <p:anim calcmode="lin" valueType="num">
                                      <p:cBhvr>
                                        <p:cTn id="19" dur="500" fill="hold"/>
                                        <p:tgtEl>
                                          <p:spTgt spid="101"/>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1"/>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p:bldP spid="10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81305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机械臂静应力有限元分析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nvSpPr>
        <p:spPr>
          <a:xfrm>
            <a:off x="829310" y="78041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nvSpPr>
        <p:spPr bwMode="auto">
          <a:xfrm>
            <a:off x="968375" y="89979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nvSpPr>
        <p:spPr>
          <a:xfrm>
            <a:off x="1496060" y="883920"/>
            <a:ext cx="153289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对模型网格划分</a:t>
            </a:r>
            <a:endParaRPr lang="zh-CN" altLang="en-US" sz="1800" b="1" dirty="0">
              <a:solidFill>
                <a:schemeClr val="tx1">
                  <a:lumMod val="65000"/>
                  <a:lumOff val="35000"/>
                </a:schemeClr>
              </a:solidFill>
              <a:cs typeface="+mn-ea"/>
            </a:endParaRPr>
          </a:p>
        </p:txBody>
      </p:sp>
      <p:pic>
        <p:nvPicPr>
          <p:cNvPr id="5" name="图片 4" descr="3-2"/>
          <p:cNvPicPr>
            <a:picLocks noChangeAspect="1"/>
          </p:cNvPicPr>
          <p:nvPr/>
        </p:nvPicPr>
        <p:blipFill>
          <a:blip r:embed="rId3"/>
          <a:stretch>
            <a:fillRect/>
          </a:stretch>
        </p:blipFill>
        <p:spPr>
          <a:xfrm>
            <a:off x="960755" y="1934210"/>
            <a:ext cx="2078355" cy="2136140"/>
          </a:xfrm>
          <a:prstGeom prst="rect">
            <a:avLst/>
          </a:prstGeom>
        </p:spPr>
      </p:pic>
      <p:pic>
        <p:nvPicPr>
          <p:cNvPr id="6" name="图片 5" descr="Snipaste_2024-02-24_06-18-34"/>
          <p:cNvPicPr>
            <a:picLocks noChangeAspect="1"/>
          </p:cNvPicPr>
          <p:nvPr/>
        </p:nvPicPr>
        <p:blipFill>
          <a:blip r:embed="rId4"/>
          <a:stretch>
            <a:fillRect/>
          </a:stretch>
        </p:blipFill>
        <p:spPr>
          <a:xfrm>
            <a:off x="3112135" y="2090420"/>
            <a:ext cx="2512695" cy="1823720"/>
          </a:xfrm>
          <a:prstGeom prst="rect">
            <a:avLst/>
          </a:prstGeom>
        </p:spPr>
      </p:pic>
      <p:pic>
        <p:nvPicPr>
          <p:cNvPr id="8" name="图片 7" descr="3-5"/>
          <p:cNvPicPr>
            <a:picLocks noChangeAspect="1"/>
          </p:cNvPicPr>
          <p:nvPr/>
        </p:nvPicPr>
        <p:blipFill>
          <a:blip r:embed="rId5"/>
          <a:stretch>
            <a:fillRect/>
          </a:stretch>
        </p:blipFill>
        <p:spPr>
          <a:xfrm>
            <a:off x="5697855" y="1503045"/>
            <a:ext cx="2846070" cy="28149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81305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机械臂静应力有限元分析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nvSpPr>
        <p:spPr>
          <a:xfrm>
            <a:off x="829310" y="68643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nvSpPr>
        <p:spPr bwMode="auto">
          <a:xfrm>
            <a:off x="968375" y="80581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nvSpPr>
        <p:spPr>
          <a:xfrm>
            <a:off x="1496060" y="780415"/>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关节底部静力学分析</a:t>
            </a:r>
            <a:endParaRPr lang="zh-CN" altLang="en-US" sz="1800" b="1" dirty="0">
              <a:solidFill>
                <a:schemeClr val="tx1">
                  <a:lumMod val="65000"/>
                  <a:lumOff val="35000"/>
                </a:schemeClr>
              </a:solidFill>
              <a:cs typeface="+mn-ea"/>
            </a:endParaRPr>
          </a:p>
        </p:txBody>
      </p:sp>
      <p:pic>
        <p:nvPicPr>
          <p:cNvPr id="10" name="图片 9" descr="关节底部-静应力分析 1-位移-位移1"/>
          <p:cNvPicPr>
            <a:picLocks noChangeAspect="1"/>
          </p:cNvPicPr>
          <p:nvPr/>
        </p:nvPicPr>
        <p:blipFill>
          <a:blip r:embed="rId3"/>
          <a:stretch>
            <a:fillRect/>
          </a:stretch>
        </p:blipFill>
        <p:spPr>
          <a:xfrm>
            <a:off x="1710055" y="1191895"/>
            <a:ext cx="2983230" cy="1901190"/>
          </a:xfrm>
          <a:prstGeom prst="rect">
            <a:avLst/>
          </a:prstGeom>
        </p:spPr>
      </p:pic>
      <p:pic>
        <p:nvPicPr>
          <p:cNvPr id="11" name="图片 10" descr="F:/Desktop/多场景模块化串联机械臂结构设计与分析/分析/力学/Joint A/关节底部-静应力分析 1/关节底部-静应力分析 1-应变-应变1.jpg关节底部-静应力分析 1-应变-应变1"/>
          <p:cNvPicPr>
            <a:picLocks noChangeAspect="1"/>
          </p:cNvPicPr>
          <p:nvPr/>
        </p:nvPicPr>
        <p:blipFill>
          <a:blip r:embed="rId4"/>
          <a:srcRect l="17" r="17"/>
          <a:stretch>
            <a:fillRect/>
          </a:stretch>
        </p:blipFill>
        <p:spPr>
          <a:xfrm>
            <a:off x="4939030" y="1191895"/>
            <a:ext cx="2983230" cy="1901190"/>
          </a:xfrm>
          <a:prstGeom prst="rect">
            <a:avLst/>
          </a:prstGeom>
        </p:spPr>
      </p:pic>
      <p:pic>
        <p:nvPicPr>
          <p:cNvPr id="12" name="图片 11" descr="F:/Desktop/多场景模块化串联机械臂结构设计与分析/分析/力学/Joint A/关节底部-静应力分析 1/关节底部-静应力分析 1-应力-应力1.jpg关节底部-静应力分析 1-应力-应力1"/>
          <p:cNvPicPr>
            <a:picLocks noChangeAspect="1"/>
          </p:cNvPicPr>
          <p:nvPr/>
        </p:nvPicPr>
        <p:blipFill>
          <a:blip r:embed="rId5"/>
          <a:srcRect l="17" r="17"/>
          <a:stretch>
            <a:fillRect/>
          </a:stretch>
        </p:blipFill>
        <p:spPr>
          <a:xfrm>
            <a:off x="3274060" y="3149600"/>
            <a:ext cx="2983230" cy="1901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81305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机械臂静应力有限元分析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nvSpPr>
        <p:spPr>
          <a:xfrm>
            <a:off x="829310" y="68643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nvSpPr>
        <p:spPr bwMode="auto">
          <a:xfrm>
            <a:off x="968375" y="80581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nvSpPr>
        <p:spPr>
          <a:xfrm>
            <a:off x="1496060" y="780415"/>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关节顶部静力学分析</a:t>
            </a:r>
            <a:endParaRPr lang="zh-CN" altLang="en-US" sz="1800" b="1" dirty="0">
              <a:solidFill>
                <a:schemeClr val="tx1">
                  <a:lumMod val="65000"/>
                  <a:lumOff val="35000"/>
                </a:schemeClr>
              </a:solidFill>
              <a:cs typeface="+mn-ea"/>
            </a:endParaRPr>
          </a:p>
        </p:txBody>
      </p:sp>
      <p:pic>
        <p:nvPicPr>
          <p:cNvPr id="10" name="图片 9" descr="F:/Desktop/多场景模块化串联机械臂结构设计与分析/分析/力学/Joint B/关节顶部-静应力分析 2/关节顶部-静应力分析 2-位移-位移1.jpg关节顶部-静应力分析 2-位移-位移1"/>
          <p:cNvPicPr>
            <a:picLocks noChangeAspect="1"/>
          </p:cNvPicPr>
          <p:nvPr/>
        </p:nvPicPr>
        <p:blipFill>
          <a:blip r:embed="rId3"/>
          <a:srcRect t="85" b="85"/>
          <a:stretch>
            <a:fillRect/>
          </a:stretch>
        </p:blipFill>
        <p:spPr>
          <a:xfrm>
            <a:off x="1710055" y="1191895"/>
            <a:ext cx="2983230" cy="1901190"/>
          </a:xfrm>
          <a:prstGeom prst="rect">
            <a:avLst/>
          </a:prstGeom>
        </p:spPr>
      </p:pic>
      <p:pic>
        <p:nvPicPr>
          <p:cNvPr id="11" name="图片 10" descr="F:/Desktop/多场景模块化串联机械臂结构设计与分析/分析/力学/Joint B/关节顶部-静应力分析 2/关节顶部-静应力分析 2-应变-应变1.jpg关节顶部-静应力分析 2-应变-应变1"/>
          <p:cNvPicPr>
            <a:picLocks noChangeAspect="1"/>
          </p:cNvPicPr>
          <p:nvPr/>
        </p:nvPicPr>
        <p:blipFill>
          <a:blip r:embed="rId4"/>
          <a:srcRect t="85" b="85"/>
          <a:stretch>
            <a:fillRect/>
          </a:stretch>
        </p:blipFill>
        <p:spPr>
          <a:xfrm>
            <a:off x="4939030" y="1191895"/>
            <a:ext cx="2983230" cy="1901190"/>
          </a:xfrm>
          <a:prstGeom prst="rect">
            <a:avLst/>
          </a:prstGeom>
        </p:spPr>
      </p:pic>
      <p:pic>
        <p:nvPicPr>
          <p:cNvPr id="12" name="图片 11" descr="F:/Desktop/多场景模块化串联机械臂结构设计与分析/分析/力学/Joint B/关节顶部-静应力分析 2/关节顶部-静应力分析 2-应力-应力1.jpg关节顶部-静应力分析 2-应力-应力1"/>
          <p:cNvPicPr>
            <a:picLocks noChangeAspect="1"/>
          </p:cNvPicPr>
          <p:nvPr/>
        </p:nvPicPr>
        <p:blipFill>
          <a:blip r:embed="rId5"/>
          <a:srcRect t="85" b="85"/>
          <a:stretch>
            <a:fillRect/>
          </a:stretch>
        </p:blipFill>
        <p:spPr>
          <a:xfrm>
            <a:off x="3274060" y="3149600"/>
            <a:ext cx="2983230" cy="1901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81305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机械臂静应力有限元分析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nvSpPr>
        <p:spPr>
          <a:xfrm>
            <a:off x="829310" y="68643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nvSpPr>
        <p:spPr bwMode="auto">
          <a:xfrm>
            <a:off x="968375" y="80581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nvSpPr>
        <p:spPr>
          <a:xfrm>
            <a:off x="1496060" y="780415"/>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机械臂整体静力学分析</a:t>
            </a:r>
            <a:endParaRPr lang="zh-CN" altLang="en-US" sz="1800" b="1" dirty="0">
              <a:solidFill>
                <a:schemeClr val="tx1">
                  <a:lumMod val="65000"/>
                  <a:lumOff val="35000"/>
                </a:schemeClr>
              </a:solidFill>
              <a:cs typeface="+mn-ea"/>
            </a:endParaRPr>
          </a:p>
        </p:txBody>
      </p:sp>
      <p:pic>
        <p:nvPicPr>
          <p:cNvPr id="10" name="图片 9" descr="F:/Desktop/多场景模块化串联机械臂结构设计与分析/分析/力学/整体/装配测试2-静应力分析 平面受力/装配测试2-静应力分析 平面受力-位移-位移1.jpg装配测试2-静应力分析 平面受力-位移-位移1"/>
          <p:cNvPicPr>
            <a:picLocks noChangeAspect="1"/>
          </p:cNvPicPr>
          <p:nvPr/>
        </p:nvPicPr>
        <p:blipFill>
          <a:blip r:embed="rId3"/>
          <a:srcRect t="128" b="128"/>
          <a:stretch>
            <a:fillRect/>
          </a:stretch>
        </p:blipFill>
        <p:spPr>
          <a:xfrm>
            <a:off x="1710055" y="1191895"/>
            <a:ext cx="2983230" cy="1901190"/>
          </a:xfrm>
          <a:prstGeom prst="rect">
            <a:avLst/>
          </a:prstGeom>
        </p:spPr>
      </p:pic>
      <p:pic>
        <p:nvPicPr>
          <p:cNvPr id="11" name="图片 10" descr="F:/Desktop/多场景模块化串联机械臂结构设计与分析/分析/力学/整体/装配测试2-静应力分析 平面受力/装配测试2-静应力分析 平面受力-应变-应变1.jpg装配测试2-静应力分析 平面受力-应变-应变1"/>
          <p:cNvPicPr>
            <a:picLocks noChangeAspect="1"/>
          </p:cNvPicPr>
          <p:nvPr/>
        </p:nvPicPr>
        <p:blipFill>
          <a:blip r:embed="rId4"/>
          <a:srcRect t="128" b="128"/>
          <a:stretch>
            <a:fillRect/>
          </a:stretch>
        </p:blipFill>
        <p:spPr>
          <a:xfrm>
            <a:off x="4939030" y="1191895"/>
            <a:ext cx="2983230" cy="1901190"/>
          </a:xfrm>
          <a:prstGeom prst="rect">
            <a:avLst/>
          </a:prstGeom>
        </p:spPr>
      </p:pic>
      <p:pic>
        <p:nvPicPr>
          <p:cNvPr id="12" name="图片 11" descr="F:/Desktop/多场景模块化串联机械臂结构设计与分析/分析/力学/整体/装配测试2-静应力分析 平面受力/装配测试2-静应力分析 平面受力-应力-应力1.jpg装配测试2-静应力分析 平面受力-应力-应力1"/>
          <p:cNvPicPr>
            <a:picLocks noChangeAspect="1"/>
          </p:cNvPicPr>
          <p:nvPr/>
        </p:nvPicPr>
        <p:blipFill>
          <a:blip r:embed="rId5"/>
          <a:srcRect t="128" b="128"/>
          <a:stretch>
            <a:fillRect/>
          </a:stretch>
        </p:blipFill>
        <p:spPr>
          <a:xfrm>
            <a:off x="3274060" y="3149600"/>
            <a:ext cx="2983230" cy="19011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81305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机械臂静应力有限元分析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nvSpPr>
        <p:spPr>
          <a:xfrm>
            <a:off x="774700" y="125031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nvSpPr>
        <p:spPr bwMode="auto">
          <a:xfrm>
            <a:off x="913765" y="136969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nvSpPr>
        <p:spPr>
          <a:xfrm>
            <a:off x="1441450" y="1344295"/>
            <a:ext cx="198691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静力学分析结论</a:t>
            </a:r>
          </a:p>
        </p:txBody>
      </p:sp>
      <p:sp>
        <p:nvSpPr>
          <p:cNvPr id="7" name="矩形 6"/>
          <p:cNvSpPr/>
          <p:nvPr>
            <p:custDataLst>
              <p:tags r:id="rId1"/>
            </p:custDataLst>
          </p:nvPr>
        </p:nvSpPr>
        <p:spPr>
          <a:xfrm>
            <a:off x="1137285" y="1972310"/>
            <a:ext cx="6869430" cy="1198880"/>
          </a:xfrm>
          <a:prstGeom prst="rect">
            <a:avLst/>
          </a:prstGeom>
        </p:spPr>
        <p:txBody>
          <a:bodyPr wrap="square">
            <a:spAutoFit/>
          </a:bodyPr>
          <a:lstStyle/>
          <a:p>
            <a:pPr indent="457200" algn="just">
              <a:lnSpc>
                <a:spcPct val="200000"/>
              </a:lnSpc>
            </a:pPr>
            <a:r>
              <a:rPr lang="zh-CN" altLang="en-US" sz="1800"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当多场景模块化串联机械臂的各关节顶面施加 10N 的载荷后完全可以正常工作，并且位移变形量在机械臂的可承受范围之内。</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57746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机械臂模块化组装分析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nvSpPr>
        <p:spPr>
          <a:xfrm>
            <a:off x="829310" y="89979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nvSpPr>
        <p:spPr bwMode="auto">
          <a:xfrm>
            <a:off x="968375" y="101917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nvSpPr>
        <p:spPr>
          <a:xfrm>
            <a:off x="1496060" y="993775"/>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模块化组装分析概述</a:t>
            </a:r>
            <a:endParaRPr lang="zh-CN" altLang="en-US" sz="1800" b="1" dirty="0">
              <a:solidFill>
                <a:schemeClr val="tx1">
                  <a:lumMod val="65000"/>
                  <a:lumOff val="35000"/>
                </a:schemeClr>
              </a:solidFill>
              <a:cs typeface="+mn-ea"/>
            </a:endParaRPr>
          </a:p>
        </p:txBody>
      </p:sp>
      <p:sp>
        <p:nvSpPr>
          <p:cNvPr id="7" name="矩形 6"/>
          <p:cNvSpPr/>
          <p:nvPr>
            <p:custDataLst>
              <p:tags r:id="rId1"/>
            </p:custDataLst>
          </p:nvPr>
        </p:nvSpPr>
        <p:spPr>
          <a:xfrm>
            <a:off x="1496060" y="1405255"/>
            <a:ext cx="6791325" cy="953135"/>
          </a:xfrm>
          <a:prstGeom prst="rect">
            <a:avLst/>
          </a:prstGeom>
        </p:spPr>
        <p:txBody>
          <a:bodyPr wrap="square">
            <a:spAutoFit/>
          </a:bodyPr>
          <a:lstStyle/>
          <a:p>
            <a:pPr indent="457200" algn="just">
              <a:lnSpc>
                <a:spcPct val="200000"/>
              </a:lnSpc>
            </a:pPr>
            <a:r>
              <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用于测试的机械臂由 1 个底座、1 个 45°关节模块和 2 个 90°关节模块组成手臂部分，为简化过程，省略末端执行器相关模块。</a:t>
            </a:r>
          </a:p>
        </p:txBody>
      </p:sp>
      <p:sp>
        <p:nvSpPr>
          <p:cNvPr id="2" name="MH_Other_1"/>
          <p:cNvSpPr/>
          <p:nvPr/>
        </p:nvSpPr>
        <p:spPr>
          <a:xfrm>
            <a:off x="829310" y="264477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5" name="MH_Other_9"/>
          <p:cNvSpPr/>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6" name="矩形 5"/>
          <p:cNvSpPr/>
          <p:nvPr/>
        </p:nvSpPr>
        <p:spPr>
          <a:xfrm>
            <a:off x="1496060" y="2738755"/>
            <a:ext cx="161988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建立坐标系</a:t>
            </a:r>
            <a:endParaRPr lang="zh-CN" altLang="en-US" sz="1800" b="1" dirty="0">
              <a:solidFill>
                <a:schemeClr val="tx1">
                  <a:lumMod val="65000"/>
                  <a:lumOff val="35000"/>
                </a:schemeClr>
              </a:solidFill>
              <a:cs typeface="+mn-ea"/>
            </a:endParaRPr>
          </a:p>
        </p:txBody>
      </p:sp>
      <p:sp>
        <p:nvSpPr>
          <p:cNvPr id="8" name="矩形 7"/>
          <p:cNvSpPr/>
          <p:nvPr>
            <p:custDataLst>
              <p:tags r:id="rId2"/>
            </p:custDataLst>
          </p:nvPr>
        </p:nvSpPr>
        <p:spPr>
          <a:xfrm>
            <a:off x="1496060" y="3150235"/>
            <a:ext cx="6791325" cy="953135"/>
          </a:xfrm>
          <a:prstGeom prst="rect">
            <a:avLst/>
          </a:prstGeom>
        </p:spPr>
        <p:txBody>
          <a:bodyPr wrap="square">
            <a:spAutoFit/>
          </a:bodyPr>
          <a:lstStyle/>
          <a:p>
            <a:pPr indent="457200" algn="just">
              <a:lnSpc>
                <a:spcPct val="200000"/>
              </a:lnSpc>
            </a:pPr>
            <a:r>
              <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已知底座连接的第一个关节模块位姿固定，以该模块关节轴所在直线为 Y 轴，垂直于关节轴所在直线为 X 轴，垂直于顶面为 Z 轴，建立坐标系{O}</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94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57746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机械臂模块化组装分析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89979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101917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993775"/>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定义各模块位姿</a:t>
            </a: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10" name="图片 9" descr="13"/>
          <p:cNvPicPr>
            <a:picLocks noChangeAspect="1"/>
          </p:cNvPicPr>
          <p:nvPr/>
        </p:nvPicPr>
        <p:blipFill>
          <a:blip r:embed="rId7"/>
          <a:stretch>
            <a:fillRect/>
          </a:stretch>
        </p:blipFill>
        <p:spPr>
          <a:xfrm>
            <a:off x="1405890" y="1405255"/>
            <a:ext cx="6685280" cy="32886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94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57746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机械臂模块化组装分析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136779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148717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1461770"/>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计算组装类型总数</a:t>
            </a: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2" name="图片 1" descr="14"/>
          <p:cNvPicPr>
            <a:picLocks noChangeAspect="1"/>
          </p:cNvPicPr>
          <p:nvPr/>
        </p:nvPicPr>
        <p:blipFill>
          <a:blip r:embed="rId7"/>
          <a:stretch>
            <a:fillRect/>
          </a:stretch>
        </p:blipFill>
        <p:spPr>
          <a:xfrm>
            <a:off x="1387475" y="2167255"/>
            <a:ext cx="6368415" cy="12903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94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57746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机械臂模块化组装分析</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6" name="图片 5" descr="15"/>
          <p:cNvPicPr>
            <a:picLocks noChangeAspect="1"/>
          </p:cNvPicPr>
          <p:nvPr/>
        </p:nvPicPr>
        <p:blipFill>
          <a:blip r:embed="rId3"/>
          <a:stretch>
            <a:fillRect/>
          </a:stretch>
        </p:blipFill>
        <p:spPr>
          <a:xfrm>
            <a:off x="2145030" y="852170"/>
            <a:ext cx="2006600" cy="1142365"/>
          </a:xfrm>
          <a:prstGeom prst="rect">
            <a:avLst/>
          </a:prstGeom>
        </p:spPr>
      </p:pic>
      <p:pic>
        <p:nvPicPr>
          <p:cNvPr id="12" name="图片 11" descr="F:/Desktop/多场景模块化串联机械臂结构设计与分析/演示/市赛答辩/16.png16"/>
          <p:cNvPicPr>
            <a:picLocks noChangeAspect="1"/>
          </p:cNvPicPr>
          <p:nvPr/>
        </p:nvPicPr>
        <p:blipFill>
          <a:blip r:embed="rId4"/>
          <a:srcRect l="1751" r="1751"/>
          <a:stretch>
            <a:fillRect/>
          </a:stretch>
        </p:blipFill>
        <p:spPr>
          <a:xfrm>
            <a:off x="4999990" y="852170"/>
            <a:ext cx="2006600" cy="1142365"/>
          </a:xfrm>
          <a:prstGeom prst="rect">
            <a:avLst/>
          </a:prstGeom>
        </p:spPr>
      </p:pic>
      <p:pic>
        <p:nvPicPr>
          <p:cNvPr id="13" name="图片 12" descr="F:/Desktop/多场景模块化串联机械臂结构设计与分析/演示/市赛答辩/17.png17"/>
          <p:cNvPicPr>
            <a:picLocks noChangeAspect="1"/>
          </p:cNvPicPr>
          <p:nvPr/>
        </p:nvPicPr>
        <p:blipFill>
          <a:blip r:embed="rId5"/>
          <a:srcRect l="1973" r="1973"/>
          <a:stretch>
            <a:fillRect/>
          </a:stretch>
        </p:blipFill>
        <p:spPr>
          <a:xfrm>
            <a:off x="2172335" y="2188845"/>
            <a:ext cx="2006600" cy="1142365"/>
          </a:xfrm>
          <a:prstGeom prst="rect">
            <a:avLst/>
          </a:prstGeom>
        </p:spPr>
      </p:pic>
      <p:pic>
        <p:nvPicPr>
          <p:cNvPr id="14" name="图片 13" descr="F:/Desktop/多场景模块化串联机械臂结构设计与分析/演示/市赛答辩/18.png18"/>
          <p:cNvPicPr>
            <a:picLocks noChangeAspect="1"/>
          </p:cNvPicPr>
          <p:nvPr/>
        </p:nvPicPr>
        <p:blipFill>
          <a:blip r:embed="rId6"/>
          <a:srcRect t="1472" b="1472"/>
          <a:stretch>
            <a:fillRect/>
          </a:stretch>
        </p:blipFill>
        <p:spPr>
          <a:xfrm>
            <a:off x="4999990" y="2188845"/>
            <a:ext cx="2006600" cy="1142365"/>
          </a:xfrm>
          <a:prstGeom prst="rect">
            <a:avLst/>
          </a:prstGeom>
        </p:spPr>
      </p:pic>
      <p:pic>
        <p:nvPicPr>
          <p:cNvPr id="15" name="图片 14" descr="F:/Desktop/多场景模块化串联机械臂结构设计与分析/演示/市赛答辩/20.png20"/>
          <p:cNvPicPr>
            <a:picLocks noChangeAspect="1"/>
          </p:cNvPicPr>
          <p:nvPr/>
        </p:nvPicPr>
        <p:blipFill>
          <a:blip r:embed="rId7"/>
          <a:srcRect l="1584" r="1584"/>
          <a:stretch>
            <a:fillRect/>
          </a:stretch>
        </p:blipFill>
        <p:spPr>
          <a:xfrm>
            <a:off x="4999990" y="3525520"/>
            <a:ext cx="2006600" cy="1142365"/>
          </a:xfrm>
          <a:prstGeom prst="rect">
            <a:avLst/>
          </a:prstGeom>
        </p:spPr>
      </p:pic>
      <p:pic>
        <p:nvPicPr>
          <p:cNvPr id="16" name="图片 15" descr="F:/Desktop/多场景模块化串联机械臂结构设计与分析/演示/市赛答辩/19.png19"/>
          <p:cNvPicPr>
            <a:picLocks noChangeAspect="1"/>
          </p:cNvPicPr>
          <p:nvPr/>
        </p:nvPicPr>
        <p:blipFill>
          <a:blip r:embed="rId8"/>
          <a:srcRect l="862" r="862"/>
          <a:stretch>
            <a:fillRect/>
          </a:stretch>
        </p:blipFill>
        <p:spPr>
          <a:xfrm>
            <a:off x="2172335" y="3525520"/>
            <a:ext cx="2006600" cy="11423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949"/>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82955" y="86931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22020" y="98869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9705" y="963295"/>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连杆坐标系的建立</a:t>
            </a: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6" name="图片 5" descr="21"/>
          <p:cNvPicPr>
            <a:picLocks noChangeAspect="1"/>
          </p:cNvPicPr>
          <p:nvPr/>
        </p:nvPicPr>
        <p:blipFill>
          <a:blip r:embed="rId7"/>
          <a:stretch>
            <a:fillRect/>
          </a:stretch>
        </p:blipFill>
        <p:spPr>
          <a:xfrm>
            <a:off x="968375" y="1663700"/>
            <a:ext cx="7493000" cy="27520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82955" y="869315"/>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22020" y="98869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9705" y="963295"/>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连杆坐标系的建立</a:t>
            </a: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2" name="图片 1" descr="连杆坐标系"/>
          <p:cNvPicPr>
            <a:picLocks noChangeAspect="1"/>
          </p:cNvPicPr>
          <p:nvPr/>
        </p:nvPicPr>
        <p:blipFill>
          <a:blip r:embed="rId7"/>
          <a:stretch>
            <a:fillRect/>
          </a:stretch>
        </p:blipFill>
        <p:spPr>
          <a:xfrm>
            <a:off x="3455035" y="1280160"/>
            <a:ext cx="2242185" cy="35566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74700" y="77470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13765" y="89408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1450" y="868680"/>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机械臂运动学方程</a:t>
            </a: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7" name="图片 6" descr="22"/>
          <p:cNvPicPr>
            <a:picLocks noChangeAspect="1"/>
          </p:cNvPicPr>
          <p:nvPr/>
        </p:nvPicPr>
        <p:blipFill>
          <a:blip r:embed="rId7"/>
          <a:stretch>
            <a:fillRect/>
          </a:stretch>
        </p:blipFill>
        <p:spPr>
          <a:xfrm>
            <a:off x="1513205" y="1280160"/>
            <a:ext cx="6210300" cy="3505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22059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774700" y="77470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13765" y="89408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41450" y="868680"/>
            <a:ext cx="1856105"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机械臂运动学方程</a:t>
            </a:r>
          </a:p>
        </p:txBody>
      </p:sp>
      <p:sp>
        <p:nvSpPr>
          <p:cNvPr id="5" name="MH_Other_9"/>
          <p:cNvSpPr/>
          <p:nvPr>
            <p:custDataLst>
              <p:tags r:id="rId4"/>
            </p:custDataLst>
          </p:nvPr>
        </p:nvSpPr>
        <p:spPr bwMode="auto">
          <a:xfrm>
            <a:off x="968375" y="2764155"/>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pic>
        <p:nvPicPr>
          <p:cNvPr id="10" name="图片 9" descr="23"/>
          <p:cNvPicPr>
            <a:picLocks noChangeAspect="1"/>
          </p:cNvPicPr>
          <p:nvPr/>
        </p:nvPicPr>
        <p:blipFill>
          <a:blip r:embed="rId7"/>
          <a:stretch>
            <a:fillRect/>
          </a:stretch>
        </p:blipFill>
        <p:spPr>
          <a:xfrm>
            <a:off x="3912235" y="335915"/>
            <a:ext cx="3971290" cy="44729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MATLAB机械臂建模</a:t>
            </a:r>
          </a:p>
        </p:txBody>
      </p:sp>
      <p:sp>
        <p:nvSpPr>
          <p:cNvPr id="7" name="矩形 6"/>
          <p:cNvSpPr/>
          <p:nvPr>
            <p:custDataLst>
              <p:tags r:id="rId4"/>
            </p:custDataLst>
          </p:nvPr>
        </p:nvSpPr>
        <p:spPr>
          <a:xfrm>
            <a:off x="1018540" y="1071880"/>
            <a:ext cx="7194550" cy="396240"/>
          </a:xfrm>
          <a:prstGeom prst="rect">
            <a:avLst/>
          </a:prstGeom>
        </p:spPr>
        <p:txBody>
          <a:bodyPr wrap="square">
            <a:noAutofit/>
          </a:bodyPr>
          <a:lstStyle/>
          <a:p>
            <a:pPr indent="457200" algn="just">
              <a:lnSpc>
                <a:spcPct val="200000"/>
              </a:lnSpc>
            </a:pPr>
            <a:r>
              <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根据参数和连杆坐标系，使用Robotics Toolbox for MATLAB对机械臂进行建模，</a:t>
            </a:r>
          </a:p>
        </p:txBody>
      </p:sp>
      <p:pic>
        <p:nvPicPr>
          <p:cNvPr id="9" name="图片 8" descr="simulation"/>
          <p:cNvPicPr>
            <a:picLocks noChangeAspect="1"/>
          </p:cNvPicPr>
          <p:nvPr/>
        </p:nvPicPr>
        <p:blipFill>
          <a:blip r:embed="rId7"/>
          <a:stretch>
            <a:fillRect/>
          </a:stretch>
        </p:blipFill>
        <p:spPr>
          <a:xfrm>
            <a:off x="2535555" y="1678940"/>
            <a:ext cx="4072890" cy="3054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MATLAB正运动学解算</a:t>
            </a:r>
          </a:p>
        </p:txBody>
      </p:sp>
      <p:sp>
        <p:nvSpPr>
          <p:cNvPr id="7" name="矩形 6"/>
          <p:cNvSpPr/>
          <p:nvPr>
            <p:custDataLst>
              <p:tags r:id="rId4"/>
            </p:custDataLst>
          </p:nvPr>
        </p:nvSpPr>
        <p:spPr>
          <a:xfrm>
            <a:off x="1018540" y="1071880"/>
            <a:ext cx="7194550" cy="396240"/>
          </a:xfrm>
          <a:prstGeom prst="rect">
            <a:avLst/>
          </a:prstGeom>
        </p:spPr>
        <p:txBody>
          <a:bodyPr wrap="square">
            <a:noAutofit/>
          </a:bodyPr>
          <a:lstStyle/>
          <a:p>
            <a:pPr indent="457200" algn="just">
              <a:lnSpc>
                <a:spcPct val="200000"/>
              </a:lnSpc>
            </a:pPr>
            <a:r>
              <a:rPr lang="zh-CN" altLang="en-US" kern="100" dirty="0">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rPr>
              <a:t>通过所建模型，可根据末端执行器初始位姿和目标位姿，解算出机械臂末端执行器的位姿、速度、加速度以及空间直线轨迹。</a:t>
            </a:r>
          </a:p>
        </p:txBody>
      </p:sp>
      <p:pic>
        <p:nvPicPr>
          <p:cNvPr id="10" name="图片 9" descr="24"/>
          <p:cNvPicPr>
            <a:picLocks noChangeAspect="1"/>
          </p:cNvPicPr>
          <p:nvPr/>
        </p:nvPicPr>
        <p:blipFill>
          <a:blip r:embed="rId7"/>
          <a:srcRect b="5461"/>
          <a:stretch>
            <a:fillRect/>
          </a:stretch>
        </p:blipFill>
        <p:spPr>
          <a:xfrm>
            <a:off x="2426335" y="2065020"/>
            <a:ext cx="4378960" cy="261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74700" y="282575"/>
            <a:ext cx="2133600"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机械臂运动学解算</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 name="MH_Other_1"/>
          <p:cNvSpPr/>
          <p:nvPr>
            <p:custDataLst>
              <p:tags r:id="rId1"/>
            </p:custDataLst>
          </p:nvPr>
        </p:nvSpPr>
        <p:spPr>
          <a:xfrm>
            <a:off x="829310" y="750570"/>
            <a:ext cx="497840" cy="505460"/>
          </a:xfrm>
          <a:prstGeom prst="ellipse">
            <a:avLst/>
          </a:prstGeom>
          <a:solidFill>
            <a:schemeClr val="tx1">
              <a:lumMod val="50000"/>
              <a:lumOff val="50000"/>
            </a:schemeClr>
          </a:solidFill>
          <a:ln w="9525" cap="flat" cmpd="sng" algn="ctr">
            <a:noFill/>
            <a:prstDash val="solid"/>
            <a:miter lim="800000"/>
          </a:ln>
          <a:effectLst/>
        </p:spPr>
        <p:txBody>
          <a:bodyPr lIns="68580" tIns="34290" rIns="68580" bIns="34290" anchor="ctr"/>
          <a:lstStyle/>
          <a:p>
            <a:pPr algn="ctr">
              <a:defRPr/>
            </a:pPr>
            <a:endParaRPr lang="zh-CN" altLang="en-US" kern="0">
              <a:solidFill>
                <a:srgbClr val="482E2C"/>
              </a:solidFill>
              <a:cs typeface="+mn-ea"/>
              <a:sym typeface="+mn-lt"/>
            </a:endParaRPr>
          </a:p>
        </p:txBody>
      </p:sp>
      <p:sp>
        <p:nvSpPr>
          <p:cNvPr id="17" name="MH_Other_9"/>
          <p:cNvSpPr/>
          <p:nvPr>
            <p:custDataLst>
              <p:tags r:id="rId2"/>
            </p:custDataLst>
          </p:nvPr>
        </p:nvSpPr>
        <p:spPr bwMode="auto">
          <a:xfrm>
            <a:off x="968375" y="869950"/>
            <a:ext cx="257810" cy="236855"/>
          </a:xfrm>
          <a:custGeom>
            <a:avLst/>
            <a:gdLst>
              <a:gd name="T0" fmla="*/ 726341 w 2395538"/>
              <a:gd name="T1" fmla="*/ 2170112 h 2170112"/>
              <a:gd name="T2" fmla="*/ 1441768 w 2395538"/>
              <a:gd name="T3" fmla="*/ 728510 h 2170112"/>
              <a:gd name="T4" fmla="*/ 1885633 w 2395538"/>
              <a:gd name="T5" fmla="*/ 1143658 h 2170112"/>
              <a:gd name="T6" fmla="*/ 1870393 w 2395538"/>
              <a:gd name="T7" fmla="*/ 1187775 h 2170112"/>
              <a:gd name="T8" fmla="*/ 1824038 w 2395538"/>
              <a:gd name="T9" fmla="*/ 1209358 h 2170112"/>
              <a:gd name="T10" fmla="*/ 1774825 w 2395538"/>
              <a:gd name="T11" fmla="*/ 1196345 h 2170112"/>
              <a:gd name="T12" fmla="*/ 87630 w 2395538"/>
              <a:gd name="T13" fmla="*/ 1207136 h 2170112"/>
              <a:gd name="T14" fmla="*/ 36195 w 2395538"/>
              <a:gd name="T15" fmla="*/ 1203010 h 2170112"/>
              <a:gd name="T16" fmla="*/ 2540 w 2395538"/>
              <a:gd name="T17" fmla="*/ 1166510 h 2170112"/>
              <a:gd name="T18" fmla="*/ 7937 w 2395538"/>
              <a:gd name="T19" fmla="*/ 1121123 h 2170112"/>
              <a:gd name="T20" fmla="*/ 1968140 w 2395538"/>
              <a:gd name="T21" fmla="*/ 219388 h 2170112"/>
              <a:gd name="T22" fmla="*/ 2114413 w 2395538"/>
              <a:gd name="T23" fmla="*/ 243789 h 2170112"/>
              <a:gd name="T24" fmla="*/ 2240697 w 2395538"/>
              <a:gd name="T25" fmla="*/ 284667 h 2170112"/>
              <a:gd name="T26" fmla="*/ 2388557 w 2395538"/>
              <a:gd name="T27" fmla="*/ 355016 h 2170112"/>
              <a:gd name="T28" fmla="*/ 2336521 w 2395538"/>
              <a:gd name="T29" fmla="*/ 373079 h 2170112"/>
              <a:gd name="T30" fmla="*/ 2250533 w 2395538"/>
              <a:gd name="T31" fmla="*/ 415225 h 2170112"/>
              <a:gd name="T32" fmla="*/ 2138845 w 2395538"/>
              <a:gd name="T33" fmla="*/ 508390 h 2170112"/>
              <a:gd name="T34" fmla="*/ 2044926 w 2395538"/>
              <a:gd name="T35" fmla="*/ 621519 h 2170112"/>
              <a:gd name="T36" fmla="*/ 1960525 w 2395538"/>
              <a:gd name="T37" fmla="*/ 747006 h 2170112"/>
              <a:gd name="T38" fmla="*/ 1902777 w 2395538"/>
              <a:gd name="T39" fmla="*/ 803412 h 2170112"/>
              <a:gd name="T40" fmla="*/ 1832020 w 2395538"/>
              <a:gd name="T41" fmla="*/ 843974 h 2170112"/>
              <a:gd name="T42" fmla="*/ 1753013 w 2395538"/>
              <a:gd name="T43" fmla="*/ 868374 h 2170112"/>
              <a:gd name="T44" fmla="*/ 1568664 w 2395538"/>
              <a:gd name="T45" fmla="*/ 707079 h 2170112"/>
              <a:gd name="T46" fmla="*/ 1657507 w 2395538"/>
              <a:gd name="T47" fmla="*/ 590147 h 2170112"/>
              <a:gd name="T48" fmla="*/ 1736514 w 2395538"/>
              <a:gd name="T49" fmla="*/ 513143 h 2170112"/>
              <a:gd name="T50" fmla="*/ 1825674 w 2395538"/>
              <a:gd name="T51" fmla="*/ 448498 h 2170112"/>
              <a:gd name="T52" fmla="*/ 1925622 w 2395538"/>
              <a:gd name="T53" fmla="*/ 399381 h 2170112"/>
              <a:gd name="T54" fmla="*/ 2033820 w 2395538"/>
              <a:gd name="T55" fmla="*/ 369910 h 2170112"/>
              <a:gd name="T56" fmla="*/ 2147095 w 2395538"/>
              <a:gd name="T57" fmla="*/ 361671 h 2170112"/>
              <a:gd name="T58" fmla="*/ 2032234 w 2395538"/>
              <a:gd name="T59" fmla="*/ 356601 h 2170112"/>
              <a:gd name="T60" fmla="*/ 1917373 w 2395538"/>
              <a:gd name="T61" fmla="*/ 373713 h 2170112"/>
              <a:gd name="T62" fmla="*/ 1806953 w 2395538"/>
              <a:gd name="T63" fmla="*/ 412690 h 2170112"/>
              <a:gd name="T64" fmla="*/ 1703832 w 2395538"/>
              <a:gd name="T65" fmla="*/ 469730 h 2170112"/>
              <a:gd name="T66" fmla="*/ 1610230 w 2395538"/>
              <a:gd name="T67" fmla="*/ 542297 h 2170112"/>
              <a:gd name="T68" fmla="*/ 1526146 w 2395538"/>
              <a:gd name="T69" fmla="*/ 625638 h 2170112"/>
              <a:gd name="T70" fmla="*/ 1409381 w 2395538"/>
              <a:gd name="T71" fmla="*/ 589196 h 2170112"/>
              <a:gd name="T72" fmla="*/ 1430322 w 2395538"/>
              <a:gd name="T73" fmla="*/ 523601 h 2170112"/>
              <a:gd name="T74" fmla="*/ 1476648 w 2395538"/>
              <a:gd name="T75" fmla="*/ 444696 h 2170112"/>
              <a:gd name="T76" fmla="*/ 1541376 w 2395538"/>
              <a:gd name="T77" fmla="*/ 367375 h 2170112"/>
              <a:gd name="T78" fmla="*/ 1611816 w 2395538"/>
              <a:gd name="T79" fmla="*/ 308117 h 2170112"/>
              <a:gd name="T80" fmla="*/ 1686381 w 2395538"/>
              <a:gd name="T81" fmla="*/ 265337 h 2170112"/>
              <a:gd name="T82" fmla="*/ 1763166 w 2395538"/>
              <a:gd name="T83" fmla="*/ 237134 h 2170112"/>
              <a:gd name="T84" fmla="*/ 1910075 w 2395538"/>
              <a:gd name="T85" fmla="*/ 217487 h 2170112"/>
              <a:gd name="T86" fmla="*/ 1198124 w 2395538"/>
              <a:gd name="T87" fmla="*/ 20298 h 2170112"/>
              <a:gd name="T88" fmla="*/ 1336237 w 2395538"/>
              <a:gd name="T89" fmla="*/ 78653 h 2170112"/>
              <a:gd name="T90" fmla="*/ 1406886 w 2395538"/>
              <a:gd name="T91" fmla="*/ 127177 h 2170112"/>
              <a:gd name="T92" fmla="*/ 1468305 w 2395538"/>
              <a:gd name="T93" fmla="*/ 191241 h 2170112"/>
              <a:gd name="T94" fmla="*/ 1512540 w 2395538"/>
              <a:gd name="T95" fmla="*/ 273066 h 2170112"/>
              <a:gd name="T96" fmla="*/ 1474351 w 2395538"/>
              <a:gd name="T97" fmla="*/ 374554 h 2170112"/>
              <a:gd name="T98" fmla="*/ 1420252 w 2395538"/>
              <a:gd name="T99" fmla="*/ 385654 h 2170112"/>
              <a:gd name="T100" fmla="*/ 1384927 w 2395538"/>
              <a:gd name="T101" fmla="*/ 273700 h 2170112"/>
              <a:gd name="T102" fmla="*/ 1348012 w 2395538"/>
              <a:gd name="T103" fmla="*/ 208050 h 2170112"/>
              <a:gd name="T104" fmla="*/ 1299640 w 2395538"/>
              <a:gd name="T105" fmla="*/ 150963 h 2170112"/>
              <a:gd name="T106" fmla="*/ 1242040 w 2395538"/>
              <a:gd name="T107" fmla="*/ 104659 h 2170112"/>
              <a:gd name="T108" fmla="*/ 1280546 w 2395538"/>
              <a:gd name="T109" fmla="*/ 143986 h 2170112"/>
              <a:gd name="T110" fmla="*/ 1323508 w 2395538"/>
              <a:gd name="T111" fmla="*/ 202024 h 2170112"/>
              <a:gd name="T112" fmla="*/ 1356923 w 2395538"/>
              <a:gd name="T113" fmla="*/ 274969 h 2170112"/>
              <a:gd name="T114" fmla="*/ 1381108 w 2395538"/>
              <a:gd name="T115" fmla="*/ 413880 h 2170112"/>
              <a:gd name="T116" fmla="*/ 1369652 w 2395538"/>
              <a:gd name="T117" fmla="*/ 554378 h 2170112"/>
              <a:gd name="T118" fmla="*/ 1166937 w 2395538"/>
              <a:gd name="T119" fmla="*/ 363136 h 2170112"/>
              <a:gd name="T120" fmla="*/ 1178711 w 2395538"/>
              <a:gd name="T121" fmla="*/ 227079 h 2170112"/>
              <a:gd name="T122" fmla="*/ 1172028 w 2395538"/>
              <a:gd name="T123" fmla="*/ 132568 h 2170112"/>
              <a:gd name="T124" fmla="*/ 1144342 w 2395538"/>
              <a:gd name="T125" fmla="*/ 45670 h 2170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95538" h="2170112">
                <a:moveTo>
                  <a:pt x="940433" y="595312"/>
                </a:moveTo>
                <a:lnTo>
                  <a:pt x="1643062" y="1217102"/>
                </a:lnTo>
                <a:lnTo>
                  <a:pt x="1643062" y="2170112"/>
                </a:lnTo>
                <a:lnTo>
                  <a:pt x="1433735" y="2170112"/>
                </a:lnTo>
                <a:lnTo>
                  <a:pt x="1159290" y="2170112"/>
                </a:lnTo>
                <a:lnTo>
                  <a:pt x="1159290" y="1557214"/>
                </a:lnTo>
                <a:lnTo>
                  <a:pt x="726341" y="1557214"/>
                </a:lnTo>
                <a:lnTo>
                  <a:pt x="726341" y="2170112"/>
                </a:lnTo>
                <a:lnTo>
                  <a:pt x="612307" y="2170112"/>
                </a:lnTo>
                <a:lnTo>
                  <a:pt x="242887" y="2170112"/>
                </a:lnTo>
                <a:lnTo>
                  <a:pt x="242887" y="1655658"/>
                </a:lnTo>
                <a:lnTo>
                  <a:pt x="242887" y="1217102"/>
                </a:lnTo>
                <a:lnTo>
                  <a:pt x="940433" y="595312"/>
                </a:lnTo>
                <a:close/>
                <a:moveTo>
                  <a:pt x="942657" y="284162"/>
                </a:moveTo>
                <a:lnTo>
                  <a:pt x="1252855" y="559975"/>
                </a:lnTo>
                <a:lnTo>
                  <a:pt x="1441768" y="728510"/>
                </a:lnTo>
                <a:lnTo>
                  <a:pt x="1865630" y="1106523"/>
                </a:lnTo>
                <a:lnTo>
                  <a:pt x="1870393" y="1110966"/>
                </a:lnTo>
                <a:lnTo>
                  <a:pt x="1874520" y="1115727"/>
                </a:lnTo>
                <a:lnTo>
                  <a:pt x="1878013" y="1121123"/>
                </a:lnTo>
                <a:lnTo>
                  <a:pt x="1880553" y="1126519"/>
                </a:lnTo>
                <a:lnTo>
                  <a:pt x="1882775" y="1132232"/>
                </a:lnTo>
                <a:lnTo>
                  <a:pt x="1884680" y="1137627"/>
                </a:lnTo>
                <a:lnTo>
                  <a:pt x="1885633" y="1143658"/>
                </a:lnTo>
                <a:lnTo>
                  <a:pt x="1885950" y="1149053"/>
                </a:lnTo>
                <a:lnTo>
                  <a:pt x="1885633" y="1155084"/>
                </a:lnTo>
                <a:lnTo>
                  <a:pt x="1884680" y="1160797"/>
                </a:lnTo>
                <a:lnTo>
                  <a:pt x="1882775" y="1166510"/>
                </a:lnTo>
                <a:lnTo>
                  <a:pt x="1880553" y="1171906"/>
                </a:lnTo>
                <a:lnTo>
                  <a:pt x="1878013" y="1177619"/>
                </a:lnTo>
                <a:lnTo>
                  <a:pt x="1874520" y="1182697"/>
                </a:lnTo>
                <a:lnTo>
                  <a:pt x="1870393" y="1187775"/>
                </a:lnTo>
                <a:lnTo>
                  <a:pt x="1865630" y="1192219"/>
                </a:lnTo>
                <a:lnTo>
                  <a:pt x="1860550" y="1196345"/>
                </a:lnTo>
                <a:lnTo>
                  <a:pt x="1855153" y="1200153"/>
                </a:lnTo>
                <a:lnTo>
                  <a:pt x="1849438" y="1203010"/>
                </a:lnTo>
                <a:lnTo>
                  <a:pt x="1843405" y="1205549"/>
                </a:lnTo>
                <a:lnTo>
                  <a:pt x="1836738" y="1207453"/>
                </a:lnTo>
                <a:lnTo>
                  <a:pt x="1830705" y="1208723"/>
                </a:lnTo>
                <a:lnTo>
                  <a:pt x="1824038" y="1209358"/>
                </a:lnTo>
                <a:lnTo>
                  <a:pt x="1817688" y="1209675"/>
                </a:lnTo>
                <a:lnTo>
                  <a:pt x="1811020" y="1209358"/>
                </a:lnTo>
                <a:lnTo>
                  <a:pt x="1804670" y="1208723"/>
                </a:lnTo>
                <a:lnTo>
                  <a:pt x="1798320" y="1207453"/>
                </a:lnTo>
                <a:lnTo>
                  <a:pt x="1792288" y="1205549"/>
                </a:lnTo>
                <a:lnTo>
                  <a:pt x="1785938" y="1203010"/>
                </a:lnTo>
                <a:lnTo>
                  <a:pt x="1780223" y="1200153"/>
                </a:lnTo>
                <a:lnTo>
                  <a:pt x="1774825" y="1196345"/>
                </a:lnTo>
                <a:lnTo>
                  <a:pt x="1769745" y="1192219"/>
                </a:lnTo>
                <a:lnTo>
                  <a:pt x="942657" y="455553"/>
                </a:lnTo>
                <a:lnTo>
                  <a:pt x="116205" y="1192219"/>
                </a:lnTo>
                <a:lnTo>
                  <a:pt x="111125" y="1196345"/>
                </a:lnTo>
                <a:lnTo>
                  <a:pt x="105410" y="1200153"/>
                </a:lnTo>
                <a:lnTo>
                  <a:pt x="99695" y="1203010"/>
                </a:lnTo>
                <a:lnTo>
                  <a:pt x="93662" y="1205549"/>
                </a:lnTo>
                <a:lnTo>
                  <a:pt x="87630" y="1207136"/>
                </a:lnTo>
                <a:lnTo>
                  <a:pt x="80962" y="1208723"/>
                </a:lnTo>
                <a:lnTo>
                  <a:pt x="74930" y="1209358"/>
                </a:lnTo>
                <a:lnTo>
                  <a:pt x="68262" y="1209675"/>
                </a:lnTo>
                <a:lnTo>
                  <a:pt x="61277" y="1209358"/>
                </a:lnTo>
                <a:lnTo>
                  <a:pt x="55245" y="1208723"/>
                </a:lnTo>
                <a:lnTo>
                  <a:pt x="48577" y="1207136"/>
                </a:lnTo>
                <a:lnTo>
                  <a:pt x="42545" y="1205549"/>
                </a:lnTo>
                <a:lnTo>
                  <a:pt x="36195" y="1203010"/>
                </a:lnTo>
                <a:lnTo>
                  <a:pt x="30797" y="1200153"/>
                </a:lnTo>
                <a:lnTo>
                  <a:pt x="25082" y="1196345"/>
                </a:lnTo>
                <a:lnTo>
                  <a:pt x="20002" y="1192219"/>
                </a:lnTo>
                <a:lnTo>
                  <a:pt x="15240" y="1187775"/>
                </a:lnTo>
                <a:lnTo>
                  <a:pt x="11112" y="1182697"/>
                </a:lnTo>
                <a:lnTo>
                  <a:pt x="7937" y="1177619"/>
                </a:lnTo>
                <a:lnTo>
                  <a:pt x="5080" y="1171906"/>
                </a:lnTo>
                <a:lnTo>
                  <a:pt x="2540" y="1166510"/>
                </a:lnTo>
                <a:lnTo>
                  <a:pt x="1270" y="1160797"/>
                </a:lnTo>
                <a:lnTo>
                  <a:pt x="317" y="1155084"/>
                </a:lnTo>
                <a:lnTo>
                  <a:pt x="0" y="1149053"/>
                </a:lnTo>
                <a:lnTo>
                  <a:pt x="317" y="1143658"/>
                </a:lnTo>
                <a:lnTo>
                  <a:pt x="1270" y="1137627"/>
                </a:lnTo>
                <a:lnTo>
                  <a:pt x="2540" y="1131914"/>
                </a:lnTo>
                <a:lnTo>
                  <a:pt x="5080" y="1126201"/>
                </a:lnTo>
                <a:lnTo>
                  <a:pt x="7937" y="1121123"/>
                </a:lnTo>
                <a:lnTo>
                  <a:pt x="11112" y="1115727"/>
                </a:lnTo>
                <a:lnTo>
                  <a:pt x="15240" y="1110966"/>
                </a:lnTo>
                <a:lnTo>
                  <a:pt x="20002" y="1106523"/>
                </a:lnTo>
                <a:lnTo>
                  <a:pt x="942657" y="284162"/>
                </a:lnTo>
                <a:close/>
                <a:moveTo>
                  <a:pt x="1910075" y="217487"/>
                </a:moveTo>
                <a:lnTo>
                  <a:pt x="1929430" y="217487"/>
                </a:lnTo>
                <a:lnTo>
                  <a:pt x="1948785" y="218121"/>
                </a:lnTo>
                <a:lnTo>
                  <a:pt x="1968140" y="219388"/>
                </a:lnTo>
                <a:lnTo>
                  <a:pt x="1986860" y="220973"/>
                </a:lnTo>
                <a:lnTo>
                  <a:pt x="2005898" y="222874"/>
                </a:lnTo>
                <a:lnTo>
                  <a:pt x="2024301" y="225726"/>
                </a:lnTo>
                <a:lnTo>
                  <a:pt x="2043022" y="228578"/>
                </a:lnTo>
                <a:lnTo>
                  <a:pt x="2061425" y="231747"/>
                </a:lnTo>
                <a:lnTo>
                  <a:pt x="2079193" y="235550"/>
                </a:lnTo>
                <a:lnTo>
                  <a:pt x="2097279" y="239669"/>
                </a:lnTo>
                <a:lnTo>
                  <a:pt x="2114413" y="243789"/>
                </a:lnTo>
                <a:lnTo>
                  <a:pt x="2131865" y="248542"/>
                </a:lnTo>
                <a:lnTo>
                  <a:pt x="2148364" y="252979"/>
                </a:lnTo>
                <a:lnTo>
                  <a:pt x="2164546" y="258049"/>
                </a:lnTo>
                <a:lnTo>
                  <a:pt x="2181046" y="263119"/>
                </a:lnTo>
                <a:lnTo>
                  <a:pt x="2196593" y="268189"/>
                </a:lnTo>
                <a:lnTo>
                  <a:pt x="2211506" y="273893"/>
                </a:lnTo>
                <a:lnTo>
                  <a:pt x="2226419" y="278963"/>
                </a:lnTo>
                <a:lnTo>
                  <a:pt x="2240697" y="284667"/>
                </a:lnTo>
                <a:lnTo>
                  <a:pt x="2267668" y="295758"/>
                </a:lnTo>
                <a:lnTo>
                  <a:pt x="2292734" y="306216"/>
                </a:lnTo>
                <a:lnTo>
                  <a:pt x="2315579" y="316673"/>
                </a:lnTo>
                <a:lnTo>
                  <a:pt x="2335886" y="326496"/>
                </a:lnTo>
                <a:lnTo>
                  <a:pt x="2353338" y="335686"/>
                </a:lnTo>
                <a:lnTo>
                  <a:pt x="2368251" y="343608"/>
                </a:lnTo>
                <a:lnTo>
                  <a:pt x="2379991" y="349946"/>
                </a:lnTo>
                <a:lnTo>
                  <a:pt x="2388557" y="355016"/>
                </a:lnTo>
                <a:lnTo>
                  <a:pt x="2395538" y="359136"/>
                </a:lnTo>
                <a:lnTo>
                  <a:pt x="2386971" y="360403"/>
                </a:lnTo>
                <a:lnTo>
                  <a:pt x="2378721" y="361988"/>
                </a:lnTo>
                <a:lnTo>
                  <a:pt x="2370154" y="363572"/>
                </a:lnTo>
                <a:lnTo>
                  <a:pt x="2361587" y="365791"/>
                </a:lnTo>
                <a:lnTo>
                  <a:pt x="2353020" y="368009"/>
                </a:lnTo>
                <a:lnTo>
                  <a:pt x="2345088" y="370544"/>
                </a:lnTo>
                <a:lnTo>
                  <a:pt x="2336521" y="373079"/>
                </a:lnTo>
                <a:lnTo>
                  <a:pt x="2328271" y="375614"/>
                </a:lnTo>
                <a:lnTo>
                  <a:pt x="2320656" y="379100"/>
                </a:lnTo>
                <a:lnTo>
                  <a:pt x="2312406" y="382269"/>
                </a:lnTo>
                <a:lnTo>
                  <a:pt x="2304157" y="385755"/>
                </a:lnTo>
                <a:lnTo>
                  <a:pt x="2296541" y="389557"/>
                </a:lnTo>
                <a:lnTo>
                  <a:pt x="2280677" y="397162"/>
                </a:lnTo>
                <a:lnTo>
                  <a:pt x="2265446" y="405718"/>
                </a:lnTo>
                <a:lnTo>
                  <a:pt x="2250533" y="415225"/>
                </a:lnTo>
                <a:lnTo>
                  <a:pt x="2235303" y="425049"/>
                </a:lnTo>
                <a:lnTo>
                  <a:pt x="2220708" y="435189"/>
                </a:lnTo>
                <a:lnTo>
                  <a:pt x="2206429" y="446280"/>
                </a:lnTo>
                <a:lnTo>
                  <a:pt x="2192468" y="457688"/>
                </a:lnTo>
                <a:lnTo>
                  <a:pt x="2178825" y="469730"/>
                </a:lnTo>
                <a:lnTo>
                  <a:pt x="2164863" y="482088"/>
                </a:lnTo>
                <a:lnTo>
                  <a:pt x="2151854" y="495081"/>
                </a:lnTo>
                <a:lnTo>
                  <a:pt x="2138845" y="508390"/>
                </a:lnTo>
                <a:lnTo>
                  <a:pt x="2126153" y="521699"/>
                </a:lnTo>
                <a:lnTo>
                  <a:pt x="2113779" y="535325"/>
                </a:lnTo>
                <a:lnTo>
                  <a:pt x="2101721" y="549268"/>
                </a:lnTo>
                <a:lnTo>
                  <a:pt x="2089664" y="563528"/>
                </a:lnTo>
                <a:lnTo>
                  <a:pt x="2078242" y="578105"/>
                </a:lnTo>
                <a:lnTo>
                  <a:pt x="2066819" y="592682"/>
                </a:lnTo>
                <a:lnTo>
                  <a:pt x="2055714" y="607259"/>
                </a:lnTo>
                <a:lnTo>
                  <a:pt x="2044926" y="621519"/>
                </a:lnTo>
                <a:lnTo>
                  <a:pt x="2034455" y="636413"/>
                </a:lnTo>
                <a:lnTo>
                  <a:pt x="2024301" y="650989"/>
                </a:lnTo>
                <a:lnTo>
                  <a:pt x="2014782" y="665566"/>
                </a:lnTo>
                <a:lnTo>
                  <a:pt x="1995745" y="694403"/>
                </a:lnTo>
                <a:lnTo>
                  <a:pt x="1977976" y="722289"/>
                </a:lnTo>
                <a:lnTo>
                  <a:pt x="1972582" y="730845"/>
                </a:lnTo>
                <a:lnTo>
                  <a:pt x="1966553" y="739084"/>
                </a:lnTo>
                <a:lnTo>
                  <a:pt x="1960525" y="747006"/>
                </a:lnTo>
                <a:lnTo>
                  <a:pt x="1954179" y="755245"/>
                </a:lnTo>
                <a:lnTo>
                  <a:pt x="1947833" y="762534"/>
                </a:lnTo>
                <a:lnTo>
                  <a:pt x="1940852" y="770139"/>
                </a:lnTo>
                <a:lnTo>
                  <a:pt x="1933872" y="777111"/>
                </a:lnTo>
                <a:lnTo>
                  <a:pt x="1926257" y="784082"/>
                </a:lnTo>
                <a:lnTo>
                  <a:pt x="1918642" y="790737"/>
                </a:lnTo>
                <a:lnTo>
                  <a:pt x="1911027" y="797075"/>
                </a:lnTo>
                <a:lnTo>
                  <a:pt x="1902777" y="803412"/>
                </a:lnTo>
                <a:lnTo>
                  <a:pt x="1894527" y="809116"/>
                </a:lnTo>
                <a:lnTo>
                  <a:pt x="1886277" y="815137"/>
                </a:lnTo>
                <a:lnTo>
                  <a:pt x="1877710" y="820524"/>
                </a:lnTo>
                <a:lnTo>
                  <a:pt x="1868826" y="825911"/>
                </a:lnTo>
                <a:lnTo>
                  <a:pt x="1859625" y="830665"/>
                </a:lnTo>
                <a:lnTo>
                  <a:pt x="1850740" y="835735"/>
                </a:lnTo>
                <a:lnTo>
                  <a:pt x="1841539" y="839854"/>
                </a:lnTo>
                <a:lnTo>
                  <a:pt x="1832020" y="843974"/>
                </a:lnTo>
                <a:lnTo>
                  <a:pt x="1822501" y="848410"/>
                </a:lnTo>
                <a:lnTo>
                  <a:pt x="1812665" y="851896"/>
                </a:lnTo>
                <a:lnTo>
                  <a:pt x="1803146" y="855065"/>
                </a:lnTo>
                <a:lnTo>
                  <a:pt x="1793310" y="858551"/>
                </a:lnTo>
                <a:lnTo>
                  <a:pt x="1783473" y="861403"/>
                </a:lnTo>
                <a:lnTo>
                  <a:pt x="1773320" y="863938"/>
                </a:lnTo>
                <a:lnTo>
                  <a:pt x="1763166" y="866156"/>
                </a:lnTo>
                <a:lnTo>
                  <a:pt x="1753013" y="868374"/>
                </a:lnTo>
                <a:lnTo>
                  <a:pt x="1742542" y="870276"/>
                </a:lnTo>
                <a:lnTo>
                  <a:pt x="1732706" y="871860"/>
                </a:lnTo>
                <a:lnTo>
                  <a:pt x="1722235" y="873128"/>
                </a:lnTo>
                <a:lnTo>
                  <a:pt x="1711764" y="874078"/>
                </a:lnTo>
                <a:lnTo>
                  <a:pt x="1701611" y="874712"/>
                </a:lnTo>
                <a:lnTo>
                  <a:pt x="1548674" y="738450"/>
                </a:lnTo>
                <a:lnTo>
                  <a:pt x="1558510" y="722923"/>
                </a:lnTo>
                <a:lnTo>
                  <a:pt x="1568664" y="707079"/>
                </a:lnTo>
                <a:lnTo>
                  <a:pt x="1578500" y="691234"/>
                </a:lnTo>
                <a:lnTo>
                  <a:pt x="1589288" y="676024"/>
                </a:lnTo>
                <a:lnTo>
                  <a:pt x="1605470" y="653841"/>
                </a:lnTo>
                <a:lnTo>
                  <a:pt x="1622287" y="631976"/>
                </a:lnTo>
                <a:lnTo>
                  <a:pt x="1630854" y="621202"/>
                </a:lnTo>
                <a:lnTo>
                  <a:pt x="1639738" y="610745"/>
                </a:lnTo>
                <a:lnTo>
                  <a:pt x="1648305" y="600604"/>
                </a:lnTo>
                <a:lnTo>
                  <a:pt x="1657507" y="590147"/>
                </a:lnTo>
                <a:lnTo>
                  <a:pt x="1667026" y="580007"/>
                </a:lnTo>
                <a:lnTo>
                  <a:pt x="1676545" y="569866"/>
                </a:lnTo>
                <a:lnTo>
                  <a:pt x="1686063" y="560043"/>
                </a:lnTo>
                <a:lnTo>
                  <a:pt x="1695582" y="550219"/>
                </a:lnTo>
                <a:lnTo>
                  <a:pt x="1705418" y="540396"/>
                </a:lnTo>
                <a:lnTo>
                  <a:pt x="1715572" y="531523"/>
                </a:lnTo>
                <a:lnTo>
                  <a:pt x="1726043" y="522016"/>
                </a:lnTo>
                <a:lnTo>
                  <a:pt x="1736514" y="513143"/>
                </a:lnTo>
                <a:lnTo>
                  <a:pt x="1746984" y="503954"/>
                </a:lnTo>
                <a:lnTo>
                  <a:pt x="1757772" y="495714"/>
                </a:lnTo>
                <a:lnTo>
                  <a:pt x="1768878" y="487158"/>
                </a:lnTo>
                <a:lnTo>
                  <a:pt x="1779983" y="478919"/>
                </a:lnTo>
                <a:lnTo>
                  <a:pt x="1791089" y="470680"/>
                </a:lnTo>
                <a:lnTo>
                  <a:pt x="1802194" y="463075"/>
                </a:lnTo>
                <a:lnTo>
                  <a:pt x="1813934" y="455470"/>
                </a:lnTo>
                <a:lnTo>
                  <a:pt x="1825674" y="448498"/>
                </a:lnTo>
                <a:lnTo>
                  <a:pt x="1838048" y="441210"/>
                </a:lnTo>
                <a:lnTo>
                  <a:pt x="1850106" y="434238"/>
                </a:lnTo>
                <a:lnTo>
                  <a:pt x="1862163" y="427901"/>
                </a:lnTo>
                <a:lnTo>
                  <a:pt x="1874537" y="421563"/>
                </a:lnTo>
                <a:lnTo>
                  <a:pt x="1887229" y="415859"/>
                </a:lnTo>
                <a:lnTo>
                  <a:pt x="1899921" y="409838"/>
                </a:lnTo>
                <a:lnTo>
                  <a:pt x="1912613" y="404451"/>
                </a:lnTo>
                <a:lnTo>
                  <a:pt x="1925622" y="399381"/>
                </a:lnTo>
                <a:lnTo>
                  <a:pt x="1938631" y="394627"/>
                </a:lnTo>
                <a:lnTo>
                  <a:pt x="1951958" y="390191"/>
                </a:lnTo>
                <a:lnTo>
                  <a:pt x="1965284" y="385755"/>
                </a:lnTo>
                <a:lnTo>
                  <a:pt x="1978928" y="382269"/>
                </a:lnTo>
                <a:lnTo>
                  <a:pt x="1992572" y="378783"/>
                </a:lnTo>
                <a:lnTo>
                  <a:pt x="2006215" y="375297"/>
                </a:lnTo>
                <a:lnTo>
                  <a:pt x="2019859" y="372445"/>
                </a:lnTo>
                <a:lnTo>
                  <a:pt x="2033820" y="369910"/>
                </a:lnTo>
                <a:lnTo>
                  <a:pt x="2047781" y="368009"/>
                </a:lnTo>
                <a:lnTo>
                  <a:pt x="2062059" y="366107"/>
                </a:lnTo>
                <a:lnTo>
                  <a:pt x="2076021" y="364206"/>
                </a:lnTo>
                <a:lnTo>
                  <a:pt x="2089981" y="362938"/>
                </a:lnTo>
                <a:lnTo>
                  <a:pt x="2104260" y="362305"/>
                </a:lnTo>
                <a:lnTo>
                  <a:pt x="2118538" y="361671"/>
                </a:lnTo>
                <a:lnTo>
                  <a:pt x="2132817" y="361354"/>
                </a:lnTo>
                <a:lnTo>
                  <a:pt x="2147095" y="361671"/>
                </a:lnTo>
                <a:lnTo>
                  <a:pt x="2133134" y="359770"/>
                </a:lnTo>
                <a:lnTo>
                  <a:pt x="2118538" y="358502"/>
                </a:lnTo>
                <a:lnTo>
                  <a:pt x="2104260" y="357235"/>
                </a:lnTo>
                <a:lnTo>
                  <a:pt x="2089981" y="356601"/>
                </a:lnTo>
                <a:lnTo>
                  <a:pt x="2075703" y="355967"/>
                </a:lnTo>
                <a:lnTo>
                  <a:pt x="2061425" y="355967"/>
                </a:lnTo>
                <a:lnTo>
                  <a:pt x="2046829" y="355967"/>
                </a:lnTo>
                <a:lnTo>
                  <a:pt x="2032234" y="356601"/>
                </a:lnTo>
                <a:lnTo>
                  <a:pt x="2017955" y="357552"/>
                </a:lnTo>
                <a:lnTo>
                  <a:pt x="2003677" y="358819"/>
                </a:lnTo>
                <a:lnTo>
                  <a:pt x="1989081" y="360403"/>
                </a:lnTo>
                <a:lnTo>
                  <a:pt x="1974803" y="362305"/>
                </a:lnTo>
                <a:lnTo>
                  <a:pt x="1960525" y="364523"/>
                </a:lnTo>
                <a:lnTo>
                  <a:pt x="1946246" y="367375"/>
                </a:lnTo>
                <a:lnTo>
                  <a:pt x="1931968" y="370227"/>
                </a:lnTo>
                <a:lnTo>
                  <a:pt x="1917373" y="373713"/>
                </a:lnTo>
                <a:lnTo>
                  <a:pt x="1903411" y="377515"/>
                </a:lnTo>
                <a:lnTo>
                  <a:pt x="1889450" y="381318"/>
                </a:lnTo>
                <a:lnTo>
                  <a:pt x="1875489" y="385755"/>
                </a:lnTo>
                <a:lnTo>
                  <a:pt x="1861528" y="390508"/>
                </a:lnTo>
                <a:lnTo>
                  <a:pt x="1847567" y="395578"/>
                </a:lnTo>
                <a:lnTo>
                  <a:pt x="1833924" y="400965"/>
                </a:lnTo>
                <a:lnTo>
                  <a:pt x="1820280" y="406669"/>
                </a:lnTo>
                <a:lnTo>
                  <a:pt x="1806953" y="412690"/>
                </a:lnTo>
                <a:lnTo>
                  <a:pt x="1793627" y="418711"/>
                </a:lnTo>
                <a:lnTo>
                  <a:pt x="1780618" y="425366"/>
                </a:lnTo>
                <a:lnTo>
                  <a:pt x="1766974" y="432020"/>
                </a:lnTo>
                <a:lnTo>
                  <a:pt x="1754282" y="438992"/>
                </a:lnTo>
                <a:lnTo>
                  <a:pt x="1741273" y="446280"/>
                </a:lnTo>
                <a:lnTo>
                  <a:pt x="1728898" y="453885"/>
                </a:lnTo>
                <a:lnTo>
                  <a:pt x="1716207" y="461808"/>
                </a:lnTo>
                <a:lnTo>
                  <a:pt x="1703832" y="469730"/>
                </a:lnTo>
                <a:lnTo>
                  <a:pt x="1691775" y="478286"/>
                </a:lnTo>
                <a:lnTo>
                  <a:pt x="1679717" y="486842"/>
                </a:lnTo>
                <a:lnTo>
                  <a:pt x="1667660" y="495398"/>
                </a:lnTo>
                <a:lnTo>
                  <a:pt x="1655920" y="504270"/>
                </a:lnTo>
                <a:lnTo>
                  <a:pt x="1644180" y="513460"/>
                </a:lnTo>
                <a:lnTo>
                  <a:pt x="1632758" y="522967"/>
                </a:lnTo>
                <a:lnTo>
                  <a:pt x="1621335" y="532473"/>
                </a:lnTo>
                <a:lnTo>
                  <a:pt x="1610230" y="542297"/>
                </a:lnTo>
                <a:lnTo>
                  <a:pt x="1599124" y="551804"/>
                </a:lnTo>
                <a:lnTo>
                  <a:pt x="1588336" y="561944"/>
                </a:lnTo>
                <a:lnTo>
                  <a:pt x="1577548" y="572084"/>
                </a:lnTo>
                <a:lnTo>
                  <a:pt x="1566760" y="582542"/>
                </a:lnTo>
                <a:lnTo>
                  <a:pt x="1556606" y="592999"/>
                </a:lnTo>
                <a:lnTo>
                  <a:pt x="1546136" y="603773"/>
                </a:lnTo>
                <a:lnTo>
                  <a:pt x="1535982" y="614547"/>
                </a:lnTo>
                <a:lnTo>
                  <a:pt x="1526146" y="625638"/>
                </a:lnTo>
                <a:lnTo>
                  <a:pt x="1514406" y="638631"/>
                </a:lnTo>
                <a:lnTo>
                  <a:pt x="1503301" y="651623"/>
                </a:lnTo>
                <a:lnTo>
                  <a:pt x="1492195" y="664932"/>
                </a:lnTo>
                <a:lnTo>
                  <a:pt x="1481407" y="678559"/>
                </a:lnTo>
                <a:lnTo>
                  <a:pt x="1406525" y="612012"/>
                </a:lnTo>
                <a:lnTo>
                  <a:pt x="1407160" y="604407"/>
                </a:lnTo>
                <a:lnTo>
                  <a:pt x="1408112" y="596802"/>
                </a:lnTo>
                <a:lnTo>
                  <a:pt x="1409381" y="589196"/>
                </a:lnTo>
                <a:lnTo>
                  <a:pt x="1410967" y="581274"/>
                </a:lnTo>
                <a:lnTo>
                  <a:pt x="1412554" y="573352"/>
                </a:lnTo>
                <a:lnTo>
                  <a:pt x="1415092" y="565430"/>
                </a:lnTo>
                <a:lnTo>
                  <a:pt x="1417313" y="557191"/>
                </a:lnTo>
                <a:lnTo>
                  <a:pt x="1420169" y="548952"/>
                </a:lnTo>
                <a:lnTo>
                  <a:pt x="1423025" y="540396"/>
                </a:lnTo>
                <a:lnTo>
                  <a:pt x="1426198" y="532157"/>
                </a:lnTo>
                <a:lnTo>
                  <a:pt x="1430322" y="523601"/>
                </a:lnTo>
                <a:lnTo>
                  <a:pt x="1434130" y="514728"/>
                </a:lnTo>
                <a:lnTo>
                  <a:pt x="1438572" y="505855"/>
                </a:lnTo>
                <a:lnTo>
                  <a:pt x="1443332" y="497299"/>
                </a:lnTo>
                <a:lnTo>
                  <a:pt x="1448408" y="488109"/>
                </a:lnTo>
                <a:lnTo>
                  <a:pt x="1453802" y="478919"/>
                </a:lnTo>
                <a:lnTo>
                  <a:pt x="1461100" y="467195"/>
                </a:lnTo>
                <a:lnTo>
                  <a:pt x="1469033" y="455787"/>
                </a:lnTo>
                <a:lnTo>
                  <a:pt x="1476648" y="444696"/>
                </a:lnTo>
                <a:lnTo>
                  <a:pt x="1484263" y="433921"/>
                </a:lnTo>
                <a:lnTo>
                  <a:pt x="1492195" y="423464"/>
                </a:lnTo>
                <a:lnTo>
                  <a:pt x="1500128" y="413641"/>
                </a:lnTo>
                <a:lnTo>
                  <a:pt x="1508060" y="403817"/>
                </a:lnTo>
                <a:lnTo>
                  <a:pt x="1516310" y="393994"/>
                </a:lnTo>
                <a:lnTo>
                  <a:pt x="1524877" y="384804"/>
                </a:lnTo>
                <a:lnTo>
                  <a:pt x="1533127" y="375614"/>
                </a:lnTo>
                <a:lnTo>
                  <a:pt x="1541376" y="367375"/>
                </a:lnTo>
                <a:lnTo>
                  <a:pt x="1549943" y="358819"/>
                </a:lnTo>
                <a:lnTo>
                  <a:pt x="1558828" y="350580"/>
                </a:lnTo>
                <a:lnTo>
                  <a:pt x="1567077" y="342975"/>
                </a:lnTo>
                <a:lnTo>
                  <a:pt x="1575962" y="335369"/>
                </a:lnTo>
                <a:lnTo>
                  <a:pt x="1584846" y="328081"/>
                </a:lnTo>
                <a:lnTo>
                  <a:pt x="1594047" y="321109"/>
                </a:lnTo>
                <a:lnTo>
                  <a:pt x="1602932" y="314455"/>
                </a:lnTo>
                <a:lnTo>
                  <a:pt x="1611816" y="308117"/>
                </a:lnTo>
                <a:lnTo>
                  <a:pt x="1621018" y="301779"/>
                </a:lnTo>
                <a:lnTo>
                  <a:pt x="1630219" y="296075"/>
                </a:lnTo>
                <a:lnTo>
                  <a:pt x="1639421" y="290054"/>
                </a:lnTo>
                <a:lnTo>
                  <a:pt x="1648622" y="284667"/>
                </a:lnTo>
                <a:lnTo>
                  <a:pt x="1657824" y="279280"/>
                </a:lnTo>
                <a:lnTo>
                  <a:pt x="1667343" y="274527"/>
                </a:lnTo>
                <a:lnTo>
                  <a:pt x="1676862" y="269457"/>
                </a:lnTo>
                <a:lnTo>
                  <a:pt x="1686381" y="265337"/>
                </a:lnTo>
                <a:lnTo>
                  <a:pt x="1695582" y="261218"/>
                </a:lnTo>
                <a:lnTo>
                  <a:pt x="1705101" y="256781"/>
                </a:lnTo>
                <a:lnTo>
                  <a:pt x="1714937" y="252979"/>
                </a:lnTo>
                <a:lnTo>
                  <a:pt x="1724456" y="249493"/>
                </a:lnTo>
                <a:lnTo>
                  <a:pt x="1734292" y="246007"/>
                </a:lnTo>
                <a:lnTo>
                  <a:pt x="1743494" y="242838"/>
                </a:lnTo>
                <a:lnTo>
                  <a:pt x="1753330" y="239986"/>
                </a:lnTo>
                <a:lnTo>
                  <a:pt x="1763166" y="237134"/>
                </a:lnTo>
                <a:lnTo>
                  <a:pt x="1773003" y="234599"/>
                </a:lnTo>
                <a:lnTo>
                  <a:pt x="1792675" y="230163"/>
                </a:lnTo>
                <a:lnTo>
                  <a:pt x="1812030" y="226360"/>
                </a:lnTo>
                <a:lnTo>
                  <a:pt x="1831702" y="222874"/>
                </a:lnTo>
                <a:lnTo>
                  <a:pt x="1851375" y="220656"/>
                </a:lnTo>
                <a:lnTo>
                  <a:pt x="1870730" y="219072"/>
                </a:lnTo>
                <a:lnTo>
                  <a:pt x="1890402" y="217804"/>
                </a:lnTo>
                <a:lnTo>
                  <a:pt x="1910075" y="217487"/>
                </a:lnTo>
                <a:close/>
                <a:moveTo>
                  <a:pt x="1112837" y="0"/>
                </a:moveTo>
                <a:lnTo>
                  <a:pt x="1116656" y="634"/>
                </a:lnTo>
                <a:lnTo>
                  <a:pt x="1128112" y="2854"/>
                </a:lnTo>
                <a:lnTo>
                  <a:pt x="1146570" y="6660"/>
                </a:lnTo>
                <a:lnTo>
                  <a:pt x="1157708" y="9197"/>
                </a:lnTo>
                <a:lnTo>
                  <a:pt x="1170119" y="12369"/>
                </a:lnTo>
                <a:lnTo>
                  <a:pt x="1183485" y="16175"/>
                </a:lnTo>
                <a:lnTo>
                  <a:pt x="1198124" y="20298"/>
                </a:lnTo>
                <a:lnTo>
                  <a:pt x="1213399" y="25372"/>
                </a:lnTo>
                <a:lnTo>
                  <a:pt x="1229629" y="30763"/>
                </a:lnTo>
                <a:lnTo>
                  <a:pt x="1246495" y="37106"/>
                </a:lnTo>
                <a:lnTo>
                  <a:pt x="1263998" y="43767"/>
                </a:lnTo>
                <a:lnTo>
                  <a:pt x="1281501" y="51378"/>
                </a:lnTo>
                <a:lnTo>
                  <a:pt x="1299640" y="59307"/>
                </a:lnTo>
                <a:lnTo>
                  <a:pt x="1317780" y="68504"/>
                </a:lnTo>
                <a:lnTo>
                  <a:pt x="1336237" y="78653"/>
                </a:lnTo>
                <a:lnTo>
                  <a:pt x="1345148" y="84045"/>
                </a:lnTo>
                <a:lnTo>
                  <a:pt x="1354058" y="89436"/>
                </a:lnTo>
                <a:lnTo>
                  <a:pt x="1363287" y="95462"/>
                </a:lnTo>
                <a:lnTo>
                  <a:pt x="1372198" y="101171"/>
                </a:lnTo>
                <a:lnTo>
                  <a:pt x="1381108" y="107514"/>
                </a:lnTo>
                <a:lnTo>
                  <a:pt x="1389701" y="113540"/>
                </a:lnTo>
                <a:lnTo>
                  <a:pt x="1398293" y="120517"/>
                </a:lnTo>
                <a:lnTo>
                  <a:pt x="1406886" y="127177"/>
                </a:lnTo>
                <a:lnTo>
                  <a:pt x="1415160" y="134471"/>
                </a:lnTo>
                <a:lnTo>
                  <a:pt x="1423116" y="141449"/>
                </a:lnTo>
                <a:lnTo>
                  <a:pt x="1431390" y="149377"/>
                </a:lnTo>
                <a:lnTo>
                  <a:pt x="1439346" y="157306"/>
                </a:lnTo>
                <a:lnTo>
                  <a:pt x="1446665" y="165552"/>
                </a:lnTo>
                <a:lnTo>
                  <a:pt x="1454303" y="173798"/>
                </a:lnTo>
                <a:lnTo>
                  <a:pt x="1461304" y="182361"/>
                </a:lnTo>
                <a:lnTo>
                  <a:pt x="1468305" y="191241"/>
                </a:lnTo>
                <a:lnTo>
                  <a:pt x="1474988" y="200756"/>
                </a:lnTo>
                <a:lnTo>
                  <a:pt x="1481034" y="209953"/>
                </a:lnTo>
                <a:lnTo>
                  <a:pt x="1487399" y="219785"/>
                </a:lnTo>
                <a:lnTo>
                  <a:pt x="1492809" y="229616"/>
                </a:lnTo>
                <a:lnTo>
                  <a:pt x="1498537" y="240082"/>
                </a:lnTo>
                <a:lnTo>
                  <a:pt x="1503311" y="250865"/>
                </a:lnTo>
                <a:lnTo>
                  <a:pt x="1508084" y="261648"/>
                </a:lnTo>
                <a:lnTo>
                  <a:pt x="1512540" y="273066"/>
                </a:lnTo>
                <a:lnTo>
                  <a:pt x="1516358" y="284483"/>
                </a:lnTo>
                <a:lnTo>
                  <a:pt x="1519859" y="296218"/>
                </a:lnTo>
                <a:lnTo>
                  <a:pt x="1523041" y="308269"/>
                </a:lnTo>
                <a:lnTo>
                  <a:pt x="1525587" y="320955"/>
                </a:lnTo>
                <a:lnTo>
                  <a:pt x="1512540" y="333641"/>
                </a:lnTo>
                <a:lnTo>
                  <a:pt x="1499492" y="346645"/>
                </a:lnTo>
                <a:lnTo>
                  <a:pt x="1486763" y="360599"/>
                </a:lnTo>
                <a:lnTo>
                  <a:pt x="1474351" y="374554"/>
                </a:lnTo>
                <a:lnTo>
                  <a:pt x="1462259" y="389777"/>
                </a:lnTo>
                <a:lnTo>
                  <a:pt x="1450484" y="405000"/>
                </a:lnTo>
                <a:lnTo>
                  <a:pt x="1439027" y="420540"/>
                </a:lnTo>
                <a:lnTo>
                  <a:pt x="1427889" y="437032"/>
                </a:lnTo>
                <a:lnTo>
                  <a:pt x="1426616" y="424346"/>
                </a:lnTo>
                <a:lnTo>
                  <a:pt x="1424389" y="411343"/>
                </a:lnTo>
                <a:lnTo>
                  <a:pt x="1422479" y="398340"/>
                </a:lnTo>
                <a:lnTo>
                  <a:pt x="1420252" y="385654"/>
                </a:lnTo>
                <a:lnTo>
                  <a:pt x="1417706" y="373285"/>
                </a:lnTo>
                <a:lnTo>
                  <a:pt x="1414842" y="360599"/>
                </a:lnTo>
                <a:lnTo>
                  <a:pt x="1411341" y="348230"/>
                </a:lnTo>
                <a:lnTo>
                  <a:pt x="1408159" y="335544"/>
                </a:lnTo>
                <a:lnTo>
                  <a:pt x="1402112" y="317467"/>
                </a:lnTo>
                <a:lnTo>
                  <a:pt x="1396065" y="299706"/>
                </a:lnTo>
                <a:lnTo>
                  <a:pt x="1388746" y="281946"/>
                </a:lnTo>
                <a:lnTo>
                  <a:pt x="1384927" y="273700"/>
                </a:lnTo>
                <a:lnTo>
                  <a:pt x="1381108" y="265137"/>
                </a:lnTo>
                <a:lnTo>
                  <a:pt x="1376653" y="256574"/>
                </a:lnTo>
                <a:lnTo>
                  <a:pt x="1372516" y="248328"/>
                </a:lnTo>
                <a:lnTo>
                  <a:pt x="1368061" y="240082"/>
                </a:lnTo>
                <a:lnTo>
                  <a:pt x="1363287" y="231836"/>
                </a:lnTo>
                <a:lnTo>
                  <a:pt x="1358514" y="223591"/>
                </a:lnTo>
                <a:lnTo>
                  <a:pt x="1353104" y="215979"/>
                </a:lnTo>
                <a:lnTo>
                  <a:pt x="1348012" y="208050"/>
                </a:lnTo>
                <a:lnTo>
                  <a:pt x="1342284" y="200121"/>
                </a:lnTo>
                <a:lnTo>
                  <a:pt x="1336874" y="192827"/>
                </a:lnTo>
                <a:lnTo>
                  <a:pt x="1330827" y="185215"/>
                </a:lnTo>
                <a:lnTo>
                  <a:pt x="1325099" y="178238"/>
                </a:lnTo>
                <a:lnTo>
                  <a:pt x="1319053" y="171261"/>
                </a:lnTo>
                <a:lnTo>
                  <a:pt x="1312688" y="164284"/>
                </a:lnTo>
                <a:lnTo>
                  <a:pt x="1306323" y="157623"/>
                </a:lnTo>
                <a:lnTo>
                  <a:pt x="1299640" y="150963"/>
                </a:lnTo>
                <a:lnTo>
                  <a:pt x="1292957" y="144620"/>
                </a:lnTo>
                <a:lnTo>
                  <a:pt x="1286274" y="138277"/>
                </a:lnTo>
                <a:lnTo>
                  <a:pt x="1278955" y="132251"/>
                </a:lnTo>
                <a:lnTo>
                  <a:pt x="1271636" y="126225"/>
                </a:lnTo>
                <a:lnTo>
                  <a:pt x="1264635" y="120834"/>
                </a:lnTo>
                <a:lnTo>
                  <a:pt x="1257315" y="115125"/>
                </a:lnTo>
                <a:lnTo>
                  <a:pt x="1249996" y="110051"/>
                </a:lnTo>
                <a:lnTo>
                  <a:pt x="1242040" y="104659"/>
                </a:lnTo>
                <a:lnTo>
                  <a:pt x="1234402" y="99902"/>
                </a:lnTo>
                <a:lnTo>
                  <a:pt x="1241403" y="105611"/>
                </a:lnTo>
                <a:lnTo>
                  <a:pt x="1248086" y="111637"/>
                </a:lnTo>
                <a:lnTo>
                  <a:pt x="1255088" y="117663"/>
                </a:lnTo>
                <a:lnTo>
                  <a:pt x="1262089" y="124006"/>
                </a:lnTo>
                <a:lnTo>
                  <a:pt x="1268135" y="130666"/>
                </a:lnTo>
                <a:lnTo>
                  <a:pt x="1274818" y="137009"/>
                </a:lnTo>
                <a:lnTo>
                  <a:pt x="1280546" y="143986"/>
                </a:lnTo>
                <a:lnTo>
                  <a:pt x="1286911" y="150646"/>
                </a:lnTo>
                <a:lnTo>
                  <a:pt x="1292321" y="157623"/>
                </a:lnTo>
                <a:lnTo>
                  <a:pt x="1298367" y="164601"/>
                </a:lnTo>
                <a:lnTo>
                  <a:pt x="1303459" y="171895"/>
                </a:lnTo>
                <a:lnTo>
                  <a:pt x="1308869" y="179190"/>
                </a:lnTo>
                <a:lnTo>
                  <a:pt x="1313961" y="186484"/>
                </a:lnTo>
                <a:lnTo>
                  <a:pt x="1318734" y="194095"/>
                </a:lnTo>
                <a:lnTo>
                  <a:pt x="1323508" y="202024"/>
                </a:lnTo>
                <a:lnTo>
                  <a:pt x="1327963" y="209636"/>
                </a:lnTo>
                <a:lnTo>
                  <a:pt x="1332418" y="217565"/>
                </a:lnTo>
                <a:lnTo>
                  <a:pt x="1336237" y="225493"/>
                </a:lnTo>
                <a:lnTo>
                  <a:pt x="1340056" y="233422"/>
                </a:lnTo>
                <a:lnTo>
                  <a:pt x="1344193" y="241668"/>
                </a:lnTo>
                <a:lnTo>
                  <a:pt x="1347376" y="249914"/>
                </a:lnTo>
                <a:lnTo>
                  <a:pt x="1350558" y="257843"/>
                </a:lnTo>
                <a:lnTo>
                  <a:pt x="1356923" y="274969"/>
                </a:lnTo>
                <a:lnTo>
                  <a:pt x="1362333" y="291778"/>
                </a:lnTo>
                <a:lnTo>
                  <a:pt x="1366788" y="308904"/>
                </a:lnTo>
                <a:lnTo>
                  <a:pt x="1370925" y="326030"/>
                </a:lnTo>
                <a:lnTo>
                  <a:pt x="1374107" y="343790"/>
                </a:lnTo>
                <a:lnTo>
                  <a:pt x="1376653" y="360916"/>
                </a:lnTo>
                <a:lnTo>
                  <a:pt x="1378562" y="378677"/>
                </a:lnTo>
                <a:lnTo>
                  <a:pt x="1380472" y="396120"/>
                </a:lnTo>
                <a:lnTo>
                  <a:pt x="1381108" y="413880"/>
                </a:lnTo>
                <a:lnTo>
                  <a:pt x="1381427" y="431641"/>
                </a:lnTo>
                <a:lnTo>
                  <a:pt x="1381108" y="449401"/>
                </a:lnTo>
                <a:lnTo>
                  <a:pt x="1380472" y="466844"/>
                </a:lnTo>
                <a:lnTo>
                  <a:pt x="1378881" y="484605"/>
                </a:lnTo>
                <a:lnTo>
                  <a:pt x="1377290" y="502048"/>
                </a:lnTo>
                <a:lnTo>
                  <a:pt x="1375380" y="519491"/>
                </a:lnTo>
                <a:lnTo>
                  <a:pt x="1372516" y="536934"/>
                </a:lnTo>
                <a:lnTo>
                  <a:pt x="1369652" y="554378"/>
                </a:lnTo>
                <a:lnTo>
                  <a:pt x="1367106" y="564843"/>
                </a:lnTo>
                <a:lnTo>
                  <a:pt x="1364878" y="574675"/>
                </a:lnTo>
                <a:lnTo>
                  <a:pt x="1334646" y="547717"/>
                </a:lnTo>
                <a:lnTo>
                  <a:pt x="1168210" y="399609"/>
                </a:lnTo>
                <a:lnTo>
                  <a:pt x="1166618" y="387557"/>
                </a:lnTo>
                <a:lnTo>
                  <a:pt x="1166300" y="375188"/>
                </a:lnTo>
                <a:lnTo>
                  <a:pt x="1166618" y="369479"/>
                </a:lnTo>
                <a:lnTo>
                  <a:pt x="1166937" y="363136"/>
                </a:lnTo>
                <a:lnTo>
                  <a:pt x="1167573" y="357110"/>
                </a:lnTo>
                <a:lnTo>
                  <a:pt x="1168528" y="350767"/>
                </a:lnTo>
                <a:lnTo>
                  <a:pt x="1171074" y="330153"/>
                </a:lnTo>
                <a:lnTo>
                  <a:pt x="1173620" y="308269"/>
                </a:lnTo>
                <a:lnTo>
                  <a:pt x="1175847" y="285435"/>
                </a:lnTo>
                <a:lnTo>
                  <a:pt x="1177438" y="262283"/>
                </a:lnTo>
                <a:lnTo>
                  <a:pt x="1178393" y="238814"/>
                </a:lnTo>
                <a:lnTo>
                  <a:pt x="1178711" y="227079"/>
                </a:lnTo>
                <a:lnTo>
                  <a:pt x="1178711" y="215027"/>
                </a:lnTo>
                <a:lnTo>
                  <a:pt x="1178393" y="203293"/>
                </a:lnTo>
                <a:lnTo>
                  <a:pt x="1178075" y="191241"/>
                </a:lnTo>
                <a:lnTo>
                  <a:pt x="1177438" y="179507"/>
                </a:lnTo>
                <a:lnTo>
                  <a:pt x="1176484" y="167772"/>
                </a:lnTo>
                <a:lnTo>
                  <a:pt x="1175211" y="155720"/>
                </a:lnTo>
                <a:lnTo>
                  <a:pt x="1173938" y="144303"/>
                </a:lnTo>
                <a:lnTo>
                  <a:pt x="1172028" y="132568"/>
                </a:lnTo>
                <a:lnTo>
                  <a:pt x="1169801" y="121151"/>
                </a:lnTo>
                <a:lnTo>
                  <a:pt x="1167573" y="109734"/>
                </a:lnTo>
                <a:lnTo>
                  <a:pt x="1164391" y="98633"/>
                </a:lnTo>
                <a:lnTo>
                  <a:pt x="1161208" y="87533"/>
                </a:lnTo>
                <a:lnTo>
                  <a:pt x="1157708" y="76750"/>
                </a:lnTo>
                <a:lnTo>
                  <a:pt x="1153571" y="66284"/>
                </a:lnTo>
                <a:lnTo>
                  <a:pt x="1149115" y="55818"/>
                </a:lnTo>
                <a:lnTo>
                  <a:pt x="1144342" y="45670"/>
                </a:lnTo>
                <a:lnTo>
                  <a:pt x="1138932" y="35838"/>
                </a:lnTo>
                <a:lnTo>
                  <a:pt x="1133204" y="26641"/>
                </a:lnTo>
                <a:lnTo>
                  <a:pt x="1126839" y="17443"/>
                </a:lnTo>
                <a:lnTo>
                  <a:pt x="1119838" y="8563"/>
                </a:lnTo>
                <a:lnTo>
                  <a:pt x="1112837" y="0"/>
                </a:lnTo>
                <a:close/>
              </a:path>
            </a:pathLst>
          </a:custGeom>
          <a:solidFill>
            <a:schemeClr val="bg1"/>
          </a:solidFill>
          <a:ln>
            <a:noFill/>
          </a:ln>
        </p:spPr>
        <p:txBody>
          <a:bodyPr lIns="68580" tIns="34290" rIns="68580" bIns="34290" anchor="ctr">
            <a:scene3d>
              <a:camera prst="orthographicFront"/>
              <a:lightRig rig="threePt" dir="t"/>
            </a:scene3d>
            <a:sp3d contourW="12700">
              <a:contourClr>
                <a:srgbClr val="FFFFFF"/>
              </a:contourClr>
            </a:sp3d>
          </a:bodyPr>
          <a:lstStyle/>
          <a:p>
            <a:pPr algn="ctr">
              <a:defRPr/>
            </a:pPr>
            <a:endParaRPr lang="zh-CN" altLang="en-US" kern="0">
              <a:solidFill>
                <a:srgbClr val="482E2C"/>
              </a:solidFill>
              <a:cs typeface="+mn-ea"/>
              <a:sym typeface="+mn-lt"/>
            </a:endParaRPr>
          </a:p>
        </p:txBody>
      </p:sp>
      <p:sp>
        <p:nvSpPr>
          <p:cNvPr id="4" name="矩形 3"/>
          <p:cNvSpPr/>
          <p:nvPr>
            <p:custDataLst>
              <p:tags r:id="rId3"/>
            </p:custDataLst>
          </p:nvPr>
        </p:nvSpPr>
        <p:spPr>
          <a:xfrm>
            <a:off x="1496060" y="844550"/>
            <a:ext cx="2204720" cy="316865"/>
          </a:xfrm>
          <a:prstGeom prst="rect">
            <a:avLst/>
          </a:prstGeom>
        </p:spPr>
        <p:txBody>
          <a:bodyPr wrap="none">
            <a:noAutofit/>
          </a:bodyPr>
          <a:lstStyle/>
          <a:p>
            <a:pPr algn="ctr"/>
            <a:r>
              <a:rPr lang="zh-CN" altLang="en-US" sz="1800" b="1" dirty="0">
                <a:solidFill>
                  <a:schemeClr val="tx1">
                    <a:lumMod val="65000"/>
                    <a:lumOff val="35000"/>
                  </a:schemeClr>
                </a:solidFill>
                <a:sym typeface="+mn-ea"/>
              </a:rPr>
              <a:t>MATLAB正运动学解算</a:t>
            </a:r>
          </a:p>
        </p:txBody>
      </p:sp>
      <p:pic>
        <p:nvPicPr>
          <p:cNvPr id="2" name="图片 1" descr="运动学解算"/>
          <p:cNvPicPr>
            <a:picLocks noChangeAspect="1"/>
          </p:cNvPicPr>
          <p:nvPr/>
        </p:nvPicPr>
        <p:blipFill>
          <a:blip r:embed="rId6"/>
          <a:srcRect l="21972"/>
          <a:stretch>
            <a:fillRect/>
          </a:stretch>
        </p:blipFill>
        <p:spPr>
          <a:xfrm>
            <a:off x="627380" y="1544320"/>
            <a:ext cx="8107045" cy="23609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8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blip>
          <a:srcRect/>
          <a:stretch>
            <a:fillRect/>
          </a:stretch>
        </a:blipFill>
        <a:effectLst/>
      </p:bgPr>
    </p:bg>
    <p:spTree>
      <p:nvGrpSpPr>
        <p:cNvPr id="1" name=""/>
        <p:cNvGrpSpPr/>
        <p:nvPr/>
      </p:nvGrpSpPr>
      <p:grpSpPr>
        <a:xfrm>
          <a:off x="0" y="0"/>
          <a:ext cx="0" cy="0"/>
          <a:chOff x="0" y="0"/>
          <a:chExt cx="0" cy="0"/>
        </a:xfrm>
      </p:grpSpPr>
      <p:sp>
        <p:nvSpPr>
          <p:cNvPr id="102" name="椭圆 101"/>
          <p:cNvSpPr/>
          <p:nvPr/>
        </p:nvSpPr>
        <p:spPr>
          <a:xfrm>
            <a:off x="3819635" y="1089058"/>
            <a:ext cx="1500028" cy="150002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1"/>
          <p:cNvSpPr txBox="1"/>
          <p:nvPr/>
        </p:nvSpPr>
        <p:spPr>
          <a:xfrm>
            <a:off x="2294397" y="2717376"/>
            <a:ext cx="4555207" cy="591185"/>
          </a:xfrm>
          <a:prstGeom prst="rect">
            <a:avLst/>
          </a:prstGeom>
          <a:noFill/>
        </p:spPr>
        <p:txBody>
          <a:bodyPr wrap="square" lIns="68580" tIns="34290" rIns="68580" bIns="34290" rtlCol="0">
            <a:spAutoFit/>
          </a:bodyPr>
          <a:lstStyle/>
          <a:p>
            <a:pPr algn="ctr"/>
            <a:r>
              <a:rPr lang="zh-CN" altLang="en-US" sz="3400" b="1" dirty="0">
                <a:solidFill>
                  <a:schemeClr val="tx1">
                    <a:lumMod val="65000"/>
                    <a:lumOff val="35000"/>
                  </a:schemeClr>
                </a:solidFill>
                <a:cs typeface="+mn-ea"/>
              </a:rPr>
              <a:t>结论与展望</a:t>
            </a:r>
          </a:p>
        </p:txBody>
      </p:sp>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04</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heel(1)">
                                      <p:cBhvr>
                                        <p:cTn id="7" dur="600"/>
                                        <p:tgtEl>
                                          <p:spTgt spid="102"/>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 calcmode="lin" valueType="num">
                                      <p:cBhvr>
                                        <p:cTn id="11" dur="500" fill="hold"/>
                                        <p:tgtEl>
                                          <p:spTgt spid="105"/>
                                        </p:tgtEl>
                                        <p:attrNameLst>
                                          <p:attrName>ppt_w</p:attrName>
                                        </p:attrNameLst>
                                      </p:cBhvr>
                                      <p:tavLst>
                                        <p:tav tm="0">
                                          <p:val>
                                            <p:fltVal val="0"/>
                                          </p:val>
                                        </p:tav>
                                        <p:tav tm="100000">
                                          <p:val>
                                            <p:strVal val="#ppt_w"/>
                                          </p:val>
                                        </p:tav>
                                      </p:tavLst>
                                    </p:anim>
                                    <p:anim calcmode="lin" valueType="num">
                                      <p:cBhvr>
                                        <p:cTn id="12" dur="500" fill="hold"/>
                                        <p:tgtEl>
                                          <p:spTgt spid="105"/>
                                        </p:tgtEl>
                                        <p:attrNameLst>
                                          <p:attrName>ppt_h</p:attrName>
                                        </p:attrNameLst>
                                      </p:cBhvr>
                                      <p:tavLst>
                                        <p:tav tm="0">
                                          <p:val>
                                            <p:fltVal val="0"/>
                                          </p:val>
                                        </p:tav>
                                        <p:tav tm="100000">
                                          <p:val>
                                            <p:strVal val="#ppt_h"/>
                                          </p:val>
                                        </p:tav>
                                      </p:tavLst>
                                    </p:anim>
                                    <p:animEffect transition="in" filter="fade">
                                      <p:cBhvr>
                                        <p:cTn id="13" dur="500"/>
                                        <p:tgtEl>
                                          <p:spTgt spid="105"/>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3"/>
                                        </p:tgtEl>
                                        <p:attrNameLst>
                                          <p:attrName>style.visibility</p:attrName>
                                        </p:attrNameLst>
                                      </p:cBhvr>
                                      <p:to>
                                        <p:strVal val="visible"/>
                                      </p:to>
                                    </p:set>
                                    <p:anim calcmode="lin" valueType="num">
                                      <p:cBhvr>
                                        <p:cTn id="17" dur="500" fill="hold"/>
                                        <p:tgtEl>
                                          <p:spTgt spid="103"/>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3"/>
                                        </p:tgtEl>
                                        <p:attrNameLst>
                                          <p:attrName>ppt_y</p:attrName>
                                        </p:attrNameLst>
                                      </p:cBhvr>
                                      <p:tavLst>
                                        <p:tav tm="0">
                                          <p:val>
                                            <p:strVal val="#ppt_y"/>
                                          </p:val>
                                        </p:tav>
                                        <p:tav tm="100000">
                                          <p:val>
                                            <p:strVal val="#ppt_y"/>
                                          </p:val>
                                        </p:tav>
                                      </p:tavLst>
                                    </p:anim>
                                    <p:anim calcmode="lin" valueType="num">
                                      <p:cBhvr>
                                        <p:cTn id="19" dur="500" fill="hold"/>
                                        <p:tgtEl>
                                          <p:spTgt spid="103"/>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3"/>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p:bldP spid="10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连接符 5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3" name="文本框 15"/>
          <p:cNvSpPr txBox="1"/>
          <p:nvPr/>
        </p:nvSpPr>
        <p:spPr>
          <a:xfrm>
            <a:off x="699770" y="276225"/>
            <a:ext cx="121094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rPr>
              <a:t>研究结论</a:t>
            </a:r>
            <a:endParaRPr lang="zh-CN" altLang="en-US" sz="1800" b="1" dirty="0">
              <a:solidFill>
                <a:schemeClr val="tx1">
                  <a:lumMod val="65000"/>
                  <a:lumOff val="35000"/>
                </a:schemeClr>
              </a:solidFill>
              <a:cs typeface="+mn-ea"/>
              <a:sym typeface="+mn-lt"/>
            </a:endParaRPr>
          </a:p>
        </p:txBody>
      </p:sp>
      <p:sp>
        <p:nvSpPr>
          <p:cNvPr id="2" name="矩形 1"/>
          <p:cNvSpPr/>
          <p:nvPr/>
        </p:nvSpPr>
        <p:spPr>
          <a:xfrm>
            <a:off x="1011555" y="758190"/>
            <a:ext cx="7172960" cy="3800475"/>
          </a:xfrm>
          <a:prstGeom prst="rect">
            <a:avLst/>
          </a:prstGeom>
        </p:spPr>
        <p:txBody>
          <a:bodyPr wrap="square">
            <a:noAutofit/>
          </a:bodyPr>
          <a:lstStyle/>
          <a:p>
            <a:pPr indent="457200" algn="just">
              <a:lnSpc>
                <a:spcPct val="150000"/>
              </a:lnSpc>
            </a:pPr>
            <a:r>
              <a:rPr sz="16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在此次研究过程中，借鉴连续性机械臂的优点，在传统刚性机械臂的基础上加以改进，依据榫卯结构设计了模块化连接组件，完成了多场景模块化串联机械臂的结构设计，以及基于SolidWorks的静应力有限元分析和初步功能验证，评估了设计的可行性。使用排列组合和列举法分析了机械臂各关节模块化组合的空间特性，基于坐标变换法构建了机械臂的运动学模型，使用MATLAB完成正逆运动学求解，对机械臂单关节、多关节进行仿真分析，得出了末端执行器位姿、速度和加速度的准确图像；搭建了多场景切换和模块化伺服控制系统，依据运动学解算和仿真分析结果可对机械臂进行精确的控制，保障了在不同环境下执行特定工作的稳定性和可靠性，大大提高了模块化机械臂的灵活性和通用性，实现了机械臂易于维护和拓展，便于空间优化的目的。</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300"/>
                                        <p:tgtEl>
                                          <p:spTgt spid="52"/>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53"/>
                                        </p:tgtEl>
                                        <p:attrNameLst>
                                          <p:attrName>style.visibility</p:attrName>
                                        </p:attrNameLst>
                                      </p:cBhvr>
                                      <p:to>
                                        <p:strVal val="visible"/>
                                      </p:to>
                                    </p:set>
                                    <p:anim calcmode="lin" valueType="num">
                                      <p:cBhvr>
                                        <p:cTn id="11"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53"/>
                                        </p:tgtEl>
                                        <p:attrNameLst>
                                          <p:attrName>ppt_y</p:attrName>
                                        </p:attrNameLst>
                                      </p:cBhvr>
                                      <p:tavLst>
                                        <p:tav tm="0">
                                          <p:val>
                                            <p:strVal val="#ppt_y"/>
                                          </p:val>
                                        </p:tav>
                                        <p:tav tm="100000">
                                          <p:val>
                                            <p:strVal val="#ppt_y"/>
                                          </p:val>
                                        </p:tav>
                                      </p:tavLst>
                                    </p:anim>
                                    <p:anim calcmode="lin" valueType="num">
                                      <p:cBhvr>
                                        <p:cTn id="13"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连接符 5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3" name="文本框 15"/>
          <p:cNvSpPr txBox="1"/>
          <p:nvPr/>
        </p:nvSpPr>
        <p:spPr>
          <a:xfrm>
            <a:off x="699770" y="276225"/>
            <a:ext cx="121094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未来展望</a:t>
            </a:r>
          </a:p>
        </p:txBody>
      </p:sp>
      <p:sp>
        <p:nvSpPr>
          <p:cNvPr id="2" name="矩形 1"/>
          <p:cNvSpPr/>
          <p:nvPr/>
        </p:nvSpPr>
        <p:spPr>
          <a:xfrm>
            <a:off x="699769" y="790575"/>
            <a:ext cx="3341139" cy="3800475"/>
          </a:xfrm>
          <a:prstGeom prst="rect">
            <a:avLst/>
          </a:prstGeom>
        </p:spPr>
        <p:txBody>
          <a:bodyPr wrap="square">
            <a:noAutofit/>
          </a:bodyPr>
          <a:lstStyle/>
          <a:p>
            <a:pPr indent="457200" algn="just">
              <a:lnSpc>
                <a:spcPct val="150000"/>
              </a:lnSpc>
            </a:pPr>
            <a:r>
              <a:rPr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仿真在机器人的研究领域中是必不可少的研究部分，借助仿真研究机器人的关节特征与性能是机器人学理论研究的必备途径之一。在后续的研究中应根据静应力有限元分析的结果对机械臂的模块化结构进行优化，并建立动力学方程，完成机械臂的动力学模态分析，引入PID算法，完善机械臂的控制系统。</a:t>
            </a:r>
          </a:p>
          <a:p>
            <a:pPr indent="457200" algn="just">
              <a:lnSpc>
                <a:spcPct val="150000"/>
              </a:lnSpc>
            </a:pPr>
            <a:r>
              <a:rPr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随着物联网和云计算技术的发展，模块化串联机械臂可以实现远程监控和管理，提高生产效率和响应速度。通过结合仿生学、人工智能和机器学习算法，借鉴大自然的智慧，让机械臂更新迭代更巧妙的结构，完成目标识别、智能分析自主空间优化的功能，更好地适应不同场景下的任务需求，提高工作效率和执行精度，达到多场景模块化机械臂形散神聚，珠联“臂”合的</a:t>
            </a:r>
            <a:r>
              <a:rPr lang="zh-CN" altLang="en-US"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sz="1100"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8" name="图片 7" descr="25"/>
          <p:cNvPicPr>
            <a:picLocks noChangeAspect="1"/>
          </p:cNvPicPr>
          <p:nvPr/>
        </p:nvPicPr>
        <p:blipFill>
          <a:blip r:embed="rId3"/>
          <a:stretch>
            <a:fillRect/>
          </a:stretch>
        </p:blipFill>
        <p:spPr>
          <a:xfrm>
            <a:off x="4110182" y="826428"/>
            <a:ext cx="4233256" cy="34906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300"/>
                                        <p:tgtEl>
                                          <p:spTgt spid="52"/>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53"/>
                                        </p:tgtEl>
                                        <p:attrNameLst>
                                          <p:attrName>style.visibility</p:attrName>
                                        </p:attrNameLst>
                                      </p:cBhvr>
                                      <p:to>
                                        <p:strVal val="visible"/>
                                      </p:to>
                                    </p:set>
                                    <p:anim calcmode="lin" valueType="num">
                                      <p:cBhvr>
                                        <p:cTn id="11"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53"/>
                                        </p:tgtEl>
                                        <p:attrNameLst>
                                          <p:attrName>ppt_y</p:attrName>
                                        </p:attrNameLst>
                                      </p:cBhvr>
                                      <p:tavLst>
                                        <p:tav tm="0">
                                          <p:val>
                                            <p:strVal val="#ppt_y"/>
                                          </p:val>
                                        </p:tav>
                                        <p:tav tm="100000">
                                          <p:val>
                                            <p:strVal val="#ppt_y"/>
                                          </p:val>
                                        </p:tav>
                                      </p:tavLst>
                                    </p:anim>
                                    <p:anim calcmode="lin" valueType="num">
                                      <p:cBhvr>
                                        <p:cTn id="13"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 name="直接连接符 51"/>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53" name="文本框 15"/>
          <p:cNvSpPr txBox="1"/>
          <p:nvPr/>
        </p:nvSpPr>
        <p:spPr>
          <a:xfrm>
            <a:off x="699770" y="276225"/>
            <a:ext cx="1210945" cy="345440"/>
          </a:xfrm>
          <a:prstGeom prst="rect">
            <a:avLst/>
          </a:prstGeom>
          <a:noFill/>
        </p:spPr>
        <p:txBody>
          <a:bodyPr wrap="square" lIns="68580" tIns="34290" rIns="68580" bIns="34290" rtlCol="0">
            <a:spAutoFit/>
          </a:bodyPr>
          <a:lstStyle/>
          <a:p>
            <a:pPr algn="ctr"/>
            <a:r>
              <a:rPr lang="zh-CN" altLang="en-US" sz="1800" b="1" dirty="0">
                <a:solidFill>
                  <a:schemeClr val="tx1">
                    <a:lumMod val="65000"/>
                    <a:lumOff val="35000"/>
                  </a:schemeClr>
                </a:solidFill>
                <a:cs typeface="+mn-ea"/>
                <a:sym typeface="+mn-lt"/>
              </a:rPr>
              <a:t>参考文献</a:t>
            </a:r>
          </a:p>
        </p:txBody>
      </p:sp>
      <p:sp>
        <p:nvSpPr>
          <p:cNvPr id="2" name="矩形 1"/>
          <p:cNvSpPr/>
          <p:nvPr/>
        </p:nvSpPr>
        <p:spPr>
          <a:xfrm>
            <a:off x="699770" y="692785"/>
            <a:ext cx="7936230" cy="3601085"/>
          </a:xfrm>
          <a:prstGeom prst="rect">
            <a:avLst/>
          </a:prstGeom>
        </p:spPr>
        <p:txBody>
          <a:bodyPr wrap="square">
            <a:noAutofit/>
          </a:bodyPr>
          <a:lstStyle/>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[1]孙立宁,胡海燕,李满天.连续型机器人研究综述[J].机器人,2010,32(05):688-694.</a:t>
            </a: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[2]孟飞. 气动连续型机械臂控制系统设计与实现[D].哈尔滨工业大学,2020:9</a:t>
            </a: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[3]王浩淼. 线驱动柔性充电机器人系统的设计与控制研究[D].哈尔滨工业大学,2018</a:t>
            </a: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[4]潘毅,安仁兵,游文龙.古建筑木结构榫卯节点力学性能研究进展[J/OL].建筑结构学报:1-18</a:t>
            </a: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[5]唐景昊. 一种面向实践教学的六轴工业机械臂的结构设计及有限元分析[D].常州大学,2023.</a:t>
            </a: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[6]李帅,慕丽,付靖凯.基于MG400的机械臂力学及运动性能分析与仿真研究[J].自动化应用,2023,64(21):19-22.</a:t>
            </a:r>
          </a:p>
          <a:p>
            <a:pPr indent="457200" algn="just">
              <a:lnSpc>
                <a:spcPct val="150000"/>
              </a:lnSpc>
            </a:pPr>
            <a:r>
              <a:rPr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[7]马文科,高强,刘静等.基于模块化技术的仿生蛇形搜救机器人[J].工程机械,2023,54(09):7-12+223.</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left)">
                                      <p:cBhvr>
                                        <p:cTn id="7" dur="300"/>
                                        <p:tgtEl>
                                          <p:spTgt spid="52"/>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53"/>
                                        </p:tgtEl>
                                        <p:attrNameLst>
                                          <p:attrName>style.visibility</p:attrName>
                                        </p:attrNameLst>
                                      </p:cBhvr>
                                      <p:to>
                                        <p:strVal val="visible"/>
                                      </p:to>
                                    </p:set>
                                    <p:anim calcmode="lin" valueType="num">
                                      <p:cBhvr>
                                        <p:cTn id="11" dur="500" fill="hold"/>
                                        <p:tgtEl>
                                          <p:spTgt spid="5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53"/>
                                        </p:tgtEl>
                                        <p:attrNameLst>
                                          <p:attrName>ppt_y</p:attrName>
                                        </p:attrNameLst>
                                      </p:cBhvr>
                                      <p:tavLst>
                                        <p:tav tm="0">
                                          <p:val>
                                            <p:strVal val="#ppt_y"/>
                                          </p:val>
                                        </p:tav>
                                        <p:tav tm="100000">
                                          <p:val>
                                            <p:strVal val="#ppt_y"/>
                                          </p:val>
                                        </p:tav>
                                      </p:tavLst>
                                    </p:anim>
                                    <p:anim calcmode="lin" valueType="num">
                                      <p:cBhvr>
                                        <p:cTn id="13" dur="500" fill="hold"/>
                                        <p:tgtEl>
                                          <p:spTgt spid="5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5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4" cstate="screen">
            <a:lum/>
          </a:blip>
          <a:srcRect/>
          <a:stretch>
            <a:fillRect/>
          </a:stretch>
        </a:blipFill>
        <a:effectLst/>
      </p:bgPr>
    </p:bg>
    <p:spTree>
      <p:nvGrpSpPr>
        <p:cNvPr id="1" name=""/>
        <p:cNvGrpSpPr/>
        <p:nvPr/>
      </p:nvGrpSpPr>
      <p:grpSpPr>
        <a:xfrm>
          <a:off x="0" y="0"/>
          <a:ext cx="0" cy="0"/>
          <a:chOff x="0" y="0"/>
          <a:chExt cx="0" cy="0"/>
        </a:xfrm>
      </p:grpSpPr>
      <p:sp>
        <p:nvSpPr>
          <p:cNvPr id="105" name="文本框 11"/>
          <p:cNvSpPr txBox="1"/>
          <p:nvPr/>
        </p:nvSpPr>
        <p:spPr>
          <a:xfrm>
            <a:off x="3713476" y="1575042"/>
            <a:ext cx="1732894" cy="838691"/>
          </a:xfrm>
          <a:prstGeom prst="rect">
            <a:avLst/>
          </a:prstGeom>
          <a:noFill/>
        </p:spPr>
        <p:txBody>
          <a:bodyPr wrap="square" lIns="68580" tIns="34290" rIns="68580" bIns="34290" rtlCol="0">
            <a:spAutoFit/>
          </a:bodyPr>
          <a:lstStyle/>
          <a:p>
            <a:pPr algn="ctr">
              <a:lnSpc>
                <a:spcPts val="3000"/>
              </a:lnSpc>
            </a:pPr>
            <a:r>
              <a:rPr lang="en-US" altLang="zh-CN" sz="5400" dirty="0">
                <a:solidFill>
                  <a:schemeClr val="bg1"/>
                </a:solidFill>
                <a:cs typeface="+mn-ea"/>
                <a:sym typeface="+mn-lt"/>
              </a:rPr>
              <a:t>06</a:t>
            </a:r>
            <a:endParaRPr lang="zh-CN" altLang="en-US" sz="5400" dirty="0">
              <a:solidFill>
                <a:schemeClr val="bg1"/>
              </a:solidFill>
              <a:cs typeface="+mn-ea"/>
              <a:sym typeface="+mn-lt"/>
            </a:endParaRPr>
          </a:p>
          <a:p>
            <a:pPr algn="ctr">
              <a:lnSpc>
                <a:spcPts val="3000"/>
              </a:lnSpc>
            </a:pPr>
            <a:r>
              <a:rPr lang="en-US" altLang="zh-CN" sz="2400" dirty="0">
                <a:solidFill>
                  <a:schemeClr val="bg1"/>
                </a:solidFill>
                <a:cs typeface="+mn-ea"/>
                <a:sym typeface="+mn-lt"/>
              </a:rPr>
              <a:t>PART </a:t>
            </a:r>
          </a:p>
        </p:txBody>
      </p:sp>
      <p:sp>
        <p:nvSpPr>
          <p:cNvPr id="2" name="文本框 11"/>
          <p:cNvSpPr txBox="1"/>
          <p:nvPr>
            <p:custDataLst>
              <p:tags r:id="rId1"/>
            </p:custDataLst>
          </p:nvPr>
        </p:nvSpPr>
        <p:spPr>
          <a:xfrm>
            <a:off x="2297430" y="1742440"/>
            <a:ext cx="4548505" cy="1176020"/>
          </a:xfrm>
          <a:prstGeom prst="rect">
            <a:avLst/>
          </a:prstGeom>
          <a:noFill/>
        </p:spPr>
        <p:txBody>
          <a:bodyPr wrap="square" lIns="68580" tIns="34290" rIns="68580" bIns="34290" rtlCol="0">
            <a:spAutoFit/>
          </a:bodyPr>
          <a:lstStyle/>
          <a:p>
            <a:pPr algn="ctr"/>
            <a:r>
              <a:rPr lang="zh-CN" altLang="en-US" sz="7200" b="1" dirty="0">
                <a:solidFill>
                  <a:schemeClr val="tx1">
                    <a:lumMod val="65000"/>
                    <a:lumOff val="35000"/>
                  </a:schemeClr>
                </a:solidFill>
                <a:cs typeface="+mn-ea"/>
                <a:sym typeface="+mn-lt"/>
              </a:rPr>
              <a:t>谢谢大家</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p:cTn id="7" dur="500" fill="hold"/>
                                        <p:tgtEl>
                                          <p:spTgt spid="105"/>
                                        </p:tgtEl>
                                        <p:attrNameLst>
                                          <p:attrName>ppt_w</p:attrName>
                                        </p:attrNameLst>
                                      </p:cBhvr>
                                      <p:tavLst>
                                        <p:tav tm="0">
                                          <p:val>
                                            <p:fltVal val="0"/>
                                          </p:val>
                                        </p:tav>
                                        <p:tav tm="100000">
                                          <p:val>
                                            <p:strVal val="#ppt_w"/>
                                          </p:val>
                                        </p:tav>
                                      </p:tavLst>
                                    </p:anim>
                                    <p:anim calcmode="lin" valueType="num">
                                      <p:cBhvr>
                                        <p:cTn id="8" dur="500" fill="hold"/>
                                        <p:tgtEl>
                                          <p:spTgt spid="105"/>
                                        </p:tgtEl>
                                        <p:attrNameLst>
                                          <p:attrName>ppt_h</p:attrName>
                                        </p:attrNameLst>
                                      </p:cBhvr>
                                      <p:tavLst>
                                        <p:tav tm="0">
                                          <p:val>
                                            <p:fltVal val="0"/>
                                          </p:val>
                                        </p:tav>
                                        <p:tav tm="100000">
                                          <p:val>
                                            <p:strVal val="#ppt_h"/>
                                          </p:val>
                                        </p:tav>
                                      </p:tavLst>
                                    </p:anim>
                                    <p:animEffect transition="in" filter="fade">
                                      <p:cBhvr>
                                        <p:cTn id="9" dur="500"/>
                                        <p:tgtEl>
                                          <p:spTgt spid="105"/>
                                        </p:tgtEl>
                                      </p:cBhvr>
                                    </p:animEffect>
                                  </p:childTnLst>
                                </p:cTn>
                              </p:par>
                            </p:childTnLst>
                          </p:cTn>
                        </p:par>
                        <p:par>
                          <p:cTn id="10" fill="hold">
                            <p:stCondLst>
                              <p:cond delay="5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2"/>
                                        </p:tgtEl>
                                        <p:attrNameLst>
                                          <p:attrName>ppt_y</p:attrName>
                                        </p:attrNameLst>
                                      </p:cBhvr>
                                      <p:tavLst>
                                        <p:tav tm="0">
                                          <p:val>
                                            <p:strVal val="#ppt_y"/>
                                          </p:val>
                                        </p:tav>
                                        <p:tav tm="100000">
                                          <p:val>
                                            <p:strVal val="#ppt_y"/>
                                          </p:val>
                                        </p:tav>
                                      </p:tavLst>
                                    </p:anim>
                                    <p:anim calcmode="lin" valueType="num">
                                      <p:cBhvr>
                                        <p:cTn id="15"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2NjZmUyMGFjNDY5NGY4NWVhODlkMzUxNDIwNDgxZmI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06.3106299212599,&quot;left&quot;:400.29102362204725,&quot;top&quot;:52.12708661417323,&quot;width&quot;:240.2089763779527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06.83251968503936,&quot;left&quot;:44.361653543307085,&quot;top&quot;:61.4640157480315,&quot;width&quot;:626.638346456693}"/>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132.76889763779528,&quot;top&quot;:66.68165354330708,&quot;width&quot;:533.231023622047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132.76889763779528,&quot;top&quot;:66.68165354330708,&quot;width&quot;:533.231023622047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132.76889763779528,&quot;top&quot;:66.68165354330708,&quot;width&quot;:533.231023622047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279.6659842519685,&quot;left&quot;:65.3,&quot;top&quot;:66.68165354330708,&quot;width&quot;:600.6999212598424}"/>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2247</Words>
  <Application>Microsoft Office PowerPoint</Application>
  <PresentationFormat>全屏显示(16:9)</PresentationFormat>
  <Paragraphs>185</Paragraphs>
  <Slides>51</Slides>
  <Notes>51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51</vt:i4>
      </vt:variant>
    </vt:vector>
  </HeadingPairs>
  <TitlesOfParts>
    <vt:vector size="55" baseType="lpstr">
      <vt:lpstr>Calibri</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Robusr Guo</cp:lastModifiedBy>
  <cp:revision>175</cp:revision>
  <dcterms:created xsi:type="dcterms:W3CDTF">2016-05-20T12:59:00Z</dcterms:created>
  <dcterms:modified xsi:type="dcterms:W3CDTF">2024-03-10T02:42:08Z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2052-12.1.0.16388</vt:lpwstr>
  </property>
  <property fmtid="{D5CDD505-2E9C-101B-9397-08002B2CF9AE}" pid="3" name="ICV">
    <vt:lpwstr>3767E08F69374698BFC69799C35B630F_11</vt:lpwstr>
  </property>
</Properties>
</file>